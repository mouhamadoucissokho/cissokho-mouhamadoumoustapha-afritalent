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1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87990" autoAdjust="0"/>
  </p:normalViewPr>
  <p:slideViewPr>
    <p:cSldViewPr snapToGrid="0" snapToObjects="1">
      <p:cViewPr varScale="1">
        <p:scale>
          <a:sx n="55" d="100"/>
          <a:sy n="55" d="100"/>
        </p:scale>
        <p:origin x="1096"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5345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[ton nom] et je vais vous </a:t>
            </a:r>
            <a:r>
              <a:rPr lang="en-US" dirty="0" err="1"/>
              <a:t>présenter</a:t>
            </a:r>
            <a:r>
              <a:rPr lang="en-US" dirty="0"/>
              <a:t> </a:t>
            </a:r>
            <a:r>
              <a:rPr lang="en-US" dirty="0" err="1"/>
              <a:t>mon</a:t>
            </a:r>
            <a:r>
              <a:rPr lang="en-US" dirty="0"/>
              <a:t> projet AfriTalent, réalisé dans le cadre du module de projet S2 à l'ISI Dakar. AfriTalent est une plateforme qui met en relation les freelances tech africains avec des entreprises. Je vais vous montrer le contexte, mes choix techniques, les difficultés rencontrées et une démonstration en direct.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de ma présentation en dix parties : je vais parler du contexte et de l'objectif du projet, de mes choix de design, de l'architecture du site, des fonctionnalités JavaScript, des composants Bootstrap et du CSS avancé, du workflow Git, des difficultés rencontrées, des ressources utilisées, et je terminerai par une démonstration live et la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marché du freelancing tech explose en Afrique, mais il manque une plateforme fiable pour connecter les talents aux entreprises. C'est le problème qu'AfriTalent essaie de résoudre. Sur le plan pédagogique, ce projet m'a permis de pratiquer le HTML5 sémantique, le CSS3 avancé avec Grid et Flexbox, Bootstrap 5, sept fonctionnalités JavaScript vanilla, ainsi que Git et le déploiement sur GitHub Pages.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 design, j'ai choisi une palette sombre avec un cyan et un violet en accent, pour donner une image tech et moderne, inspirée de l'Afrique et de la tech futuriste. Côté typographie, j'utilise Orbitron pour les titres et la marque, DM Sans pour le corps de texte car c'est très lisible, et Space Mono pour les chiffres et le code. Je me suis inspiré des tendances Bento Grid 2026 et du style dark UI qu'on voit sur Awwwards.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l'architecture du site. J'ai une page d'accueil, une page freelances avec un catalogue filtrable, une page tarifs avec trois plans et une FAQ, une page à propos, et une page contact avec formulaire et carte. Le code est organisé avec un dossier css, un dossier js et un dossier images, ce qui rend le projet propre et facile à maintenir.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développé sept fonctionnalités JavaScript vanilla, sans framework : le mode sombre avec sauvegarde dans le localStorage, des compteurs animés qui se déclenchent au scroll grâce à IntersectionObserver, le filtrage dynamique des freelances, la validation du formulaire de contact avec une regex pour l'email, une navbar qui change d'apparence au scroll, un bouton retour en haut, et des animations de fondu à l'apparition des sections.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 design responsive, j'ai utilisé les composants Bootstrap 5 : navbar sticky, grille responsive, cards, carousel de témoignages, accordion pour la FAQ, badges et utilitaires. Côté CSS avancé, j'ai mis en place des variables CSS dans le root, une grille Bento asymétrique, un design responsive avec plusieurs breakpoints, le mode sombre, des transitions et des animations de fondu.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code : la fonctionnalité des compteurs animés. J'utilise un IntersectionObserver qui détecte quand l'élément entre dans l'écran, puis j'incrémente la valeur progressivement toutes les 20 millisecondes jusqu'à atteindre la valeur cible définie dans l'attribut data-target. Une fois l'animation terminée, j'arrête d'observer l'élément pour ne pas relancer l'animation plusieurs fois.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suivi un workflow Git structuré avec dix commits progressifs : d'abord l'initialisation du dépôt et la structure HTML, puis le CSS étape par étape, ensuite les fonctionnalités JavaScript une par une, et enfin la finalisation et le déploiement sur GitHub Pages avec un README complet. Ça montre une progression claire et un historique de commits propre.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rencontré quatre difficultés principales. Premièrement, créer une grille Bento asymétrique en CSS pur, résolue avec grid-column span et grid-template-columns. Deuxièmement, le mode sombre qui se réinitialisait entre les pages, résolu en lisant le localStorage avant le rendu. Troisièmement, la validation de l'email par regex, et enfin le comportement responsive de la grille Bento sur mobile, que j'ai résolu avec des media queries ciblées.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réaliser ce projet, je me suis appuyé sur plusieurs ressources : MDN et W3Schools pour la référence technique, Google Fonts et Bootstrap Icons pour le design, la documentation officielle de Bootstrap 5, CSS-Tricks pour approfondir Grid et Flexbox, Coolors pour générer ma palette, et Unsplash pour les images libres de droits.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vais maintenant passer à la démonstration live du site. Je vais montrer la page d'accueil, la navigation entre les pages, le mode sombre, le filtrage des freelances, et le formulaire de contact avec sa validation. Le site est déployé sur GitHub Pages, dont voici le lien, et le code source est disponible sur mon dépôt GitHub.</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projet m'a permis d'acquérir de vraies compétences : la maîtrise de CSS Grid, le JavaScript vanilla, la gestion du DOM, le versioning Git, le déploiement en production, l'accessibilité et le responsive design. Comme perspectives d'amélioration, j'aimerais ajouter un vrai back-end avec une API REST, une authentification réelle, une messagerie entre utilisateurs, le paiement mobile money, une application mobile, et l'internationalisation du site.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maintenant disponible pour répondre à vos questions sur AfriTalent, que ce soit sur le code, les choix techniques ou les difficultés rencontrées.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mouhamadoucissokho.github.io/Cissokho-MouhamadouMoustapha-AfriTalent/" TargetMode="External"/><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3F42"/>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83F42"/>
          </a:solidFill>
          <a:ln/>
        </p:spPr>
        <p:txBody>
          <a:bodyPr/>
          <a:lstStyle/>
          <a:p>
            <a:endParaRPr lang="fr-FR" dirty="0"/>
          </a:p>
        </p:txBody>
      </p:sp>
      <p:sp>
        <p:nvSpPr>
          <p:cNvPr id="3" name="Shape 1"/>
          <p:cNvSpPr/>
          <p:nvPr/>
        </p:nvSpPr>
        <p:spPr>
          <a:xfrm>
            <a:off x="9262872" y="-1371600"/>
            <a:ext cx="4572000" cy="4572000"/>
          </a:xfrm>
          <a:prstGeom prst="ellipse">
            <a:avLst/>
          </a:prstGeom>
          <a:solidFill>
            <a:srgbClr val="0B5E63">
              <a:alpha val="45000"/>
            </a:srgbClr>
          </a:solidFill>
          <a:ln/>
        </p:spPr>
        <p:txBody>
          <a:bodyPr/>
          <a:lstStyle/>
          <a:p>
            <a:endParaRPr lang="fr-FR"/>
          </a:p>
        </p:txBody>
      </p:sp>
      <p:sp>
        <p:nvSpPr>
          <p:cNvPr id="4" name="Shape 2"/>
          <p:cNvSpPr/>
          <p:nvPr/>
        </p:nvSpPr>
        <p:spPr>
          <a:xfrm>
            <a:off x="-1371600" y="4572000"/>
            <a:ext cx="3657600" cy="3657600"/>
          </a:xfrm>
          <a:prstGeom prst="ellipse">
            <a:avLst/>
          </a:prstGeom>
          <a:solidFill>
            <a:srgbClr val="E2703A">
              <a:alpha val="30000"/>
            </a:srgbClr>
          </a:solidFill>
          <a:ln/>
        </p:spPr>
        <p:txBody>
          <a:bodyPr/>
          <a:lstStyle/>
          <a:p>
            <a:endParaRPr lang="fr-FR"/>
          </a:p>
        </p:txBody>
      </p:sp>
      <p:sp>
        <p:nvSpPr>
          <p:cNvPr id="5" name="Text 3"/>
          <p:cNvSpPr/>
          <p:nvPr/>
        </p:nvSpPr>
        <p:spPr>
          <a:xfrm>
            <a:off x="822960" y="1463040"/>
            <a:ext cx="7315200" cy="365760"/>
          </a:xfrm>
          <a:prstGeom prst="rect">
            <a:avLst/>
          </a:prstGeom>
          <a:noFill/>
          <a:ln/>
        </p:spPr>
        <p:txBody>
          <a:bodyPr wrap="square" rtlCol="0" anchor="ctr"/>
          <a:lstStyle/>
          <a:p>
            <a:pPr marL="0" indent="0">
              <a:buNone/>
            </a:pPr>
            <a:r>
              <a:rPr lang="en-US" sz="1400" b="1" kern="0" spc="200" dirty="0">
                <a:solidFill>
                  <a:srgbClr val="9FD8D2"/>
                </a:solidFill>
                <a:latin typeface="Calibri" pitchFamily="34" charset="0"/>
                <a:ea typeface="Calibri" pitchFamily="34" charset="-122"/>
                <a:cs typeface="Calibri" pitchFamily="34" charset="-120"/>
              </a:rPr>
              <a:t>PROJET S2 — ISI DAKAR</a:t>
            </a:r>
            <a:endParaRPr lang="en-US" sz="1400" dirty="0"/>
          </a:p>
        </p:txBody>
      </p:sp>
      <p:sp>
        <p:nvSpPr>
          <p:cNvPr id="6" name="Text 4"/>
          <p:cNvSpPr/>
          <p:nvPr/>
        </p:nvSpPr>
        <p:spPr>
          <a:xfrm>
            <a:off x="777240" y="1874520"/>
            <a:ext cx="9144000" cy="1188720"/>
          </a:xfrm>
          <a:prstGeom prst="rect">
            <a:avLst/>
          </a:prstGeom>
          <a:noFill/>
          <a:ln/>
        </p:spPr>
        <p:txBody>
          <a:bodyPr wrap="square" rtlCol="0" anchor="ctr"/>
          <a:lstStyle/>
          <a:p>
            <a:pPr marL="0" indent="0">
              <a:buNone/>
            </a:pPr>
            <a:r>
              <a:rPr lang="en-US" sz="6000" b="1" dirty="0" err="1">
                <a:solidFill>
                  <a:srgbClr val="FFFFFF"/>
                </a:solidFill>
                <a:latin typeface="Cambria" pitchFamily="34" charset="0"/>
                <a:ea typeface="Cambria" pitchFamily="34" charset="-122"/>
                <a:cs typeface="Cambria" pitchFamily="34" charset="-120"/>
              </a:rPr>
              <a:t>AfriTalent</a:t>
            </a:r>
            <a:endParaRPr lang="en-US" sz="6000" dirty="0"/>
          </a:p>
        </p:txBody>
      </p:sp>
      <p:sp>
        <p:nvSpPr>
          <p:cNvPr id="7" name="Text 5"/>
          <p:cNvSpPr/>
          <p:nvPr/>
        </p:nvSpPr>
        <p:spPr>
          <a:xfrm>
            <a:off x="822960" y="3063240"/>
            <a:ext cx="8229600" cy="640080"/>
          </a:xfrm>
          <a:prstGeom prst="rect">
            <a:avLst/>
          </a:prstGeom>
          <a:noFill/>
          <a:ln/>
        </p:spPr>
        <p:txBody>
          <a:bodyPr wrap="square" rtlCol="0" anchor="ctr"/>
          <a:lstStyle/>
          <a:p>
            <a:pPr marL="0" indent="0">
              <a:buNone/>
            </a:pPr>
            <a:r>
              <a:rPr lang="en-US" sz="1800" dirty="0">
                <a:solidFill>
                  <a:srgbClr val="D7EAE8"/>
                </a:solidFill>
                <a:latin typeface="Calibri" pitchFamily="34" charset="0"/>
                <a:ea typeface="Calibri" pitchFamily="34" charset="-122"/>
                <a:cs typeface="Calibri" pitchFamily="34" charset="-120"/>
              </a:rPr>
              <a:t>Plateforme de mise en relation freelances tech &amp; entreprises en Afrique</a:t>
            </a:r>
            <a:endParaRPr lang="en-US" sz="1800" dirty="0"/>
          </a:p>
        </p:txBody>
      </p:sp>
      <p:sp>
        <p:nvSpPr>
          <p:cNvPr id="8" name="Shape 6"/>
          <p:cNvSpPr/>
          <p:nvPr/>
        </p:nvSpPr>
        <p:spPr>
          <a:xfrm>
            <a:off x="822960" y="3977640"/>
            <a:ext cx="2743200" cy="0"/>
          </a:xfrm>
          <a:prstGeom prst="line">
            <a:avLst/>
          </a:prstGeom>
          <a:noFill/>
          <a:ln w="25400">
            <a:solidFill>
              <a:srgbClr val="E2703A"/>
            </a:solidFill>
            <a:prstDash val="solid"/>
          </a:ln>
        </p:spPr>
        <p:txBody>
          <a:bodyPr/>
          <a:lstStyle/>
          <a:p>
            <a:endParaRPr lang="fr-FR"/>
          </a:p>
        </p:txBody>
      </p:sp>
      <p:sp>
        <p:nvSpPr>
          <p:cNvPr id="9" name="Text 7"/>
          <p:cNvSpPr/>
          <p:nvPr/>
        </p:nvSpPr>
        <p:spPr>
          <a:xfrm>
            <a:off x="822960" y="4206240"/>
            <a:ext cx="73152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Présenté par : </a:t>
            </a:r>
            <a:r>
              <a:rPr lang="en-US" sz="1300" dirty="0">
                <a:solidFill>
                  <a:srgbClr val="FFFFFF"/>
                </a:solidFill>
                <a:latin typeface="Calibri" pitchFamily="34" charset="0"/>
                <a:ea typeface="Calibri" pitchFamily="34" charset="-122"/>
                <a:cs typeface="Calibri" pitchFamily="34" charset="-120"/>
              </a:rPr>
              <a:t>Mouhamadou Moustapha CISSOKHO</a:t>
            </a:r>
            <a:endParaRPr lang="en-US" sz="1300" dirty="0"/>
          </a:p>
        </p:txBody>
      </p:sp>
      <p:sp>
        <p:nvSpPr>
          <p:cNvPr id="10" name="Text 8"/>
          <p:cNvSpPr/>
          <p:nvPr/>
        </p:nvSpPr>
        <p:spPr>
          <a:xfrm>
            <a:off x="822960" y="4526280"/>
            <a:ext cx="7315200" cy="320040"/>
          </a:xfrm>
          <a:prstGeom prst="rect">
            <a:avLst/>
          </a:prstGeom>
          <a:noFill/>
          <a:ln/>
        </p:spPr>
        <p:txBody>
          <a:bodyPr wrap="square" rtlCol="0" anchor="ctr"/>
          <a:lstStyle/>
          <a:p>
            <a:pPr marL="0" indent="0">
              <a:buNone/>
            </a:pPr>
            <a:r>
              <a:rPr lang="en-US" sz="1300" dirty="0">
                <a:solidFill>
                  <a:srgbClr val="C7DAD8"/>
                </a:solidFill>
                <a:latin typeface="Calibri" pitchFamily="34" charset="0"/>
                <a:ea typeface="Calibri" pitchFamily="34" charset="-122"/>
                <a:cs typeface="Calibri" pitchFamily="34" charset="-120"/>
              </a:rPr>
              <a:t>Classe : L1CS   ·   Date : 03/07/2026</a:t>
            </a:r>
            <a:endParaRPr lang="en-US" sz="1300" dirty="0"/>
          </a:p>
        </p:txBody>
      </p:sp>
      <p:pic>
        <p:nvPicPr>
          <p:cNvPr id="12" name="Image 11">
            <a:extLst>
              <a:ext uri="{FF2B5EF4-FFF2-40B4-BE49-F238E27FC236}">
                <a16:creationId xmlns:a16="http://schemas.microsoft.com/office/drawing/2014/main" id="{7BD93A0C-6DFA-C218-3D89-3681A19406DB}"/>
              </a:ext>
            </a:extLst>
          </p:cNvPr>
          <p:cNvPicPr>
            <a:picLocks noChangeAspect="1"/>
          </p:cNvPicPr>
          <p:nvPr/>
        </p:nvPicPr>
        <p:blipFill>
          <a:blip r:embed="rId3"/>
          <a:stretch>
            <a:fillRect/>
          </a:stretch>
        </p:blipFill>
        <p:spPr>
          <a:xfrm>
            <a:off x="7814310" y="956310"/>
            <a:ext cx="4213860" cy="42138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par>
                          <p:cTn id="27" fill="hold">
                            <p:stCondLst>
                              <p:cond delay="3000"/>
                            </p:stCondLst>
                            <p:childTnLst>
                              <p:par>
                                <p:cTn id="28" presetID="42"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1000"/>
                                        <p:tgtEl>
                                          <p:spTgt spid="9"/>
                                        </p:tgtEl>
                                      </p:cBhvr>
                                    </p:animEffec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1"/>
                                          </p:val>
                                        </p:tav>
                                        <p:tav tm="100000">
                                          <p:val>
                                            <p:strVal val="#ppt_y"/>
                                          </p:val>
                                        </p:tav>
                                      </p:tavLst>
                                    </p:anim>
                                  </p:childTnLst>
                                </p:cTn>
                              </p:par>
                            </p:childTnLst>
                          </p:cTn>
                        </p:par>
                        <p:par>
                          <p:cTn id="33" fill="hold">
                            <p:stCondLst>
                              <p:cond delay="4000"/>
                            </p:stCondLst>
                            <p:childTnLst>
                              <p:par>
                                <p:cTn id="34" presetID="42" presetClass="entr" presetSubtype="0"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1000"/>
                                        <p:tgtEl>
                                          <p:spTgt spid="2"/>
                                        </p:tgtEl>
                                      </p:cBhvr>
                                    </p:animEffect>
                                    <p:anim calcmode="lin" valueType="num">
                                      <p:cBhvr>
                                        <p:cTn id="42" dur="1000" fill="hold"/>
                                        <p:tgtEl>
                                          <p:spTgt spid="2"/>
                                        </p:tgtEl>
                                        <p:attrNameLst>
                                          <p:attrName>ppt_x</p:attrName>
                                        </p:attrNameLst>
                                      </p:cBhvr>
                                      <p:tavLst>
                                        <p:tav tm="0">
                                          <p:val>
                                            <p:strVal val="#ppt_x"/>
                                          </p:val>
                                        </p:tav>
                                        <p:tav tm="100000">
                                          <p:val>
                                            <p:strVal val="#ppt_x"/>
                                          </p:val>
                                        </p:tav>
                                      </p:tavLst>
                                    </p:anim>
                                    <p:anim calcmode="lin" valueType="num">
                                      <p:cBhvr>
                                        <p:cTn id="43" dur="1000" fill="hold"/>
                                        <p:tgtEl>
                                          <p:spTgt spid="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1000"/>
                                        <p:tgtEl>
                                          <p:spTgt spid="3"/>
                                        </p:tgtEl>
                                      </p:cBhvr>
                                    </p:animEffect>
                                    <p:anim calcmode="lin" valueType="num">
                                      <p:cBhvr>
                                        <p:cTn id="47" dur="1000" fill="hold"/>
                                        <p:tgtEl>
                                          <p:spTgt spid="3"/>
                                        </p:tgtEl>
                                        <p:attrNameLst>
                                          <p:attrName>ppt_x</p:attrName>
                                        </p:attrNameLst>
                                      </p:cBhvr>
                                      <p:tavLst>
                                        <p:tav tm="0">
                                          <p:val>
                                            <p:strVal val="#ppt_x"/>
                                          </p:val>
                                        </p:tav>
                                        <p:tav tm="100000">
                                          <p:val>
                                            <p:strVal val="#ppt_x"/>
                                          </p:val>
                                        </p:tav>
                                      </p:tavLst>
                                    </p:anim>
                                    <p:anim calcmode="lin" valueType="num">
                                      <p:cBhvr>
                                        <p:cTn id="48" dur="1000" fill="hold"/>
                                        <p:tgtEl>
                                          <p:spTgt spid="3"/>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fade">
                                      <p:cBhvr>
                                        <p:cTn id="51" dur="1000"/>
                                        <p:tgtEl>
                                          <p:spTgt spid="4"/>
                                        </p:tgtEl>
                                      </p:cBhvr>
                                    </p:animEffect>
                                    <p:anim calcmode="lin" valueType="num">
                                      <p:cBhvr>
                                        <p:cTn id="52" dur="1000" fill="hold"/>
                                        <p:tgtEl>
                                          <p:spTgt spid="4"/>
                                        </p:tgtEl>
                                        <p:attrNameLst>
                                          <p:attrName>ppt_x</p:attrName>
                                        </p:attrNameLst>
                                      </p:cBhvr>
                                      <p:tavLst>
                                        <p:tav tm="0">
                                          <p:val>
                                            <p:strVal val="#ppt_x"/>
                                          </p:val>
                                        </p:tav>
                                        <p:tav tm="100000">
                                          <p:val>
                                            <p:strVal val="#ppt_x"/>
                                          </p:val>
                                        </p:tav>
                                      </p:tavLst>
                                    </p:anim>
                                    <p:anim calcmode="lin" valueType="num">
                                      <p:cBhvr>
                                        <p:cTn id="53" dur="1000" fill="hold"/>
                                        <p:tgtEl>
                                          <p:spTgt spid="4"/>
                                        </p:tgtEl>
                                        <p:attrNameLst>
                                          <p:attrName>ppt_y</p:attrName>
                                        </p:attrNameLst>
                                      </p:cBhvr>
                                      <p:tavLst>
                                        <p:tav tm="0">
                                          <p:val>
                                            <p:strVal val="#ppt_y+.1"/>
                                          </p:val>
                                        </p:tav>
                                        <p:tav tm="100000">
                                          <p:val>
                                            <p:strVal val="#ppt_y"/>
                                          </p:val>
                                        </p:tav>
                                      </p:tavLst>
                                    </p:anim>
                                  </p:childTnLst>
                                </p:cTn>
                              </p:par>
                            </p:childTnLst>
                          </p:cTn>
                        </p:par>
                        <p:par>
                          <p:cTn id="54" fill="hold">
                            <p:stCondLst>
                              <p:cond delay="5000"/>
                            </p:stCondLst>
                            <p:childTnLst>
                              <p:par>
                                <p:cTn id="55" presetID="42" presetClass="entr" presetSubtype="0" fill="hold"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Sommaire</a:t>
            </a:r>
            <a:endParaRPr lang="en-US" sz="3200" dirty="0"/>
          </a:p>
        </p:txBody>
      </p:sp>
      <p:sp>
        <p:nvSpPr>
          <p:cNvPr id="3" name="Shape 1"/>
          <p:cNvSpPr/>
          <p:nvPr/>
        </p:nvSpPr>
        <p:spPr>
          <a:xfrm>
            <a:off x="566928" y="1143000"/>
            <a:ext cx="1280160" cy="0"/>
          </a:xfrm>
          <a:prstGeom prst="line">
            <a:avLst/>
          </a:prstGeom>
          <a:noFill/>
          <a:ln w="38100">
            <a:solidFill>
              <a:srgbClr val="E2703A"/>
            </a:solidFill>
            <a:prstDash val="solid"/>
          </a:ln>
        </p:spPr>
        <p:txBody>
          <a:bodyPr/>
          <a:lstStyle/>
          <a:p>
            <a:endParaRPr lang="fr-FR"/>
          </a:p>
        </p:txBody>
      </p:sp>
      <p:sp>
        <p:nvSpPr>
          <p:cNvPr id="4" name="Text 2"/>
          <p:cNvSpPr/>
          <p:nvPr/>
        </p:nvSpPr>
        <p:spPr>
          <a:xfrm>
            <a:off x="548640" y="155448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01</a:t>
            </a:r>
            <a:endParaRPr lang="en-US" sz="2200" dirty="0"/>
          </a:p>
        </p:txBody>
      </p:sp>
      <p:sp>
        <p:nvSpPr>
          <p:cNvPr id="5" name="Text 3"/>
          <p:cNvSpPr/>
          <p:nvPr/>
        </p:nvSpPr>
        <p:spPr>
          <a:xfrm>
            <a:off x="1234440" y="155448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Contexte &amp; Objectif du projet</a:t>
            </a:r>
            <a:endParaRPr lang="en-US" sz="1500" dirty="0"/>
          </a:p>
        </p:txBody>
      </p:sp>
      <p:sp>
        <p:nvSpPr>
          <p:cNvPr id="6" name="Shape 4"/>
          <p:cNvSpPr/>
          <p:nvPr/>
        </p:nvSpPr>
        <p:spPr>
          <a:xfrm>
            <a:off x="548640" y="2331720"/>
            <a:ext cx="5394960" cy="0"/>
          </a:xfrm>
          <a:prstGeom prst="line">
            <a:avLst/>
          </a:prstGeom>
          <a:noFill/>
          <a:ln w="12700">
            <a:solidFill>
              <a:srgbClr val="E5E7EB"/>
            </a:solidFill>
            <a:prstDash val="solid"/>
          </a:ln>
        </p:spPr>
        <p:txBody>
          <a:bodyPr/>
          <a:lstStyle/>
          <a:p>
            <a:endParaRPr lang="fr-FR"/>
          </a:p>
        </p:txBody>
      </p:sp>
      <p:sp>
        <p:nvSpPr>
          <p:cNvPr id="7" name="Text 5"/>
          <p:cNvSpPr/>
          <p:nvPr/>
        </p:nvSpPr>
        <p:spPr>
          <a:xfrm>
            <a:off x="548640" y="251460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02</a:t>
            </a:r>
            <a:endParaRPr lang="en-US" sz="2200" dirty="0"/>
          </a:p>
        </p:txBody>
      </p:sp>
      <p:sp>
        <p:nvSpPr>
          <p:cNvPr id="8" name="Text 6"/>
          <p:cNvSpPr/>
          <p:nvPr/>
        </p:nvSpPr>
        <p:spPr>
          <a:xfrm>
            <a:off x="1234440" y="251460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Choix de design : palette &amp; typographie</a:t>
            </a:r>
            <a:endParaRPr lang="en-US" sz="1500" dirty="0"/>
          </a:p>
        </p:txBody>
      </p:sp>
      <p:sp>
        <p:nvSpPr>
          <p:cNvPr id="9" name="Shape 7"/>
          <p:cNvSpPr/>
          <p:nvPr/>
        </p:nvSpPr>
        <p:spPr>
          <a:xfrm>
            <a:off x="548640" y="3291840"/>
            <a:ext cx="5394960" cy="0"/>
          </a:xfrm>
          <a:prstGeom prst="line">
            <a:avLst/>
          </a:prstGeom>
          <a:noFill/>
          <a:ln w="12700">
            <a:solidFill>
              <a:srgbClr val="E5E7EB"/>
            </a:solidFill>
            <a:prstDash val="solid"/>
          </a:ln>
        </p:spPr>
        <p:txBody>
          <a:bodyPr/>
          <a:lstStyle/>
          <a:p>
            <a:endParaRPr lang="fr-FR"/>
          </a:p>
        </p:txBody>
      </p:sp>
      <p:sp>
        <p:nvSpPr>
          <p:cNvPr id="10" name="Text 8"/>
          <p:cNvSpPr/>
          <p:nvPr/>
        </p:nvSpPr>
        <p:spPr>
          <a:xfrm>
            <a:off x="548640" y="347472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03</a:t>
            </a:r>
            <a:endParaRPr lang="en-US" sz="2200" dirty="0"/>
          </a:p>
        </p:txBody>
      </p:sp>
      <p:sp>
        <p:nvSpPr>
          <p:cNvPr id="11" name="Text 9"/>
          <p:cNvSpPr/>
          <p:nvPr/>
        </p:nvSpPr>
        <p:spPr>
          <a:xfrm>
            <a:off x="1234440" y="347472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Architecture du site &amp; pages</a:t>
            </a:r>
            <a:endParaRPr lang="en-US" sz="1500" dirty="0"/>
          </a:p>
        </p:txBody>
      </p:sp>
      <p:sp>
        <p:nvSpPr>
          <p:cNvPr id="12" name="Shape 10"/>
          <p:cNvSpPr/>
          <p:nvPr/>
        </p:nvSpPr>
        <p:spPr>
          <a:xfrm>
            <a:off x="548640" y="4251960"/>
            <a:ext cx="5394960" cy="0"/>
          </a:xfrm>
          <a:prstGeom prst="line">
            <a:avLst/>
          </a:prstGeom>
          <a:noFill/>
          <a:ln w="12700">
            <a:solidFill>
              <a:srgbClr val="E5E7EB"/>
            </a:solidFill>
            <a:prstDash val="solid"/>
          </a:ln>
        </p:spPr>
        <p:txBody>
          <a:bodyPr/>
          <a:lstStyle/>
          <a:p>
            <a:endParaRPr lang="fr-FR"/>
          </a:p>
        </p:txBody>
      </p:sp>
      <p:sp>
        <p:nvSpPr>
          <p:cNvPr id="13" name="Text 11"/>
          <p:cNvSpPr/>
          <p:nvPr/>
        </p:nvSpPr>
        <p:spPr>
          <a:xfrm>
            <a:off x="548640" y="443484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04</a:t>
            </a:r>
            <a:endParaRPr lang="en-US" sz="2200" dirty="0"/>
          </a:p>
        </p:txBody>
      </p:sp>
      <p:sp>
        <p:nvSpPr>
          <p:cNvPr id="14" name="Text 12"/>
          <p:cNvSpPr/>
          <p:nvPr/>
        </p:nvSpPr>
        <p:spPr>
          <a:xfrm>
            <a:off x="1234440" y="443484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Fonctionnalités JavaScript</a:t>
            </a:r>
            <a:endParaRPr lang="en-US" sz="1500" dirty="0"/>
          </a:p>
        </p:txBody>
      </p:sp>
      <p:sp>
        <p:nvSpPr>
          <p:cNvPr id="15" name="Shape 13"/>
          <p:cNvSpPr/>
          <p:nvPr/>
        </p:nvSpPr>
        <p:spPr>
          <a:xfrm>
            <a:off x="548640" y="5212080"/>
            <a:ext cx="5394960" cy="0"/>
          </a:xfrm>
          <a:prstGeom prst="line">
            <a:avLst/>
          </a:prstGeom>
          <a:noFill/>
          <a:ln w="12700">
            <a:solidFill>
              <a:srgbClr val="E5E7EB"/>
            </a:solidFill>
            <a:prstDash val="solid"/>
          </a:ln>
        </p:spPr>
        <p:txBody>
          <a:bodyPr/>
          <a:lstStyle/>
          <a:p>
            <a:endParaRPr lang="fr-FR"/>
          </a:p>
        </p:txBody>
      </p:sp>
      <p:sp>
        <p:nvSpPr>
          <p:cNvPr id="16" name="Text 14"/>
          <p:cNvSpPr/>
          <p:nvPr/>
        </p:nvSpPr>
        <p:spPr>
          <a:xfrm>
            <a:off x="548640" y="539496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05</a:t>
            </a:r>
            <a:endParaRPr lang="en-US" sz="2200" dirty="0"/>
          </a:p>
        </p:txBody>
      </p:sp>
      <p:sp>
        <p:nvSpPr>
          <p:cNvPr id="17" name="Text 15"/>
          <p:cNvSpPr/>
          <p:nvPr/>
        </p:nvSpPr>
        <p:spPr>
          <a:xfrm>
            <a:off x="1234440" y="539496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Composants Bootstrap utilisés</a:t>
            </a:r>
            <a:endParaRPr lang="en-US" sz="1500" dirty="0"/>
          </a:p>
        </p:txBody>
      </p:sp>
      <p:sp>
        <p:nvSpPr>
          <p:cNvPr id="18" name="Text 16"/>
          <p:cNvSpPr/>
          <p:nvPr/>
        </p:nvSpPr>
        <p:spPr>
          <a:xfrm>
            <a:off x="6217920" y="155448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06</a:t>
            </a:r>
            <a:endParaRPr lang="en-US" sz="2200" dirty="0"/>
          </a:p>
        </p:txBody>
      </p:sp>
      <p:sp>
        <p:nvSpPr>
          <p:cNvPr id="19" name="Text 17"/>
          <p:cNvSpPr/>
          <p:nvPr/>
        </p:nvSpPr>
        <p:spPr>
          <a:xfrm>
            <a:off x="6903720" y="155448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CSS avancé : Grid, variables &amp; animations</a:t>
            </a:r>
            <a:endParaRPr lang="en-US" sz="1500" dirty="0"/>
          </a:p>
        </p:txBody>
      </p:sp>
      <p:sp>
        <p:nvSpPr>
          <p:cNvPr id="20" name="Shape 18"/>
          <p:cNvSpPr/>
          <p:nvPr/>
        </p:nvSpPr>
        <p:spPr>
          <a:xfrm>
            <a:off x="6217920" y="2331720"/>
            <a:ext cx="5394960" cy="0"/>
          </a:xfrm>
          <a:prstGeom prst="line">
            <a:avLst/>
          </a:prstGeom>
          <a:noFill/>
          <a:ln w="12700">
            <a:solidFill>
              <a:srgbClr val="E5E7EB"/>
            </a:solidFill>
            <a:prstDash val="solid"/>
          </a:ln>
        </p:spPr>
        <p:txBody>
          <a:bodyPr/>
          <a:lstStyle/>
          <a:p>
            <a:endParaRPr lang="fr-FR"/>
          </a:p>
        </p:txBody>
      </p:sp>
      <p:sp>
        <p:nvSpPr>
          <p:cNvPr id="21" name="Text 19"/>
          <p:cNvSpPr/>
          <p:nvPr/>
        </p:nvSpPr>
        <p:spPr>
          <a:xfrm>
            <a:off x="6217920" y="251460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07</a:t>
            </a:r>
            <a:endParaRPr lang="en-US" sz="2200" dirty="0"/>
          </a:p>
        </p:txBody>
      </p:sp>
      <p:sp>
        <p:nvSpPr>
          <p:cNvPr id="22" name="Text 20"/>
          <p:cNvSpPr/>
          <p:nvPr/>
        </p:nvSpPr>
        <p:spPr>
          <a:xfrm>
            <a:off x="6903720" y="251460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Workflow GitHub &amp; commits</a:t>
            </a:r>
            <a:endParaRPr lang="en-US" sz="1500" dirty="0"/>
          </a:p>
        </p:txBody>
      </p:sp>
      <p:sp>
        <p:nvSpPr>
          <p:cNvPr id="23" name="Shape 21"/>
          <p:cNvSpPr/>
          <p:nvPr/>
        </p:nvSpPr>
        <p:spPr>
          <a:xfrm>
            <a:off x="6217920" y="3291840"/>
            <a:ext cx="5394960" cy="0"/>
          </a:xfrm>
          <a:prstGeom prst="line">
            <a:avLst/>
          </a:prstGeom>
          <a:noFill/>
          <a:ln w="12700">
            <a:solidFill>
              <a:srgbClr val="E5E7EB"/>
            </a:solidFill>
            <a:prstDash val="solid"/>
          </a:ln>
        </p:spPr>
        <p:txBody>
          <a:bodyPr/>
          <a:lstStyle/>
          <a:p>
            <a:endParaRPr lang="fr-FR"/>
          </a:p>
        </p:txBody>
      </p:sp>
      <p:sp>
        <p:nvSpPr>
          <p:cNvPr id="24" name="Text 22"/>
          <p:cNvSpPr/>
          <p:nvPr/>
        </p:nvSpPr>
        <p:spPr>
          <a:xfrm>
            <a:off x="6217920" y="347472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08</a:t>
            </a:r>
            <a:endParaRPr lang="en-US" sz="2200" dirty="0"/>
          </a:p>
        </p:txBody>
      </p:sp>
      <p:sp>
        <p:nvSpPr>
          <p:cNvPr id="25" name="Text 23"/>
          <p:cNvSpPr/>
          <p:nvPr/>
        </p:nvSpPr>
        <p:spPr>
          <a:xfrm>
            <a:off x="6903720" y="347472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Difficultés rencontrées &amp; solutions</a:t>
            </a:r>
            <a:endParaRPr lang="en-US" sz="1500" dirty="0"/>
          </a:p>
        </p:txBody>
      </p:sp>
      <p:sp>
        <p:nvSpPr>
          <p:cNvPr id="26" name="Shape 24"/>
          <p:cNvSpPr/>
          <p:nvPr/>
        </p:nvSpPr>
        <p:spPr>
          <a:xfrm>
            <a:off x="6217920" y="4251960"/>
            <a:ext cx="5394960" cy="0"/>
          </a:xfrm>
          <a:prstGeom prst="line">
            <a:avLst/>
          </a:prstGeom>
          <a:noFill/>
          <a:ln w="12700">
            <a:solidFill>
              <a:srgbClr val="E5E7EB"/>
            </a:solidFill>
            <a:prstDash val="solid"/>
          </a:ln>
        </p:spPr>
        <p:txBody>
          <a:bodyPr/>
          <a:lstStyle/>
          <a:p>
            <a:endParaRPr lang="fr-FR"/>
          </a:p>
        </p:txBody>
      </p:sp>
      <p:sp>
        <p:nvSpPr>
          <p:cNvPr id="27" name="Text 25"/>
          <p:cNvSpPr/>
          <p:nvPr/>
        </p:nvSpPr>
        <p:spPr>
          <a:xfrm>
            <a:off x="6217920" y="443484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09</a:t>
            </a:r>
            <a:endParaRPr lang="en-US" sz="2200" dirty="0"/>
          </a:p>
        </p:txBody>
      </p:sp>
      <p:sp>
        <p:nvSpPr>
          <p:cNvPr id="28" name="Text 26"/>
          <p:cNvSpPr/>
          <p:nvPr/>
        </p:nvSpPr>
        <p:spPr>
          <a:xfrm>
            <a:off x="6903720" y="443484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Ressources &amp; documentation</a:t>
            </a:r>
            <a:endParaRPr lang="en-US" sz="1500" dirty="0"/>
          </a:p>
        </p:txBody>
      </p:sp>
      <p:sp>
        <p:nvSpPr>
          <p:cNvPr id="29" name="Shape 27"/>
          <p:cNvSpPr/>
          <p:nvPr/>
        </p:nvSpPr>
        <p:spPr>
          <a:xfrm>
            <a:off x="6217920" y="5212080"/>
            <a:ext cx="5394960" cy="0"/>
          </a:xfrm>
          <a:prstGeom prst="line">
            <a:avLst/>
          </a:prstGeom>
          <a:noFill/>
          <a:ln w="12700">
            <a:solidFill>
              <a:srgbClr val="E5E7EB"/>
            </a:solidFill>
            <a:prstDash val="solid"/>
          </a:ln>
        </p:spPr>
        <p:txBody>
          <a:bodyPr/>
          <a:lstStyle/>
          <a:p>
            <a:endParaRPr lang="fr-FR"/>
          </a:p>
        </p:txBody>
      </p:sp>
      <p:sp>
        <p:nvSpPr>
          <p:cNvPr id="30" name="Text 28"/>
          <p:cNvSpPr/>
          <p:nvPr/>
        </p:nvSpPr>
        <p:spPr>
          <a:xfrm>
            <a:off x="6217920" y="5394960"/>
            <a:ext cx="640080" cy="731520"/>
          </a:xfrm>
          <a:prstGeom prst="rect">
            <a:avLst/>
          </a:prstGeom>
          <a:noFill/>
          <a:ln/>
        </p:spPr>
        <p:txBody>
          <a:bodyPr wrap="square" rtlCol="0" anchor="ctr"/>
          <a:lstStyle/>
          <a:p>
            <a:pPr marL="0" indent="0">
              <a:buNone/>
            </a:pPr>
            <a:r>
              <a:rPr lang="en-US" sz="2200" b="1" dirty="0">
                <a:solidFill>
                  <a:srgbClr val="0B5E63"/>
                </a:solidFill>
                <a:latin typeface="Cambria" pitchFamily="34" charset="0"/>
                <a:ea typeface="Cambria" pitchFamily="34" charset="-122"/>
                <a:cs typeface="Cambria" pitchFamily="34" charset="-120"/>
              </a:rPr>
              <a:t>10</a:t>
            </a:r>
            <a:endParaRPr lang="en-US" sz="2200" dirty="0"/>
          </a:p>
        </p:txBody>
      </p:sp>
      <p:sp>
        <p:nvSpPr>
          <p:cNvPr id="31" name="Text 29"/>
          <p:cNvSpPr/>
          <p:nvPr/>
        </p:nvSpPr>
        <p:spPr>
          <a:xfrm>
            <a:off x="6903720" y="5394960"/>
            <a:ext cx="4709160" cy="731520"/>
          </a:xfrm>
          <a:prstGeom prst="rect">
            <a:avLst/>
          </a:prstGeom>
          <a:noFill/>
          <a:ln/>
        </p:spPr>
        <p:txBody>
          <a:bodyPr wrap="square" rtlCol="0" anchor="ctr"/>
          <a:lstStyle/>
          <a:p>
            <a:pPr marL="0" indent="0">
              <a:buNone/>
            </a:pPr>
            <a:r>
              <a:rPr lang="en-US" sz="1500" dirty="0">
                <a:solidFill>
                  <a:srgbClr val="1F2937"/>
                </a:solidFill>
                <a:latin typeface="Calibri" pitchFamily="34" charset="0"/>
                <a:ea typeface="Calibri" pitchFamily="34" charset="-122"/>
                <a:cs typeface="Calibri" pitchFamily="34" charset="-120"/>
              </a:rPr>
              <a:t>Démonstration live &amp; conclusion</a:t>
            </a:r>
            <a:endParaRPr lang="en-US" sz="1500" dirty="0"/>
          </a:p>
        </p:txBody>
      </p:sp>
      <p:sp>
        <p:nvSpPr>
          <p:cNvPr id="32" name="Text 30"/>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33" name="Text 31"/>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1000"/>
                                        <p:tgtEl>
                                          <p:spTgt spid="25"/>
                                        </p:tgtEl>
                                      </p:cBhvr>
                                    </p:animEffect>
                                    <p:anim calcmode="lin" valueType="num">
                                      <p:cBhvr>
                                        <p:cTn id="123" dur="1000" fill="hold"/>
                                        <p:tgtEl>
                                          <p:spTgt spid="25"/>
                                        </p:tgtEl>
                                        <p:attrNameLst>
                                          <p:attrName>ppt_x</p:attrName>
                                        </p:attrNameLst>
                                      </p:cBhvr>
                                      <p:tavLst>
                                        <p:tav tm="0">
                                          <p:val>
                                            <p:strVal val="#ppt_x"/>
                                          </p:val>
                                        </p:tav>
                                        <p:tav tm="100000">
                                          <p:val>
                                            <p:strVal val="#ppt_x"/>
                                          </p:val>
                                        </p:tav>
                                      </p:tavLst>
                                    </p:anim>
                                    <p:anim calcmode="lin" valueType="num">
                                      <p:cBhvr>
                                        <p:cTn id="124" dur="10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1000"/>
                                        <p:tgtEl>
                                          <p:spTgt spid="26"/>
                                        </p:tgtEl>
                                      </p:cBhvr>
                                    </p:animEffect>
                                    <p:anim calcmode="lin" valueType="num">
                                      <p:cBhvr>
                                        <p:cTn id="128" dur="1000" fill="hold"/>
                                        <p:tgtEl>
                                          <p:spTgt spid="26"/>
                                        </p:tgtEl>
                                        <p:attrNameLst>
                                          <p:attrName>ppt_x</p:attrName>
                                        </p:attrNameLst>
                                      </p:cBhvr>
                                      <p:tavLst>
                                        <p:tav tm="0">
                                          <p:val>
                                            <p:strVal val="#ppt_x"/>
                                          </p:val>
                                        </p:tav>
                                        <p:tav tm="100000">
                                          <p:val>
                                            <p:strVal val="#ppt_x"/>
                                          </p:val>
                                        </p:tav>
                                      </p:tavLst>
                                    </p:anim>
                                    <p:anim calcmode="lin" valueType="num">
                                      <p:cBhvr>
                                        <p:cTn id="129" dur="1000" fill="hold"/>
                                        <p:tgtEl>
                                          <p:spTgt spid="26"/>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27"/>
                                        </p:tgtEl>
                                        <p:attrNameLst>
                                          <p:attrName>style.visibility</p:attrName>
                                        </p:attrNameLst>
                                      </p:cBhvr>
                                      <p:to>
                                        <p:strVal val="visible"/>
                                      </p:to>
                                    </p:set>
                                    <p:animEffect transition="in" filter="fade">
                                      <p:cBhvr>
                                        <p:cTn id="132" dur="1000"/>
                                        <p:tgtEl>
                                          <p:spTgt spid="27"/>
                                        </p:tgtEl>
                                      </p:cBhvr>
                                    </p:animEffect>
                                    <p:anim calcmode="lin" valueType="num">
                                      <p:cBhvr>
                                        <p:cTn id="133" dur="1000" fill="hold"/>
                                        <p:tgtEl>
                                          <p:spTgt spid="27"/>
                                        </p:tgtEl>
                                        <p:attrNameLst>
                                          <p:attrName>ppt_x</p:attrName>
                                        </p:attrNameLst>
                                      </p:cBhvr>
                                      <p:tavLst>
                                        <p:tav tm="0">
                                          <p:val>
                                            <p:strVal val="#ppt_x"/>
                                          </p:val>
                                        </p:tav>
                                        <p:tav tm="100000">
                                          <p:val>
                                            <p:strVal val="#ppt_x"/>
                                          </p:val>
                                        </p:tav>
                                      </p:tavLst>
                                    </p:anim>
                                    <p:anim calcmode="lin" valueType="num">
                                      <p:cBhvr>
                                        <p:cTn id="134" dur="1000" fill="hold"/>
                                        <p:tgtEl>
                                          <p:spTgt spid="27"/>
                                        </p:tgtEl>
                                        <p:attrNameLst>
                                          <p:attrName>ppt_y</p:attrName>
                                        </p:attrNameLst>
                                      </p:cBhvr>
                                      <p:tavLst>
                                        <p:tav tm="0">
                                          <p:val>
                                            <p:strVal val="#ppt_y+.1"/>
                                          </p:val>
                                        </p:tav>
                                        <p:tav tm="100000">
                                          <p:val>
                                            <p:strVal val="#ppt_y"/>
                                          </p:val>
                                        </p:tav>
                                      </p:tavLst>
                                    </p:anim>
                                  </p:childTnLst>
                                </p:cTn>
                              </p:par>
                              <p:par>
                                <p:cTn id="135" presetID="42" presetClass="entr" presetSubtype="0" fill="hold" grpId="0" nodeType="with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1000"/>
                                        <p:tgtEl>
                                          <p:spTgt spid="28"/>
                                        </p:tgtEl>
                                      </p:cBhvr>
                                    </p:animEffect>
                                    <p:anim calcmode="lin" valueType="num">
                                      <p:cBhvr>
                                        <p:cTn id="138" dur="1000" fill="hold"/>
                                        <p:tgtEl>
                                          <p:spTgt spid="28"/>
                                        </p:tgtEl>
                                        <p:attrNameLst>
                                          <p:attrName>ppt_x</p:attrName>
                                        </p:attrNameLst>
                                      </p:cBhvr>
                                      <p:tavLst>
                                        <p:tav tm="0">
                                          <p:val>
                                            <p:strVal val="#ppt_x"/>
                                          </p:val>
                                        </p:tav>
                                        <p:tav tm="100000">
                                          <p:val>
                                            <p:strVal val="#ppt_x"/>
                                          </p:val>
                                        </p:tav>
                                      </p:tavLst>
                                    </p:anim>
                                    <p:anim calcmode="lin" valueType="num">
                                      <p:cBhvr>
                                        <p:cTn id="139" dur="1000" fill="hold"/>
                                        <p:tgtEl>
                                          <p:spTgt spid="28"/>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29"/>
                                        </p:tgtEl>
                                        <p:attrNameLst>
                                          <p:attrName>style.visibility</p:attrName>
                                        </p:attrNameLst>
                                      </p:cBhvr>
                                      <p:to>
                                        <p:strVal val="visible"/>
                                      </p:to>
                                    </p:set>
                                    <p:animEffect transition="in" filter="fade">
                                      <p:cBhvr>
                                        <p:cTn id="142" dur="1000"/>
                                        <p:tgtEl>
                                          <p:spTgt spid="29"/>
                                        </p:tgtEl>
                                      </p:cBhvr>
                                    </p:animEffect>
                                    <p:anim calcmode="lin" valueType="num">
                                      <p:cBhvr>
                                        <p:cTn id="143" dur="1000" fill="hold"/>
                                        <p:tgtEl>
                                          <p:spTgt spid="29"/>
                                        </p:tgtEl>
                                        <p:attrNameLst>
                                          <p:attrName>ppt_x</p:attrName>
                                        </p:attrNameLst>
                                      </p:cBhvr>
                                      <p:tavLst>
                                        <p:tav tm="0">
                                          <p:val>
                                            <p:strVal val="#ppt_x"/>
                                          </p:val>
                                        </p:tav>
                                        <p:tav tm="100000">
                                          <p:val>
                                            <p:strVal val="#ppt_x"/>
                                          </p:val>
                                        </p:tav>
                                      </p:tavLst>
                                    </p:anim>
                                    <p:anim calcmode="lin" valueType="num">
                                      <p:cBhvr>
                                        <p:cTn id="144" dur="1000" fill="hold"/>
                                        <p:tgtEl>
                                          <p:spTgt spid="29"/>
                                        </p:tgtEl>
                                        <p:attrNameLst>
                                          <p:attrName>ppt_y</p:attrName>
                                        </p:attrNameLst>
                                      </p:cBhvr>
                                      <p:tavLst>
                                        <p:tav tm="0">
                                          <p:val>
                                            <p:strVal val="#ppt_y+.1"/>
                                          </p:val>
                                        </p:tav>
                                        <p:tav tm="100000">
                                          <p:val>
                                            <p:strVal val="#ppt_y"/>
                                          </p:val>
                                        </p:tav>
                                      </p:tavLst>
                                    </p:anim>
                                  </p:childTnLst>
                                </p:cTn>
                              </p:par>
                              <p:par>
                                <p:cTn id="145" presetID="42" presetClass="entr" presetSubtype="0" fill="hold" grpId="0" nodeType="with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fade">
                                      <p:cBhvr>
                                        <p:cTn id="147" dur="1000"/>
                                        <p:tgtEl>
                                          <p:spTgt spid="30"/>
                                        </p:tgtEl>
                                      </p:cBhvr>
                                    </p:animEffect>
                                    <p:anim calcmode="lin" valueType="num">
                                      <p:cBhvr>
                                        <p:cTn id="148" dur="1000" fill="hold"/>
                                        <p:tgtEl>
                                          <p:spTgt spid="30"/>
                                        </p:tgtEl>
                                        <p:attrNameLst>
                                          <p:attrName>ppt_x</p:attrName>
                                        </p:attrNameLst>
                                      </p:cBhvr>
                                      <p:tavLst>
                                        <p:tav tm="0">
                                          <p:val>
                                            <p:strVal val="#ppt_x"/>
                                          </p:val>
                                        </p:tav>
                                        <p:tav tm="100000">
                                          <p:val>
                                            <p:strVal val="#ppt_x"/>
                                          </p:val>
                                        </p:tav>
                                      </p:tavLst>
                                    </p:anim>
                                    <p:anim calcmode="lin" valueType="num">
                                      <p:cBhvr>
                                        <p:cTn id="149" dur="1000" fill="hold"/>
                                        <p:tgtEl>
                                          <p:spTgt spid="30"/>
                                        </p:tgtEl>
                                        <p:attrNameLst>
                                          <p:attrName>ppt_y</p:attrName>
                                        </p:attrNameLst>
                                      </p:cBhvr>
                                      <p:tavLst>
                                        <p:tav tm="0">
                                          <p:val>
                                            <p:strVal val="#ppt_y+.1"/>
                                          </p:val>
                                        </p:tav>
                                        <p:tav tm="100000">
                                          <p:val>
                                            <p:strVal val="#ppt_y"/>
                                          </p:val>
                                        </p:tav>
                                      </p:tavLst>
                                    </p:anim>
                                  </p:childTnLst>
                                </p:cTn>
                              </p:par>
                              <p:par>
                                <p:cTn id="150" presetID="42" presetClass="entr" presetSubtype="0" fill="hold" grpId="0" nodeType="with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fade">
                                      <p:cBhvr>
                                        <p:cTn id="152" dur="1000"/>
                                        <p:tgtEl>
                                          <p:spTgt spid="31"/>
                                        </p:tgtEl>
                                      </p:cBhvr>
                                    </p:animEffect>
                                    <p:anim calcmode="lin" valueType="num">
                                      <p:cBhvr>
                                        <p:cTn id="153" dur="1000" fill="hold"/>
                                        <p:tgtEl>
                                          <p:spTgt spid="31"/>
                                        </p:tgtEl>
                                        <p:attrNameLst>
                                          <p:attrName>ppt_x</p:attrName>
                                        </p:attrNameLst>
                                      </p:cBhvr>
                                      <p:tavLst>
                                        <p:tav tm="0">
                                          <p:val>
                                            <p:strVal val="#ppt_x"/>
                                          </p:val>
                                        </p:tav>
                                        <p:tav tm="100000">
                                          <p:val>
                                            <p:strVal val="#ppt_x"/>
                                          </p:val>
                                        </p:tav>
                                      </p:tavLst>
                                    </p:anim>
                                    <p:anim calcmode="lin" valueType="num">
                                      <p:cBhvr>
                                        <p:cTn id="154" dur="1000" fill="hold"/>
                                        <p:tgtEl>
                                          <p:spTgt spid="31"/>
                                        </p:tgtEl>
                                        <p:attrNameLst>
                                          <p:attrName>ppt_y</p:attrName>
                                        </p:attrNameLst>
                                      </p:cBhvr>
                                      <p:tavLst>
                                        <p:tav tm="0">
                                          <p:val>
                                            <p:strVal val="#ppt_y+.1"/>
                                          </p:val>
                                        </p:tav>
                                        <p:tav tm="100000">
                                          <p:val>
                                            <p:strVal val="#ppt_y"/>
                                          </p:val>
                                        </p:tav>
                                      </p:tavLst>
                                    </p:anim>
                                  </p:childTnLst>
                                </p:cTn>
                              </p:par>
                              <p:par>
                                <p:cTn id="155" presetID="42" presetClass="entr" presetSubtype="0" fill="hold" grpId="0" nodeType="withEffect">
                                  <p:stCondLst>
                                    <p:cond delay="0"/>
                                  </p:stCondLst>
                                  <p:childTnLst>
                                    <p:set>
                                      <p:cBhvr>
                                        <p:cTn id="156" dur="1" fill="hold">
                                          <p:stCondLst>
                                            <p:cond delay="0"/>
                                          </p:stCondLst>
                                        </p:cTn>
                                        <p:tgtEl>
                                          <p:spTgt spid="32"/>
                                        </p:tgtEl>
                                        <p:attrNameLst>
                                          <p:attrName>style.visibility</p:attrName>
                                        </p:attrNameLst>
                                      </p:cBhvr>
                                      <p:to>
                                        <p:strVal val="visible"/>
                                      </p:to>
                                    </p:set>
                                    <p:animEffect transition="in" filter="fade">
                                      <p:cBhvr>
                                        <p:cTn id="157" dur="1000"/>
                                        <p:tgtEl>
                                          <p:spTgt spid="32"/>
                                        </p:tgtEl>
                                      </p:cBhvr>
                                    </p:animEffect>
                                    <p:anim calcmode="lin" valueType="num">
                                      <p:cBhvr>
                                        <p:cTn id="158" dur="1000" fill="hold"/>
                                        <p:tgtEl>
                                          <p:spTgt spid="32"/>
                                        </p:tgtEl>
                                        <p:attrNameLst>
                                          <p:attrName>ppt_x</p:attrName>
                                        </p:attrNameLst>
                                      </p:cBhvr>
                                      <p:tavLst>
                                        <p:tav tm="0">
                                          <p:val>
                                            <p:strVal val="#ppt_x"/>
                                          </p:val>
                                        </p:tav>
                                        <p:tav tm="100000">
                                          <p:val>
                                            <p:strVal val="#ppt_x"/>
                                          </p:val>
                                        </p:tav>
                                      </p:tavLst>
                                    </p:anim>
                                    <p:anim calcmode="lin" valueType="num">
                                      <p:cBhvr>
                                        <p:cTn id="159" dur="1000" fill="hold"/>
                                        <p:tgtEl>
                                          <p:spTgt spid="32"/>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33"/>
                                        </p:tgtEl>
                                        <p:attrNameLst>
                                          <p:attrName>style.visibility</p:attrName>
                                        </p:attrNameLst>
                                      </p:cBhvr>
                                      <p:to>
                                        <p:strVal val="visible"/>
                                      </p:to>
                                    </p:set>
                                    <p:animEffect transition="in" filter="fade">
                                      <p:cBhvr>
                                        <p:cTn id="162" dur="1000"/>
                                        <p:tgtEl>
                                          <p:spTgt spid="33"/>
                                        </p:tgtEl>
                                      </p:cBhvr>
                                    </p:animEffect>
                                    <p:anim calcmode="lin" valueType="num">
                                      <p:cBhvr>
                                        <p:cTn id="163" dur="1000" fill="hold"/>
                                        <p:tgtEl>
                                          <p:spTgt spid="33"/>
                                        </p:tgtEl>
                                        <p:attrNameLst>
                                          <p:attrName>ppt_x</p:attrName>
                                        </p:attrNameLst>
                                      </p:cBhvr>
                                      <p:tavLst>
                                        <p:tav tm="0">
                                          <p:val>
                                            <p:strVal val="#ppt_x"/>
                                          </p:val>
                                        </p:tav>
                                        <p:tav tm="100000">
                                          <p:val>
                                            <p:strVal val="#ppt_x"/>
                                          </p:val>
                                        </p:tav>
                                      </p:tavLst>
                                    </p:anim>
                                    <p:anim calcmode="lin" valueType="num">
                                      <p:cBhvr>
                                        <p:cTn id="16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Contexte &amp; Objectif du projet</a:t>
            </a:r>
            <a:endParaRPr lang="en-US" sz="2200" dirty="0"/>
          </a:p>
        </p:txBody>
      </p:sp>
      <p:sp>
        <p:nvSpPr>
          <p:cNvPr id="5" name="Shape 3"/>
          <p:cNvSpPr/>
          <p:nvPr/>
        </p:nvSpPr>
        <p:spPr>
          <a:xfrm>
            <a:off x="548640" y="1280160"/>
            <a:ext cx="5394960" cy="4663440"/>
          </a:xfrm>
          <a:prstGeom prst="roundRect">
            <a:avLst>
              <a:gd name="adj" fmla="val 1569"/>
            </a:avLst>
          </a:prstGeom>
          <a:solidFill>
            <a:srgbClr val="F4F1EC"/>
          </a:solidFill>
          <a:ln w="12700">
            <a:solidFill>
              <a:srgbClr val="E5E7EB"/>
            </a:solidFill>
            <a:prstDash val="solid"/>
          </a:ln>
        </p:spPr>
        <p:txBody>
          <a:bodyPr/>
          <a:lstStyle/>
          <a:p>
            <a:endParaRPr lang="fr-FR"/>
          </a:p>
        </p:txBody>
      </p:sp>
      <p:sp>
        <p:nvSpPr>
          <p:cNvPr id="6" name="Text 4"/>
          <p:cNvSpPr/>
          <p:nvPr/>
        </p:nvSpPr>
        <p:spPr>
          <a:xfrm>
            <a:off x="868680" y="1508760"/>
            <a:ext cx="4754880" cy="411480"/>
          </a:xfrm>
          <a:prstGeom prst="rect">
            <a:avLst/>
          </a:prstGeom>
          <a:noFill/>
          <a:ln/>
        </p:spPr>
        <p:txBody>
          <a:bodyPr wrap="square" rtlCol="0" anchor="ctr"/>
          <a:lstStyle/>
          <a:p>
            <a:pPr marL="0" indent="0">
              <a:buNone/>
            </a:pPr>
            <a:r>
              <a:rPr lang="en-US" sz="1800" b="1" dirty="0">
                <a:solidFill>
                  <a:srgbClr val="0B5E63"/>
                </a:solidFill>
                <a:latin typeface="Cambria" pitchFamily="34" charset="0"/>
                <a:ea typeface="Cambria" pitchFamily="34" charset="-122"/>
                <a:cs typeface="Cambria" pitchFamily="34" charset="-120"/>
              </a:rPr>
              <a:t>Contexte</a:t>
            </a:r>
            <a:endParaRPr lang="en-US" sz="1800" dirty="0"/>
          </a:p>
        </p:txBody>
      </p:sp>
      <p:sp>
        <p:nvSpPr>
          <p:cNvPr id="7" name="Text 5"/>
          <p:cNvSpPr/>
          <p:nvPr/>
        </p:nvSpPr>
        <p:spPr>
          <a:xfrm>
            <a:off x="868680" y="2011680"/>
            <a:ext cx="4754880" cy="3566160"/>
          </a:xfrm>
          <a:prstGeom prst="rect">
            <a:avLst/>
          </a:prstGeom>
          <a:noFill/>
          <a:ln/>
        </p:spPr>
        <p:txBody>
          <a:bodyPr wrap="square" rtlCol="0" anchor="ctr"/>
          <a:lstStyle/>
          <a:p>
            <a:pPr marL="342900" indent="-342900">
              <a:lnSpc>
                <a:spcPts val="22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Le marché du freelance tech en Afrique connaît une croissance explosive.</a:t>
            </a:r>
            <a:endParaRPr lang="en-US" sz="1400" dirty="0"/>
          </a:p>
          <a:p>
            <a:pPr marL="342900" indent="-342900">
              <a:lnSpc>
                <a:spcPts val="2200"/>
              </a:lnSpc>
              <a:spcAft>
                <a:spcPts val="1000"/>
              </a:spcAft>
              <a:buSzPct val="100000"/>
              <a:buChar char="•"/>
            </a:pPr>
            <a:r>
              <a:rPr lang="en-US" sz="1400" dirty="0">
                <a:solidFill>
                  <a:srgbClr val="1F2937"/>
                </a:solidFill>
                <a:latin typeface="Calibri" pitchFamily="34" charset="0"/>
                <a:ea typeface="Calibri" pitchFamily="34" charset="-122"/>
                <a:cs typeface="Calibri" pitchFamily="34" charset="-120"/>
              </a:rPr>
              <a:t>De plus en plus de développeurs, designers et créateurs de contenu cherchent une plateforme fiable.</a:t>
            </a:r>
            <a:endParaRPr lang="en-US" sz="1400" dirty="0"/>
          </a:p>
          <a:p>
            <a:pPr marL="342900" indent="-342900">
              <a:lnSpc>
                <a:spcPts val="2200"/>
              </a:lnSpc>
              <a:buSzPct val="100000"/>
              <a:buChar char="•"/>
            </a:pPr>
            <a:r>
              <a:rPr lang="en-US" sz="1400" dirty="0">
                <a:solidFill>
                  <a:srgbClr val="1F2937"/>
                </a:solidFill>
                <a:latin typeface="Calibri" pitchFamily="34" charset="0"/>
                <a:ea typeface="Calibri" pitchFamily="34" charset="-122"/>
                <a:cs typeface="Calibri" pitchFamily="34" charset="-120"/>
              </a:rPr>
              <a:t>AfriTalent répond à ce besoin en connectant talents africains et entreprises du monde entier.</a:t>
            </a:r>
            <a:endParaRPr lang="en-US" sz="1400" dirty="0"/>
          </a:p>
        </p:txBody>
      </p:sp>
      <p:sp>
        <p:nvSpPr>
          <p:cNvPr id="8" name="Shape 6"/>
          <p:cNvSpPr/>
          <p:nvPr/>
        </p:nvSpPr>
        <p:spPr>
          <a:xfrm>
            <a:off x="6217920" y="1280160"/>
            <a:ext cx="5394960" cy="4663440"/>
          </a:xfrm>
          <a:prstGeom prst="roundRect">
            <a:avLst>
              <a:gd name="adj" fmla="val 1569"/>
            </a:avLst>
          </a:prstGeom>
          <a:solidFill>
            <a:srgbClr val="FFFFFF"/>
          </a:solidFill>
          <a:ln w="19050">
            <a:solidFill>
              <a:srgbClr val="0B5E63"/>
            </a:solidFill>
            <a:prstDash val="solid"/>
          </a:ln>
        </p:spPr>
        <p:txBody>
          <a:bodyPr/>
          <a:lstStyle/>
          <a:p>
            <a:endParaRPr lang="fr-FR"/>
          </a:p>
        </p:txBody>
      </p:sp>
      <p:sp>
        <p:nvSpPr>
          <p:cNvPr id="9" name="Text 7"/>
          <p:cNvSpPr/>
          <p:nvPr/>
        </p:nvSpPr>
        <p:spPr>
          <a:xfrm>
            <a:off x="6537960" y="1508760"/>
            <a:ext cx="4754880" cy="411480"/>
          </a:xfrm>
          <a:prstGeom prst="rect">
            <a:avLst/>
          </a:prstGeom>
          <a:noFill/>
          <a:ln/>
        </p:spPr>
        <p:txBody>
          <a:bodyPr wrap="square" rtlCol="0" anchor="ctr"/>
          <a:lstStyle/>
          <a:p>
            <a:pPr marL="0" indent="0">
              <a:buNone/>
            </a:pPr>
            <a:r>
              <a:rPr lang="en-US" sz="1800" b="1" dirty="0">
                <a:solidFill>
                  <a:srgbClr val="0B5E63"/>
                </a:solidFill>
                <a:latin typeface="Cambria" pitchFamily="34" charset="0"/>
                <a:ea typeface="Cambria" pitchFamily="34" charset="-122"/>
                <a:cs typeface="Cambria" pitchFamily="34" charset="-120"/>
              </a:rPr>
              <a:t>Objectif pédagogique</a:t>
            </a:r>
            <a:endParaRPr lang="en-US" sz="1800" dirty="0"/>
          </a:p>
        </p:txBody>
      </p:sp>
      <p:sp>
        <p:nvSpPr>
          <p:cNvPr id="10" name="Shape 8"/>
          <p:cNvSpPr/>
          <p:nvPr/>
        </p:nvSpPr>
        <p:spPr>
          <a:xfrm>
            <a:off x="6537960" y="2057400"/>
            <a:ext cx="201168" cy="201168"/>
          </a:xfrm>
          <a:prstGeom prst="ellipse">
            <a:avLst/>
          </a:prstGeom>
          <a:solidFill>
            <a:srgbClr val="E2703A"/>
          </a:solidFill>
          <a:ln/>
        </p:spPr>
        <p:txBody>
          <a:bodyPr/>
          <a:lstStyle/>
          <a:p>
            <a:endParaRPr lang="fr-FR"/>
          </a:p>
        </p:txBody>
      </p:sp>
      <p:sp>
        <p:nvSpPr>
          <p:cNvPr id="11" name="Text 9"/>
          <p:cNvSpPr/>
          <p:nvPr/>
        </p:nvSpPr>
        <p:spPr>
          <a:xfrm>
            <a:off x="6903720" y="1984248"/>
            <a:ext cx="4480560" cy="365760"/>
          </a:xfrm>
          <a:prstGeom prst="rect">
            <a:avLst/>
          </a:prstGeom>
          <a:noFill/>
          <a:ln/>
        </p:spPr>
        <p:txBody>
          <a:bodyPr wrap="square" rtlCol="0" anchor="ctr"/>
          <a:lstStyle/>
          <a:p>
            <a:pPr marL="0" indent="0">
              <a:buNone/>
            </a:pPr>
            <a:r>
              <a:rPr lang="en-US" sz="1350" dirty="0">
                <a:solidFill>
                  <a:srgbClr val="1F2937"/>
                </a:solidFill>
                <a:latin typeface="Calibri" pitchFamily="34" charset="0"/>
                <a:ea typeface="Calibri" pitchFamily="34" charset="-122"/>
                <a:cs typeface="Calibri" pitchFamily="34" charset="-120"/>
              </a:rPr>
              <a:t>HTML5 sémantique &amp; accessibilité</a:t>
            </a:r>
            <a:endParaRPr lang="en-US" sz="1350" dirty="0"/>
          </a:p>
        </p:txBody>
      </p:sp>
      <p:sp>
        <p:nvSpPr>
          <p:cNvPr id="12" name="Shape 10"/>
          <p:cNvSpPr/>
          <p:nvPr/>
        </p:nvSpPr>
        <p:spPr>
          <a:xfrm>
            <a:off x="6537960" y="2624328"/>
            <a:ext cx="201168" cy="201168"/>
          </a:xfrm>
          <a:prstGeom prst="ellipse">
            <a:avLst/>
          </a:prstGeom>
          <a:solidFill>
            <a:srgbClr val="E2703A"/>
          </a:solidFill>
          <a:ln/>
        </p:spPr>
        <p:txBody>
          <a:bodyPr/>
          <a:lstStyle/>
          <a:p>
            <a:endParaRPr lang="fr-FR"/>
          </a:p>
        </p:txBody>
      </p:sp>
      <p:sp>
        <p:nvSpPr>
          <p:cNvPr id="13" name="Text 11"/>
          <p:cNvSpPr/>
          <p:nvPr/>
        </p:nvSpPr>
        <p:spPr>
          <a:xfrm>
            <a:off x="6903720" y="2551176"/>
            <a:ext cx="4480560" cy="365760"/>
          </a:xfrm>
          <a:prstGeom prst="rect">
            <a:avLst/>
          </a:prstGeom>
          <a:noFill/>
          <a:ln/>
        </p:spPr>
        <p:txBody>
          <a:bodyPr wrap="square" rtlCol="0" anchor="ctr"/>
          <a:lstStyle/>
          <a:p>
            <a:pPr marL="0" indent="0">
              <a:buNone/>
            </a:pPr>
            <a:r>
              <a:rPr lang="en-US" sz="1350" dirty="0">
                <a:solidFill>
                  <a:srgbClr val="1F2937"/>
                </a:solidFill>
                <a:latin typeface="Calibri" pitchFamily="34" charset="0"/>
                <a:ea typeface="Calibri" pitchFamily="34" charset="-122"/>
                <a:cs typeface="Calibri" pitchFamily="34" charset="-120"/>
              </a:rPr>
              <a:t>CSS3 avancé (Grid, Flexbox, variables)</a:t>
            </a:r>
            <a:endParaRPr lang="en-US" sz="1350" dirty="0"/>
          </a:p>
        </p:txBody>
      </p:sp>
      <p:sp>
        <p:nvSpPr>
          <p:cNvPr id="14" name="Shape 12"/>
          <p:cNvSpPr/>
          <p:nvPr/>
        </p:nvSpPr>
        <p:spPr>
          <a:xfrm>
            <a:off x="6537960" y="3191256"/>
            <a:ext cx="201168" cy="201168"/>
          </a:xfrm>
          <a:prstGeom prst="ellipse">
            <a:avLst/>
          </a:prstGeom>
          <a:solidFill>
            <a:srgbClr val="E2703A"/>
          </a:solidFill>
          <a:ln/>
        </p:spPr>
        <p:txBody>
          <a:bodyPr/>
          <a:lstStyle/>
          <a:p>
            <a:endParaRPr lang="fr-FR"/>
          </a:p>
        </p:txBody>
      </p:sp>
      <p:sp>
        <p:nvSpPr>
          <p:cNvPr id="15" name="Text 13"/>
          <p:cNvSpPr/>
          <p:nvPr/>
        </p:nvSpPr>
        <p:spPr>
          <a:xfrm>
            <a:off x="6903720" y="3118104"/>
            <a:ext cx="4480560" cy="365760"/>
          </a:xfrm>
          <a:prstGeom prst="rect">
            <a:avLst/>
          </a:prstGeom>
          <a:noFill/>
          <a:ln/>
        </p:spPr>
        <p:txBody>
          <a:bodyPr wrap="square" rtlCol="0" anchor="ctr"/>
          <a:lstStyle/>
          <a:p>
            <a:pPr marL="0" indent="0">
              <a:buNone/>
            </a:pPr>
            <a:r>
              <a:rPr lang="en-US" sz="1350" dirty="0">
                <a:solidFill>
                  <a:srgbClr val="1F2937"/>
                </a:solidFill>
                <a:latin typeface="Calibri" pitchFamily="34" charset="0"/>
                <a:ea typeface="Calibri" pitchFamily="34" charset="-122"/>
                <a:cs typeface="Calibri" pitchFamily="34" charset="-120"/>
              </a:rPr>
              <a:t>Bootstrap 5 (composants &amp; grille)</a:t>
            </a:r>
            <a:endParaRPr lang="en-US" sz="1350" dirty="0"/>
          </a:p>
        </p:txBody>
      </p:sp>
      <p:sp>
        <p:nvSpPr>
          <p:cNvPr id="16" name="Shape 14"/>
          <p:cNvSpPr/>
          <p:nvPr/>
        </p:nvSpPr>
        <p:spPr>
          <a:xfrm>
            <a:off x="6537960" y="3758184"/>
            <a:ext cx="201168" cy="201168"/>
          </a:xfrm>
          <a:prstGeom prst="ellipse">
            <a:avLst/>
          </a:prstGeom>
          <a:solidFill>
            <a:srgbClr val="E2703A"/>
          </a:solidFill>
          <a:ln/>
        </p:spPr>
        <p:txBody>
          <a:bodyPr/>
          <a:lstStyle/>
          <a:p>
            <a:endParaRPr lang="fr-FR"/>
          </a:p>
        </p:txBody>
      </p:sp>
      <p:sp>
        <p:nvSpPr>
          <p:cNvPr id="17" name="Text 15"/>
          <p:cNvSpPr/>
          <p:nvPr/>
        </p:nvSpPr>
        <p:spPr>
          <a:xfrm>
            <a:off x="6903720" y="3685032"/>
            <a:ext cx="4480560" cy="365760"/>
          </a:xfrm>
          <a:prstGeom prst="rect">
            <a:avLst/>
          </a:prstGeom>
          <a:noFill/>
          <a:ln/>
        </p:spPr>
        <p:txBody>
          <a:bodyPr wrap="square" rtlCol="0" anchor="ctr"/>
          <a:lstStyle/>
          <a:p>
            <a:pPr marL="0" indent="0">
              <a:buNone/>
            </a:pPr>
            <a:r>
              <a:rPr lang="en-US" sz="1350" dirty="0">
                <a:solidFill>
                  <a:srgbClr val="1F2937"/>
                </a:solidFill>
                <a:latin typeface="Calibri" pitchFamily="34" charset="0"/>
                <a:ea typeface="Calibri" pitchFamily="34" charset="-122"/>
                <a:cs typeface="Calibri" pitchFamily="34" charset="-120"/>
              </a:rPr>
              <a:t>JavaScript vanilla (7 fonctionnalités)</a:t>
            </a:r>
            <a:endParaRPr lang="en-US" sz="1350" dirty="0"/>
          </a:p>
        </p:txBody>
      </p:sp>
      <p:sp>
        <p:nvSpPr>
          <p:cNvPr id="18" name="Shape 16"/>
          <p:cNvSpPr/>
          <p:nvPr/>
        </p:nvSpPr>
        <p:spPr>
          <a:xfrm>
            <a:off x="6537960" y="4325112"/>
            <a:ext cx="201168" cy="201168"/>
          </a:xfrm>
          <a:prstGeom prst="ellipse">
            <a:avLst/>
          </a:prstGeom>
          <a:solidFill>
            <a:srgbClr val="E2703A"/>
          </a:solidFill>
          <a:ln/>
        </p:spPr>
        <p:txBody>
          <a:bodyPr/>
          <a:lstStyle/>
          <a:p>
            <a:endParaRPr lang="fr-FR"/>
          </a:p>
        </p:txBody>
      </p:sp>
      <p:sp>
        <p:nvSpPr>
          <p:cNvPr id="19" name="Text 17"/>
          <p:cNvSpPr/>
          <p:nvPr/>
        </p:nvSpPr>
        <p:spPr>
          <a:xfrm>
            <a:off x="6903720" y="4251960"/>
            <a:ext cx="4480560" cy="365760"/>
          </a:xfrm>
          <a:prstGeom prst="rect">
            <a:avLst/>
          </a:prstGeom>
          <a:noFill/>
          <a:ln/>
        </p:spPr>
        <p:txBody>
          <a:bodyPr wrap="square" rtlCol="0" anchor="ctr"/>
          <a:lstStyle/>
          <a:p>
            <a:pPr marL="0" indent="0">
              <a:buNone/>
            </a:pPr>
            <a:r>
              <a:rPr lang="en-US" sz="1350" dirty="0">
                <a:solidFill>
                  <a:srgbClr val="1F2937"/>
                </a:solidFill>
                <a:latin typeface="Calibri" pitchFamily="34" charset="0"/>
                <a:ea typeface="Calibri" pitchFamily="34" charset="-122"/>
                <a:cs typeface="Calibri" pitchFamily="34" charset="-120"/>
              </a:rPr>
              <a:t>Git &amp; GitHub Pages</a:t>
            </a:r>
            <a:endParaRPr lang="en-US" sz="1350" dirty="0"/>
          </a:p>
        </p:txBody>
      </p:sp>
      <p:sp>
        <p:nvSpPr>
          <p:cNvPr id="20" name="Shape 18"/>
          <p:cNvSpPr/>
          <p:nvPr/>
        </p:nvSpPr>
        <p:spPr>
          <a:xfrm>
            <a:off x="6537960" y="4892040"/>
            <a:ext cx="201168" cy="201168"/>
          </a:xfrm>
          <a:prstGeom prst="ellipse">
            <a:avLst/>
          </a:prstGeom>
          <a:solidFill>
            <a:srgbClr val="E2703A"/>
          </a:solidFill>
          <a:ln/>
        </p:spPr>
        <p:txBody>
          <a:bodyPr/>
          <a:lstStyle/>
          <a:p>
            <a:endParaRPr lang="fr-FR"/>
          </a:p>
        </p:txBody>
      </p:sp>
      <p:sp>
        <p:nvSpPr>
          <p:cNvPr id="21" name="Text 19"/>
          <p:cNvSpPr/>
          <p:nvPr/>
        </p:nvSpPr>
        <p:spPr>
          <a:xfrm>
            <a:off x="6903720" y="4818888"/>
            <a:ext cx="4480560" cy="365760"/>
          </a:xfrm>
          <a:prstGeom prst="rect">
            <a:avLst/>
          </a:prstGeom>
          <a:noFill/>
          <a:ln/>
        </p:spPr>
        <p:txBody>
          <a:bodyPr wrap="square" rtlCol="0" anchor="ctr"/>
          <a:lstStyle/>
          <a:p>
            <a:pPr marL="0" indent="0">
              <a:buNone/>
            </a:pPr>
            <a:r>
              <a:rPr lang="en-US" sz="1350" dirty="0">
                <a:solidFill>
                  <a:srgbClr val="1F2937"/>
                </a:solidFill>
                <a:latin typeface="Calibri" pitchFamily="34" charset="0"/>
                <a:ea typeface="Calibri" pitchFamily="34" charset="-122"/>
                <a:cs typeface="Calibri" pitchFamily="34" charset="-120"/>
              </a:rPr>
              <a:t>README &amp; présentation PowerPoint</a:t>
            </a:r>
            <a:endParaRPr lang="en-US" sz="1350" dirty="0"/>
          </a:p>
        </p:txBody>
      </p:sp>
      <p:sp>
        <p:nvSpPr>
          <p:cNvPr id="22" name="Text 20"/>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23" name="Text 21"/>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80">
                                          <p:stCondLst>
                                            <p:cond delay="0"/>
                                          </p:stCondLst>
                                        </p:cTn>
                                        <p:tgtEl>
                                          <p:spTgt spid="3"/>
                                        </p:tgtEl>
                                      </p:cBhvr>
                                    </p:animEffect>
                                    <p:anim calcmode="lin" valueType="num">
                                      <p:cBhvr>
                                        <p:cTn id="2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gtEl>
                                      </p:cBhvr>
                                      <p:to x="100000" y="60000"/>
                                    </p:animScale>
                                    <p:animScale>
                                      <p:cBhvr>
                                        <p:cTn id="30" dur="166" decel="50000">
                                          <p:stCondLst>
                                            <p:cond delay="676"/>
                                          </p:stCondLst>
                                        </p:cTn>
                                        <p:tgtEl>
                                          <p:spTgt spid="3"/>
                                        </p:tgtEl>
                                      </p:cBhvr>
                                      <p:to x="100000" y="100000"/>
                                    </p:animScale>
                                    <p:animScale>
                                      <p:cBhvr>
                                        <p:cTn id="31" dur="26">
                                          <p:stCondLst>
                                            <p:cond delay="1312"/>
                                          </p:stCondLst>
                                        </p:cTn>
                                        <p:tgtEl>
                                          <p:spTgt spid="3"/>
                                        </p:tgtEl>
                                      </p:cBhvr>
                                      <p:to x="100000" y="80000"/>
                                    </p:animScale>
                                    <p:animScale>
                                      <p:cBhvr>
                                        <p:cTn id="32" dur="166" decel="50000">
                                          <p:stCondLst>
                                            <p:cond delay="1338"/>
                                          </p:stCondLst>
                                        </p:cTn>
                                        <p:tgtEl>
                                          <p:spTgt spid="3"/>
                                        </p:tgtEl>
                                      </p:cBhvr>
                                      <p:to x="100000" y="100000"/>
                                    </p:animScale>
                                    <p:animScale>
                                      <p:cBhvr>
                                        <p:cTn id="33" dur="26">
                                          <p:stCondLst>
                                            <p:cond delay="1642"/>
                                          </p:stCondLst>
                                        </p:cTn>
                                        <p:tgtEl>
                                          <p:spTgt spid="3"/>
                                        </p:tgtEl>
                                      </p:cBhvr>
                                      <p:to x="100000" y="90000"/>
                                    </p:animScale>
                                    <p:animScale>
                                      <p:cBhvr>
                                        <p:cTn id="34" dur="166" decel="50000">
                                          <p:stCondLst>
                                            <p:cond delay="1668"/>
                                          </p:stCondLst>
                                        </p:cTn>
                                        <p:tgtEl>
                                          <p:spTgt spid="3"/>
                                        </p:tgtEl>
                                      </p:cBhvr>
                                      <p:to x="100000" y="100000"/>
                                    </p:animScale>
                                    <p:animScale>
                                      <p:cBhvr>
                                        <p:cTn id="35" dur="26">
                                          <p:stCondLst>
                                            <p:cond delay="1808"/>
                                          </p:stCondLst>
                                        </p:cTn>
                                        <p:tgtEl>
                                          <p:spTgt spid="3"/>
                                        </p:tgtEl>
                                      </p:cBhvr>
                                      <p:to x="100000" y="95000"/>
                                    </p:animScale>
                                    <p:animScale>
                                      <p:cBhvr>
                                        <p:cTn id="36" dur="166" decel="50000">
                                          <p:stCondLst>
                                            <p:cond delay="1834"/>
                                          </p:stCondLst>
                                        </p:cTn>
                                        <p:tgtEl>
                                          <p:spTgt spid="3"/>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80">
                                          <p:stCondLst>
                                            <p:cond delay="0"/>
                                          </p:stCondLst>
                                        </p:cTn>
                                        <p:tgtEl>
                                          <p:spTgt spid="4"/>
                                        </p:tgtEl>
                                      </p:cBhvr>
                                    </p:animEffect>
                                    <p:anim calcmode="lin" valueType="num">
                                      <p:cBhvr>
                                        <p:cTn id="4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5" dur="26">
                                          <p:stCondLst>
                                            <p:cond delay="650"/>
                                          </p:stCondLst>
                                        </p:cTn>
                                        <p:tgtEl>
                                          <p:spTgt spid="4"/>
                                        </p:tgtEl>
                                      </p:cBhvr>
                                      <p:to x="100000" y="60000"/>
                                    </p:animScale>
                                    <p:animScale>
                                      <p:cBhvr>
                                        <p:cTn id="46" dur="166" decel="50000">
                                          <p:stCondLst>
                                            <p:cond delay="676"/>
                                          </p:stCondLst>
                                        </p:cTn>
                                        <p:tgtEl>
                                          <p:spTgt spid="4"/>
                                        </p:tgtEl>
                                      </p:cBhvr>
                                      <p:to x="100000" y="100000"/>
                                    </p:animScale>
                                    <p:animScale>
                                      <p:cBhvr>
                                        <p:cTn id="47" dur="26">
                                          <p:stCondLst>
                                            <p:cond delay="1312"/>
                                          </p:stCondLst>
                                        </p:cTn>
                                        <p:tgtEl>
                                          <p:spTgt spid="4"/>
                                        </p:tgtEl>
                                      </p:cBhvr>
                                      <p:to x="100000" y="80000"/>
                                    </p:animScale>
                                    <p:animScale>
                                      <p:cBhvr>
                                        <p:cTn id="48" dur="166" decel="50000">
                                          <p:stCondLst>
                                            <p:cond delay="1338"/>
                                          </p:stCondLst>
                                        </p:cTn>
                                        <p:tgtEl>
                                          <p:spTgt spid="4"/>
                                        </p:tgtEl>
                                      </p:cBhvr>
                                      <p:to x="100000" y="100000"/>
                                    </p:animScale>
                                    <p:animScale>
                                      <p:cBhvr>
                                        <p:cTn id="49" dur="26">
                                          <p:stCondLst>
                                            <p:cond delay="1642"/>
                                          </p:stCondLst>
                                        </p:cTn>
                                        <p:tgtEl>
                                          <p:spTgt spid="4"/>
                                        </p:tgtEl>
                                      </p:cBhvr>
                                      <p:to x="100000" y="90000"/>
                                    </p:animScale>
                                    <p:animScale>
                                      <p:cBhvr>
                                        <p:cTn id="50" dur="166" decel="50000">
                                          <p:stCondLst>
                                            <p:cond delay="1668"/>
                                          </p:stCondLst>
                                        </p:cTn>
                                        <p:tgtEl>
                                          <p:spTgt spid="4"/>
                                        </p:tgtEl>
                                      </p:cBhvr>
                                      <p:to x="100000" y="100000"/>
                                    </p:animScale>
                                    <p:animScale>
                                      <p:cBhvr>
                                        <p:cTn id="51" dur="26">
                                          <p:stCondLst>
                                            <p:cond delay="1808"/>
                                          </p:stCondLst>
                                        </p:cTn>
                                        <p:tgtEl>
                                          <p:spTgt spid="4"/>
                                        </p:tgtEl>
                                      </p:cBhvr>
                                      <p:to x="100000" y="95000"/>
                                    </p:animScale>
                                    <p:animScale>
                                      <p:cBhvr>
                                        <p:cTn id="52" dur="166" decel="50000">
                                          <p:stCondLst>
                                            <p:cond delay="1834"/>
                                          </p:stCondLst>
                                        </p:cTn>
                                        <p:tgtEl>
                                          <p:spTgt spid="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80">
                                          <p:stCondLst>
                                            <p:cond delay="0"/>
                                          </p:stCondLst>
                                        </p:cTn>
                                        <p:tgtEl>
                                          <p:spTgt spid="5"/>
                                        </p:tgtEl>
                                      </p:cBhvr>
                                    </p:animEffect>
                                    <p:anim calcmode="lin" valueType="num">
                                      <p:cBhvr>
                                        <p:cTn id="5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1" dur="26">
                                          <p:stCondLst>
                                            <p:cond delay="650"/>
                                          </p:stCondLst>
                                        </p:cTn>
                                        <p:tgtEl>
                                          <p:spTgt spid="5"/>
                                        </p:tgtEl>
                                      </p:cBhvr>
                                      <p:to x="100000" y="60000"/>
                                    </p:animScale>
                                    <p:animScale>
                                      <p:cBhvr>
                                        <p:cTn id="62" dur="166" decel="50000">
                                          <p:stCondLst>
                                            <p:cond delay="676"/>
                                          </p:stCondLst>
                                        </p:cTn>
                                        <p:tgtEl>
                                          <p:spTgt spid="5"/>
                                        </p:tgtEl>
                                      </p:cBhvr>
                                      <p:to x="100000" y="100000"/>
                                    </p:animScale>
                                    <p:animScale>
                                      <p:cBhvr>
                                        <p:cTn id="63" dur="26">
                                          <p:stCondLst>
                                            <p:cond delay="1312"/>
                                          </p:stCondLst>
                                        </p:cTn>
                                        <p:tgtEl>
                                          <p:spTgt spid="5"/>
                                        </p:tgtEl>
                                      </p:cBhvr>
                                      <p:to x="100000" y="80000"/>
                                    </p:animScale>
                                    <p:animScale>
                                      <p:cBhvr>
                                        <p:cTn id="64" dur="166" decel="50000">
                                          <p:stCondLst>
                                            <p:cond delay="1338"/>
                                          </p:stCondLst>
                                        </p:cTn>
                                        <p:tgtEl>
                                          <p:spTgt spid="5"/>
                                        </p:tgtEl>
                                      </p:cBhvr>
                                      <p:to x="100000" y="100000"/>
                                    </p:animScale>
                                    <p:animScale>
                                      <p:cBhvr>
                                        <p:cTn id="65" dur="26">
                                          <p:stCondLst>
                                            <p:cond delay="1642"/>
                                          </p:stCondLst>
                                        </p:cTn>
                                        <p:tgtEl>
                                          <p:spTgt spid="5"/>
                                        </p:tgtEl>
                                      </p:cBhvr>
                                      <p:to x="100000" y="90000"/>
                                    </p:animScale>
                                    <p:animScale>
                                      <p:cBhvr>
                                        <p:cTn id="66" dur="166" decel="50000">
                                          <p:stCondLst>
                                            <p:cond delay="1668"/>
                                          </p:stCondLst>
                                        </p:cTn>
                                        <p:tgtEl>
                                          <p:spTgt spid="5"/>
                                        </p:tgtEl>
                                      </p:cBhvr>
                                      <p:to x="100000" y="100000"/>
                                    </p:animScale>
                                    <p:animScale>
                                      <p:cBhvr>
                                        <p:cTn id="67" dur="26">
                                          <p:stCondLst>
                                            <p:cond delay="1808"/>
                                          </p:stCondLst>
                                        </p:cTn>
                                        <p:tgtEl>
                                          <p:spTgt spid="5"/>
                                        </p:tgtEl>
                                      </p:cBhvr>
                                      <p:to x="100000" y="95000"/>
                                    </p:animScale>
                                    <p:animScale>
                                      <p:cBhvr>
                                        <p:cTn id="68" dur="166" decel="50000">
                                          <p:stCondLst>
                                            <p:cond delay="1834"/>
                                          </p:stCondLst>
                                        </p:cTn>
                                        <p:tgtEl>
                                          <p:spTgt spid="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wipe(down)">
                                      <p:cBhvr>
                                        <p:cTn id="71" dur="580">
                                          <p:stCondLst>
                                            <p:cond delay="0"/>
                                          </p:stCondLst>
                                        </p:cTn>
                                        <p:tgtEl>
                                          <p:spTgt spid="6"/>
                                        </p:tgtEl>
                                      </p:cBhvr>
                                    </p:animEffect>
                                    <p:anim calcmode="lin" valueType="num">
                                      <p:cBhvr>
                                        <p:cTn id="7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77" dur="26">
                                          <p:stCondLst>
                                            <p:cond delay="650"/>
                                          </p:stCondLst>
                                        </p:cTn>
                                        <p:tgtEl>
                                          <p:spTgt spid="6"/>
                                        </p:tgtEl>
                                      </p:cBhvr>
                                      <p:to x="100000" y="60000"/>
                                    </p:animScale>
                                    <p:animScale>
                                      <p:cBhvr>
                                        <p:cTn id="78" dur="166" decel="50000">
                                          <p:stCondLst>
                                            <p:cond delay="676"/>
                                          </p:stCondLst>
                                        </p:cTn>
                                        <p:tgtEl>
                                          <p:spTgt spid="6"/>
                                        </p:tgtEl>
                                      </p:cBhvr>
                                      <p:to x="100000" y="100000"/>
                                    </p:animScale>
                                    <p:animScale>
                                      <p:cBhvr>
                                        <p:cTn id="79" dur="26">
                                          <p:stCondLst>
                                            <p:cond delay="1312"/>
                                          </p:stCondLst>
                                        </p:cTn>
                                        <p:tgtEl>
                                          <p:spTgt spid="6"/>
                                        </p:tgtEl>
                                      </p:cBhvr>
                                      <p:to x="100000" y="80000"/>
                                    </p:animScale>
                                    <p:animScale>
                                      <p:cBhvr>
                                        <p:cTn id="80" dur="166" decel="50000">
                                          <p:stCondLst>
                                            <p:cond delay="1338"/>
                                          </p:stCondLst>
                                        </p:cTn>
                                        <p:tgtEl>
                                          <p:spTgt spid="6"/>
                                        </p:tgtEl>
                                      </p:cBhvr>
                                      <p:to x="100000" y="100000"/>
                                    </p:animScale>
                                    <p:animScale>
                                      <p:cBhvr>
                                        <p:cTn id="81" dur="26">
                                          <p:stCondLst>
                                            <p:cond delay="1642"/>
                                          </p:stCondLst>
                                        </p:cTn>
                                        <p:tgtEl>
                                          <p:spTgt spid="6"/>
                                        </p:tgtEl>
                                      </p:cBhvr>
                                      <p:to x="100000" y="90000"/>
                                    </p:animScale>
                                    <p:animScale>
                                      <p:cBhvr>
                                        <p:cTn id="82" dur="166" decel="50000">
                                          <p:stCondLst>
                                            <p:cond delay="1668"/>
                                          </p:stCondLst>
                                        </p:cTn>
                                        <p:tgtEl>
                                          <p:spTgt spid="6"/>
                                        </p:tgtEl>
                                      </p:cBhvr>
                                      <p:to x="100000" y="100000"/>
                                    </p:animScale>
                                    <p:animScale>
                                      <p:cBhvr>
                                        <p:cTn id="83" dur="26">
                                          <p:stCondLst>
                                            <p:cond delay="1808"/>
                                          </p:stCondLst>
                                        </p:cTn>
                                        <p:tgtEl>
                                          <p:spTgt spid="6"/>
                                        </p:tgtEl>
                                      </p:cBhvr>
                                      <p:to x="100000" y="95000"/>
                                    </p:animScale>
                                    <p:animScale>
                                      <p:cBhvr>
                                        <p:cTn id="84" dur="166" decel="50000">
                                          <p:stCondLst>
                                            <p:cond delay="1834"/>
                                          </p:stCondLst>
                                        </p:cTn>
                                        <p:tgtEl>
                                          <p:spTgt spid="6"/>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down)">
                                      <p:cBhvr>
                                        <p:cTn id="87" dur="580">
                                          <p:stCondLst>
                                            <p:cond delay="0"/>
                                          </p:stCondLst>
                                        </p:cTn>
                                        <p:tgtEl>
                                          <p:spTgt spid="7"/>
                                        </p:tgtEl>
                                      </p:cBhvr>
                                    </p:animEffect>
                                    <p:anim calcmode="lin" valueType="num">
                                      <p:cBhvr>
                                        <p:cTn id="8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93" dur="26">
                                          <p:stCondLst>
                                            <p:cond delay="650"/>
                                          </p:stCondLst>
                                        </p:cTn>
                                        <p:tgtEl>
                                          <p:spTgt spid="7"/>
                                        </p:tgtEl>
                                      </p:cBhvr>
                                      <p:to x="100000" y="60000"/>
                                    </p:animScale>
                                    <p:animScale>
                                      <p:cBhvr>
                                        <p:cTn id="94" dur="166" decel="50000">
                                          <p:stCondLst>
                                            <p:cond delay="676"/>
                                          </p:stCondLst>
                                        </p:cTn>
                                        <p:tgtEl>
                                          <p:spTgt spid="7"/>
                                        </p:tgtEl>
                                      </p:cBhvr>
                                      <p:to x="100000" y="100000"/>
                                    </p:animScale>
                                    <p:animScale>
                                      <p:cBhvr>
                                        <p:cTn id="95" dur="26">
                                          <p:stCondLst>
                                            <p:cond delay="1312"/>
                                          </p:stCondLst>
                                        </p:cTn>
                                        <p:tgtEl>
                                          <p:spTgt spid="7"/>
                                        </p:tgtEl>
                                      </p:cBhvr>
                                      <p:to x="100000" y="80000"/>
                                    </p:animScale>
                                    <p:animScale>
                                      <p:cBhvr>
                                        <p:cTn id="96" dur="166" decel="50000">
                                          <p:stCondLst>
                                            <p:cond delay="1338"/>
                                          </p:stCondLst>
                                        </p:cTn>
                                        <p:tgtEl>
                                          <p:spTgt spid="7"/>
                                        </p:tgtEl>
                                      </p:cBhvr>
                                      <p:to x="100000" y="100000"/>
                                    </p:animScale>
                                    <p:animScale>
                                      <p:cBhvr>
                                        <p:cTn id="97" dur="26">
                                          <p:stCondLst>
                                            <p:cond delay="1642"/>
                                          </p:stCondLst>
                                        </p:cTn>
                                        <p:tgtEl>
                                          <p:spTgt spid="7"/>
                                        </p:tgtEl>
                                      </p:cBhvr>
                                      <p:to x="100000" y="90000"/>
                                    </p:animScale>
                                    <p:animScale>
                                      <p:cBhvr>
                                        <p:cTn id="98" dur="166" decel="50000">
                                          <p:stCondLst>
                                            <p:cond delay="1668"/>
                                          </p:stCondLst>
                                        </p:cTn>
                                        <p:tgtEl>
                                          <p:spTgt spid="7"/>
                                        </p:tgtEl>
                                      </p:cBhvr>
                                      <p:to x="100000" y="100000"/>
                                    </p:animScale>
                                    <p:animScale>
                                      <p:cBhvr>
                                        <p:cTn id="99" dur="26">
                                          <p:stCondLst>
                                            <p:cond delay="1808"/>
                                          </p:stCondLst>
                                        </p:cTn>
                                        <p:tgtEl>
                                          <p:spTgt spid="7"/>
                                        </p:tgtEl>
                                      </p:cBhvr>
                                      <p:to x="100000" y="95000"/>
                                    </p:animScale>
                                    <p:animScale>
                                      <p:cBhvr>
                                        <p:cTn id="100" dur="166" decel="50000">
                                          <p:stCondLst>
                                            <p:cond delay="1834"/>
                                          </p:stCondLst>
                                        </p:cTn>
                                        <p:tgtEl>
                                          <p:spTgt spid="7"/>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8"/>
                                        </p:tgtEl>
                                        <p:attrNameLst>
                                          <p:attrName>style.visibility</p:attrName>
                                        </p:attrNameLst>
                                      </p:cBhvr>
                                      <p:to>
                                        <p:strVal val="visible"/>
                                      </p:to>
                                    </p:set>
                                    <p:animEffect transition="in" filter="wipe(down)">
                                      <p:cBhvr>
                                        <p:cTn id="103" dur="580">
                                          <p:stCondLst>
                                            <p:cond delay="0"/>
                                          </p:stCondLst>
                                        </p:cTn>
                                        <p:tgtEl>
                                          <p:spTgt spid="8"/>
                                        </p:tgtEl>
                                      </p:cBhvr>
                                    </p:animEffect>
                                    <p:anim calcmode="lin" valueType="num">
                                      <p:cBhvr>
                                        <p:cTn id="10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09" dur="26">
                                          <p:stCondLst>
                                            <p:cond delay="650"/>
                                          </p:stCondLst>
                                        </p:cTn>
                                        <p:tgtEl>
                                          <p:spTgt spid="8"/>
                                        </p:tgtEl>
                                      </p:cBhvr>
                                      <p:to x="100000" y="60000"/>
                                    </p:animScale>
                                    <p:animScale>
                                      <p:cBhvr>
                                        <p:cTn id="110" dur="166" decel="50000">
                                          <p:stCondLst>
                                            <p:cond delay="676"/>
                                          </p:stCondLst>
                                        </p:cTn>
                                        <p:tgtEl>
                                          <p:spTgt spid="8"/>
                                        </p:tgtEl>
                                      </p:cBhvr>
                                      <p:to x="100000" y="100000"/>
                                    </p:animScale>
                                    <p:animScale>
                                      <p:cBhvr>
                                        <p:cTn id="111" dur="26">
                                          <p:stCondLst>
                                            <p:cond delay="1312"/>
                                          </p:stCondLst>
                                        </p:cTn>
                                        <p:tgtEl>
                                          <p:spTgt spid="8"/>
                                        </p:tgtEl>
                                      </p:cBhvr>
                                      <p:to x="100000" y="80000"/>
                                    </p:animScale>
                                    <p:animScale>
                                      <p:cBhvr>
                                        <p:cTn id="112" dur="166" decel="50000">
                                          <p:stCondLst>
                                            <p:cond delay="1338"/>
                                          </p:stCondLst>
                                        </p:cTn>
                                        <p:tgtEl>
                                          <p:spTgt spid="8"/>
                                        </p:tgtEl>
                                      </p:cBhvr>
                                      <p:to x="100000" y="100000"/>
                                    </p:animScale>
                                    <p:animScale>
                                      <p:cBhvr>
                                        <p:cTn id="113" dur="26">
                                          <p:stCondLst>
                                            <p:cond delay="1642"/>
                                          </p:stCondLst>
                                        </p:cTn>
                                        <p:tgtEl>
                                          <p:spTgt spid="8"/>
                                        </p:tgtEl>
                                      </p:cBhvr>
                                      <p:to x="100000" y="90000"/>
                                    </p:animScale>
                                    <p:animScale>
                                      <p:cBhvr>
                                        <p:cTn id="114" dur="166" decel="50000">
                                          <p:stCondLst>
                                            <p:cond delay="1668"/>
                                          </p:stCondLst>
                                        </p:cTn>
                                        <p:tgtEl>
                                          <p:spTgt spid="8"/>
                                        </p:tgtEl>
                                      </p:cBhvr>
                                      <p:to x="100000" y="100000"/>
                                    </p:animScale>
                                    <p:animScale>
                                      <p:cBhvr>
                                        <p:cTn id="115" dur="26">
                                          <p:stCondLst>
                                            <p:cond delay="1808"/>
                                          </p:stCondLst>
                                        </p:cTn>
                                        <p:tgtEl>
                                          <p:spTgt spid="8"/>
                                        </p:tgtEl>
                                      </p:cBhvr>
                                      <p:to x="100000" y="95000"/>
                                    </p:animScale>
                                    <p:animScale>
                                      <p:cBhvr>
                                        <p:cTn id="116" dur="166" decel="50000">
                                          <p:stCondLst>
                                            <p:cond delay="1834"/>
                                          </p:stCondLst>
                                        </p:cTn>
                                        <p:tgtEl>
                                          <p:spTgt spid="8"/>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9"/>
                                        </p:tgtEl>
                                        <p:attrNameLst>
                                          <p:attrName>style.visibility</p:attrName>
                                        </p:attrNameLst>
                                      </p:cBhvr>
                                      <p:to>
                                        <p:strVal val="visible"/>
                                      </p:to>
                                    </p:set>
                                    <p:animEffect transition="in" filter="wipe(down)">
                                      <p:cBhvr>
                                        <p:cTn id="119" dur="580">
                                          <p:stCondLst>
                                            <p:cond delay="0"/>
                                          </p:stCondLst>
                                        </p:cTn>
                                        <p:tgtEl>
                                          <p:spTgt spid="9"/>
                                        </p:tgtEl>
                                      </p:cBhvr>
                                    </p:animEffect>
                                    <p:anim calcmode="lin" valueType="num">
                                      <p:cBhvr>
                                        <p:cTn id="1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25" dur="26">
                                          <p:stCondLst>
                                            <p:cond delay="650"/>
                                          </p:stCondLst>
                                        </p:cTn>
                                        <p:tgtEl>
                                          <p:spTgt spid="9"/>
                                        </p:tgtEl>
                                      </p:cBhvr>
                                      <p:to x="100000" y="60000"/>
                                    </p:animScale>
                                    <p:animScale>
                                      <p:cBhvr>
                                        <p:cTn id="126" dur="166" decel="50000">
                                          <p:stCondLst>
                                            <p:cond delay="676"/>
                                          </p:stCondLst>
                                        </p:cTn>
                                        <p:tgtEl>
                                          <p:spTgt spid="9"/>
                                        </p:tgtEl>
                                      </p:cBhvr>
                                      <p:to x="100000" y="100000"/>
                                    </p:animScale>
                                    <p:animScale>
                                      <p:cBhvr>
                                        <p:cTn id="127" dur="26">
                                          <p:stCondLst>
                                            <p:cond delay="1312"/>
                                          </p:stCondLst>
                                        </p:cTn>
                                        <p:tgtEl>
                                          <p:spTgt spid="9"/>
                                        </p:tgtEl>
                                      </p:cBhvr>
                                      <p:to x="100000" y="80000"/>
                                    </p:animScale>
                                    <p:animScale>
                                      <p:cBhvr>
                                        <p:cTn id="128" dur="166" decel="50000">
                                          <p:stCondLst>
                                            <p:cond delay="1338"/>
                                          </p:stCondLst>
                                        </p:cTn>
                                        <p:tgtEl>
                                          <p:spTgt spid="9"/>
                                        </p:tgtEl>
                                      </p:cBhvr>
                                      <p:to x="100000" y="100000"/>
                                    </p:animScale>
                                    <p:animScale>
                                      <p:cBhvr>
                                        <p:cTn id="129" dur="26">
                                          <p:stCondLst>
                                            <p:cond delay="1642"/>
                                          </p:stCondLst>
                                        </p:cTn>
                                        <p:tgtEl>
                                          <p:spTgt spid="9"/>
                                        </p:tgtEl>
                                      </p:cBhvr>
                                      <p:to x="100000" y="90000"/>
                                    </p:animScale>
                                    <p:animScale>
                                      <p:cBhvr>
                                        <p:cTn id="130" dur="166" decel="50000">
                                          <p:stCondLst>
                                            <p:cond delay="1668"/>
                                          </p:stCondLst>
                                        </p:cTn>
                                        <p:tgtEl>
                                          <p:spTgt spid="9"/>
                                        </p:tgtEl>
                                      </p:cBhvr>
                                      <p:to x="100000" y="100000"/>
                                    </p:animScale>
                                    <p:animScale>
                                      <p:cBhvr>
                                        <p:cTn id="131" dur="26">
                                          <p:stCondLst>
                                            <p:cond delay="1808"/>
                                          </p:stCondLst>
                                        </p:cTn>
                                        <p:tgtEl>
                                          <p:spTgt spid="9"/>
                                        </p:tgtEl>
                                      </p:cBhvr>
                                      <p:to x="100000" y="95000"/>
                                    </p:animScale>
                                    <p:animScale>
                                      <p:cBhvr>
                                        <p:cTn id="132" dur="166" decel="50000">
                                          <p:stCondLst>
                                            <p:cond delay="1834"/>
                                          </p:stCondLst>
                                        </p:cTn>
                                        <p:tgtEl>
                                          <p:spTgt spid="9"/>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10"/>
                                        </p:tgtEl>
                                        <p:attrNameLst>
                                          <p:attrName>style.visibility</p:attrName>
                                        </p:attrNameLst>
                                      </p:cBhvr>
                                      <p:to>
                                        <p:strVal val="visible"/>
                                      </p:to>
                                    </p:set>
                                    <p:animEffect transition="in" filter="wipe(down)">
                                      <p:cBhvr>
                                        <p:cTn id="135" dur="580">
                                          <p:stCondLst>
                                            <p:cond delay="0"/>
                                          </p:stCondLst>
                                        </p:cTn>
                                        <p:tgtEl>
                                          <p:spTgt spid="10"/>
                                        </p:tgtEl>
                                      </p:cBhvr>
                                    </p:animEffect>
                                    <p:anim calcmode="lin" valueType="num">
                                      <p:cBhvr>
                                        <p:cTn id="13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41" dur="26">
                                          <p:stCondLst>
                                            <p:cond delay="650"/>
                                          </p:stCondLst>
                                        </p:cTn>
                                        <p:tgtEl>
                                          <p:spTgt spid="10"/>
                                        </p:tgtEl>
                                      </p:cBhvr>
                                      <p:to x="100000" y="60000"/>
                                    </p:animScale>
                                    <p:animScale>
                                      <p:cBhvr>
                                        <p:cTn id="142" dur="166" decel="50000">
                                          <p:stCondLst>
                                            <p:cond delay="676"/>
                                          </p:stCondLst>
                                        </p:cTn>
                                        <p:tgtEl>
                                          <p:spTgt spid="10"/>
                                        </p:tgtEl>
                                      </p:cBhvr>
                                      <p:to x="100000" y="100000"/>
                                    </p:animScale>
                                    <p:animScale>
                                      <p:cBhvr>
                                        <p:cTn id="143" dur="26">
                                          <p:stCondLst>
                                            <p:cond delay="1312"/>
                                          </p:stCondLst>
                                        </p:cTn>
                                        <p:tgtEl>
                                          <p:spTgt spid="10"/>
                                        </p:tgtEl>
                                      </p:cBhvr>
                                      <p:to x="100000" y="80000"/>
                                    </p:animScale>
                                    <p:animScale>
                                      <p:cBhvr>
                                        <p:cTn id="144" dur="166" decel="50000">
                                          <p:stCondLst>
                                            <p:cond delay="1338"/>
                                          </p:stCondLst>
                                        </p:cTn>
                                        <p:tgtEl>
                                          <p:spTgt spid="10"/>
                                        </p:tgtEl>
                                      </p:cBhvr>
                                      <p:to x="100000" y="100000"/>
                                    </p:animScale>
                                    <p:animScale>
                                      <p:cBhvr>
                                        <p:cTn id="145" dur="26">
                                          <p:stCondLst>
                                            <p:cond delay="1642"/>
                                          </p:stCondLst>
                                        </p:cTn>
                                        <p:tgtEl>
                                          <p:spTgt spid="10"/>
                                        </p:tgtEl>
                                      </p:cBhvr>
                                      <p:to x="100000" y="90000"/>
                                    </p:animScale>
                                    <p:animScale>
                                      <p:cBhvr>
                                        <p:cTn id="146" dur="166" decel="50000">
                                          <p:stCondLst>
                                            <p:cond delay="1668"/>
                                          </p:stCondLst>
                                        </p:cTn>
                                        <p:tgtEl>
                                          <p:spTgt spid="10"/>
                                        </p:tgtEl>
                                      </p:cBhvr>
                                      <p:to x="100000" y="100000"/>
                                    </p:animScale>
                                    <p:animScale>
                                      <p:cBhvr>
                                        <p:cTn id="147" dur="26">
                                          <p:stCondLst>
                                            <p:cond delay="1808"/>
                                          </p:stCondLst>
                                        </p:cTn>
                                        <p:tgtEl>
                                          <p:spTgt spid="10"/>
                                        </p:tgtEl>
                                      </p:cBhvr>
                                      <p:to x="100000" y="95000"/>
                                    </p:animScale>
                                    <p:animScale>
                                      <p:cBhvr>
                                        <p:cTn id="148" dur="166" decel="50000">
                                          <p:stCondLst>
                                            <p:cond delay="1834"/>
                                          </p:stCondLst>
                                        </p:cTn>
                                        <p:tgtEl>
                                          <p:spTgt spid="10"/>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11"/>
                                        </p:tgtEl>
                                        <p:attrNameLst>
                                          <p:attrName>style.visibility</p:attrName>
                                        </p:attrNameLst>
                                      </p:cBhvr>
                                      <p:to>
                                        <p:strVal val="visible"/>
                                      </p:to>
                                    </p:set>
                                    <p:animEffect transition="in" filter="wipe(down)">
                                      <p:cBhvr>
                                        <p:cTn id="151" dur="580">
                                          <p:stCondLst>
                                            <p:cond delay="0"/>
                                          </p:stCondLst>
                                        </p:cTn>
                                        <p:tgtEl>
                                          <p:spTgt spid="11"/>
                                        </p:tgtEl>
                                      </p:cBhvr>
                                    </p:animEffect>
                                    <p:anim calcmode="lin" valueType="num">
                                      <p:cBhvr>
                                        <p:cTn id="152"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57" dur="26">
                                          <p:stCondLst>
                                            <p:cond delay="650"/>
                                          </p:stCondLst>
                                        </p:cTn>
                                        <p:tgtEl>
                                          <p:spTgt spid="11"/>
                                        </p:tgtEl>
                                      </p:cBhvr>
                                      <p:to x="100000" y="60000"/>
                                    </p:animScale>
                                    <p:animScale>
                                      <p:cBhvr>
                                        <p:cTn id="158" dur="166" decel="50000">
                                          <p:stCondLst>
                                            <p:cond delay="676"/>
                                          </p:stCondLst>
                                        </p:cTn>
                                        <p:tgtEl>
                                          <p:spTgt spid="11"/>
                                        </p:tgtEl>
                                      </p:cBhvr>
                                      <p:to x="100000" y="100000"/>
                                    </p:animScale>
                                    <p:animScale>
                                      <p:cBhvr>
                                        <p:cTn id="159" dur="26">
                                          <p:stCondLst>
                                            <p:cond delay="1312"/>
                                          </p:stCondLst>
                                        </p:cTn>
                                        <p:tgtEl>
                                          <p:spTgt spid="11"/>
                                        </p:tgtEl>
                                      </p:cBhvr>
                                      <p:to x="100000" y="80000"/>
                                    </p:animScale>
                                    <p:animScale>
                                      <p:cBhvr>
                                        <p:cTn id="160" dur="166" decel="50000">
                                          <p:stCondLst>
                                            <p:cond delay="1338"/>
                                          </p:stCondLst>
                                        </p:cTn>
                                        <p:tgtEl>
                                          <p:spTgt spid="11"/>
                                        </p:tgtEl>
                                      </p:cBhvr>
                                      <p:to x="100000" y="100000"/>
                                    </p:animScale>
                                    <p:animScale>
                                      <p:cBhvr>
                                        <p:cTn id="161" dur="26">
                                          <p:stCondLst>
                                            <p:cond delay="1642"/>
                                          </p:stCondLst>
                                        </p:cTn>
                                        <p:tgtEl>
                                          <p:spTgt spid="11"/>
                                        </p:tgtEl>
                                      </p:cBhvr>
                                      <p:to x="100000" y="90000"/>
                                    </p:animScale>
                                    <p:animScale>
                                      <p:cBhvr>
                                        <p:cTn id="162" dur="166" decel="50000">
                                          <p:stCondLst>
                                            <p:cond delay="1668"/>
                                          </p:stCondLst>
                                        </p:cTn>
                                        <p:tgtEl>
                                          <p:spTgt spid="11"/>
                                        </p:tgtEl>
                                      </p:cBhvr>
                                      <p:to x="100000" y="100000"/>
                                    </p:animScale>
                                    <p:animScale>
                                      <p:cBhvr>
                                        <p:cTn id="163" dur="26">
                                          <p:stCondLst>
                                            <p:cond delay="1808"/>
                                          </p:stCondLst>
                                        </p:cTn>
                                        <p:tgtEl>
                                          <p:spTgt spid="11"/>
                                        </p:tgtEl>
                                      </p:cBhvr>
                                      <p:to x="100000" y="95000"/>
                                    </p:animScale>
                                    <p:animScale>
                                      <p:cBhvr>
                                        <p:cTn id="164" dur="166" decel="50000">
                                          <p:stCondLst>
                                            <p:cond delay="1834"/>
                                          </p:stCondLst>
                                        </p:cTn>
                                        <p:tgtEl>
                                          <p:spTgt spid="11"/>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12"/>
                                        </p:tgtEl>
                                        <p:attrNameLst>
                                          <p:attrName>style.visibility</p:attrName>
                                        </p:attrNameLst>
                                      </p:cBhvr>
                                      <p:to>
                                        <p:strVal val="visible"/>
                                      </p:to>
                                    </p:set>
                                    <p:animEffect transition="in" filter="wipe(down)">
                                      <p:cBhvr>
                                        <p:cTn id="167" dur="580">
                                          <p:stCondLst>
                                            <p:cond delay="0"/>
                                          </p:stCondLst>
                                        </p:cTn>
                                        <p:tgtEl>
                                          <p:spTgt spid="12"/>
                                        </p:tgtEl>
                                      </p:cBhvr>
                                    </p:animEffect>
                                    <p:anim calcmode="lin" valueType="num">
                                      <p:cBhvr>
                                        <p:cTn id="168" dur="1822"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12"/>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12"/>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12"/>
                                        </p:tgtEl>
                                        <p:attrNameLst>
                                          <p:attrName>ppt_y</p:attrName>
                                        </p:attrNameLst>
                                      </p:cBhvr>
                                      <p:tavLst>
                                        <p:tav tm="0" fmla="#ppt_y-sin(pi*$)/81">
                                          <p:val>
                                            <p:fltVal val="0"/>
                                          </p:val>
                                        </p:tav>
                                        <p:tav tm="100000">
                                          <p:val>
                                            <p:fltVal val="1"/>
                                          </p:val>
                                        </p:tav>
                                      </p:tavLst>
                                    </p:anim>
                                    <p:animScale>
                                      <p:cBhvr>
                                        <p:cTn id="173" dur="26">
                                          <p:stCondLst>
                                            <p:cond delay="650"/>
                                          </p:stCondLst>
                                        </p:cTn>
                                        <p:tgtEl>
                                          <p:spTgt spid="12"/>
                                        </p:tgtEl>
                                      </p:cBhvr>
                                      <p:to x="100000" y="60000"/>
                                    </p:animScale>
                                    <p:animScale>
                                      <p:cBhvr>
                                        <p:cTn id="174" dur="166" decel="50000">
                                          <p:stCondLst>
                                            <p:cond delay="676"/>
                                          </p:stCondLst>
                                        </p:cTn>
                                        <p:tgtEl>
                                          <p:spTgt spid="12"/>
                                        </p:tgtEl>
                                      </p:cBhvr>
                                      <p:to x="100000" y="100000"/>
                                    </p:animScale>
                                    <p:animScale>
                                      <p:cBhvr>
                                        <p:cTn id="175" dur="26">
                                          <p:stCondLst>
                                            <p:cond delay="1312"/>
                                          </p:stCondLst>
                                        </p:cTn>
                                        <p:tgtEl>
                                          <p:spTgt spid="12"/>
                                        </p:tgtEl>
                                      </p:cBhvr>
                                      <p:to x="100000" y="80000"/>
                                    </p:animScale>
                                    <p:animScale>
                                      <p:cBhvr>
                                        <p:cTn id="176" dur="166" decel="50000">
                                          <p:stCondLst>
                                            <p:cond delay="1338"/>
                                          </p:stCondLst>
                                        </p:cTn>
                                        <p:tgtEl>
                                          <p:spTgt spid="12"/>
                                        </p:tgtEl>
                                      </p:cBhvr>
                                      <p:to x="100000" y="100000"/>
                                    </p:animScale>
                                    <p:animScale>
                                      <p:cBhvr>
                                        <p:cTn id="177" dur="26">
                                          <p:stCondLst>
                                            <p:cond delay="1642"/>
                                          </p:stCondLst>
                                        </p:cTn>
                                        <p:tgtEl>
                                          <p:spTgt spid="12"/>
                                        </p:tgtEl>
                                      </p:cBhvr>
                                      <p:to x="100000" y="90000"/>
                                    </p:animScale>
                                    <p:animScale>
                                      <p:cBhvr>
                                        <p:cTn id="178" dur="166" decel="50000">
                                          <p:stCondLst>
                                            <p:cond delay="1668"/>
                                          </p:stCondLst>
                                        </p:cTn>
                                        <p:tgtEl>
                                          <p:spTgt spid="12"/>
                                        </p:tgtEl>
                                      </p:cBhvr>
                                      <p:to x="100000" y="100000"/>
                                    </p:animScale>
                                    <p:animScale>
                                      <p:cBhvr>
                                        <p:cTn id="179" dur="26">
                                          <p:stCondLst>
                                            <p:cond delay="1808"/>
                                          </p:stCondLst>
                                        </p:cTn>
                                        <p:tgtEl>
                                          <p:spTgt spid="12"/>
                                        </p:tgtEl>
                                      </p:cBhvr>
                                      <p:to x="100000" y="95000"/>
                                    </p:animScale>
                                    <p:animScale>
                                      <p:cBhvr>
                                        <p:cTn id="180" dur="166" decel="50000">
                                          <p:stCondLst>
                                            <p:cond delay="1834"/>
                                          </p:stCondLst>
                                        </p:cTn>
                                        <p:tgtEl>
                                          <p:spTgt spid="12"/>
                                        </p:tgtEl>
                                      </p:cBhvr>
                                      <p:to x="100000" y="100000"/>
                                    </p:animScale>
                                  </p:childTnLst>
                                </p:cTn>
                              </p:par>
                              <p:par>
                                <p:cTn id="181" presetID="26" presetClass="entr" presetSubtype="0" fill="hold" grpId="0" nodeType="withEffect">
                                  <p:stCondLst>
                                    <p:cond delay="0"/>
                                  </p:stCondLst>
                                  <p:childTnLst>
                                    <p:set>
                                      <p:cBhvr>
                                        <p:cTn id="182" dur="1" fill="hold">
                                          <p:stCondLst>
                                            <p:cond delay="0"/>
                                          </p:stCondLst>
                                        </p:cTn>
                                        <p:tgtEl>
                                          <p:spTgt spid="13"/>
                                        </p:tgtEl>
                                        <p:attrNameLst>
                                          <p:attrName>style.visibility</p:attrName>
                                        </p:attrNameLst>
                                      </p:cBhvr>
                                      <p:to>
                                        <p:strVal val="visible"/>
                                      </p:to>
                                    </p:set>
                                    <p:animEffect transition="in" filter="wipe(down)">
                                      <p:cBhvr>
                                        <p:cTn id="183" dur="580">
                                          <p:stCondLst>
                                            <p:cond delay="0"/>
                                          </p:stCondLst>
                                        </p:cTn>
                                        <p:tgtEl>
                                          <p:spTgt spid="13"/>
                                        </p:tgtEl>
                                      </p:cBhvr>
                                    </p:animEffect>
                                    <p:anim calcmode="lin" valueType="num">
                                      <p:cBhvr>
                                        <p:cTn id="184"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185"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186"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187"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188"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189" dur="26">
                                          <p:stCondLst>
                                            <p:cond delay="650"/>
                                          </p:stCondLst>
                                        </p:cTn>
                                        <p:tgtEl>
                                          <p:spTgt spid="13"/>
                                        </p:tgtEl>
                                      </p:cBhvr>
                                      <p:to x="100000" y="60000"/>
                                    </p:animScale>
                                    <p:animScale>
                                      <p:cBhvr>
                                        <p:cTn id="190" dur="166" decel="50000">
                                          <p:stCondLst>
                                            <p:cond delay="676"/>
                                          </p:stCondLst>
                                        </p:cTn>
                                        <p:tgtEl>
                                          <p:spTgt spid="13"/>
                                        </p:tgtEl>
                                      </p:cBhvr>
                                      <p:to x="100000" y="100000"/>
                                    </p:animScale>
                                    <p:animScale>
                                      <p:cBhvr>
                                        <p:cTn id="191" dur="26">
                                          <p:stCondLst>
                                            <p:cond delay="1312"/>
                                          </p:stCondLst>
                                        </p:cTn>
                                        <p:tgtEl>
                                          <p:spTgt spid="13"/>
                                        </p:tgtEl>
                                      </p:cBhvr>
                                      <p:to x="100000" y="80000"/>
                                    </p:animScale>
                                    <p:animScale>
                                      <p:cBhvr>
                                        <p:cTn id="192" dur="166" decel="50000">
                                          <p:stCondLst>
                                            <p:cond delay="1338"/>
                                          </p:stCondLst>
                                        </p:cTn>
                                        <p:tgtEl>
                                          <p:spTgt spid="13"/>
                                        </p:tgtEl>
                                      </p:cBhvr>
                                      <p:to x="100000" y="100000"/>
                                    </p:animScale>
                                    <p:animScale>
                                      <p:cBhvr>
                                        <p:cTn id="193" dur="26">
                                          <p:stCondLst>
                                            <p:cond delay="1642"/>
                                          </p:stCondLst>
                                        </p:cTn>
                                        <p:tgtEl>
                                          <p:spTgt spid="13"/>
                                        </p:tgtEl>
                                      </p:cBhvr>
                                      <p:to x="100000" y="90000"/>
                                    </p:animScale>
                                    <p:animScale>
                                      <p:cBhvr>
                                        <p:cTn id="194" dur="166" decel="50000">
                                          <p:stCondLst>
                                            <p:cond delay="1668"/>
                                          </p:stCondLst>
                                        </p:cTn>
                                        <p:tgtEl>
                                          <p:spTgt spid="13"/>
                                        </p:tgtEl>
                                      </p:cBhvr>
                                      <p:to x="100000" y="100000"/>
                                    </p:animScale>
                                    <p:animScale>
                                      <p:cBhvr>
                                        <p:cTn id="195" dur="26">
                                          <p:stCondLst>
                                            <p:cond delay="1808"/>
                                          </p:stCondLst>
                                        </p:cTn>
                                        <p:tgtEl>
                                          <p:spTgt spid="13"/>
                                        </p:tgtEl>
                                      </p:cBhvr>
                                      <p:to x="100000" y="95000"/>
                                    </p:animScale>
                                    <p:animScale>
                                      <p:cBhvr>
                                        <p:cTn id="196" dur="166" decel="50000">
                                          <p:stCondLst>
                                            <p:cond delay="1834"/>
                                          </p:stCondLst>
                                        </p:cTn>
                                        <p:tgtEl>
                                          <p:spTgt spid="13"/>
                                        </p:tgtEl>
                                      </p:cBhvr>
                                      <p:to x="100000" y="100000"/>
                                    </p:animScale>
                                  </p:childTnLst>
                                </p:cTn>
                              </p:par>
                              <p:par>
                                <p:cTn id="197" presetID="26" presetClass="entr" presetSubtype="0" fill="hold" grpId="0" nodeType="withEffect">
                                  <p:stCondLst>
                                    <p:cond delay="0"/>
                                  </p:stCondLst>
                                  <p:childTnLst>
                                    <p:set>
                                      <p:cBhvr>
                                        <p:cTn id="198" dur="1" fill="hold">
                                          <p:stCondLst>
                                            <p:cond delay="0"/>
                                          </p:stCondLst>
                                        </p:cTn>
                                        <p:tgtEl>
                                          <p:spTgt spid="14"/>
                                        </p:tgtEl>
                                        <p:attrNameLst>
                                          <p:attrName>style.visibility</p:attrName>
                                        </p:attrNameLst>
                                      </p:cBhvr>
                                      <p:to>
                                        <p:strVal val="visible"/>
                                      </p:to>
                                    </p:set>
                                    <p:animEffect transition="in" filter="wipe(down)">
                                      <p:cBhvr>
                                        <p:cTn id="199" dur="580">
                                          <p:stCondLst>
                                            <p:cond delay="0"/>
                                          </p:stCondLst>
                                        </p:cTn>
                                        <p:tgtEl>
                                          <p:spTgt spid="14"/>
                                        </p:tgtEl>
                                      </p:cBhvr>
                                    </p:animEffect>
                                    <p:anim calcmode="lin" valueType="num">
                                      <p:cBhvr>
                                        <p:cTn id="200"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01"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02"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03"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204"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205" dur="26">
                                          <p:stCondLst>
                                            <p:cond delay="650"/>
                                          </p:stCondLst>
                                        </p:cTn>
                                        <p:tgtEl>
                                          <p:spTgt spid="14"/>
                                        </p:tgtEl>
                                      </p:cBhvr>
                                      <p:to x="100000" y="60000"/>
                                    </p:animScale>
                                    <p:animScale>
                                      <p:cBhvr>
                                        <p:cTn id="206" dur="166" decel="50000">
                                          <p:stCondLst>
                                            <p:cond delay="676"/>
                                          </p:stCondLst>
                                        </p:cTn>
                                        <p:tgtEl>
                                          <p:spTgt spid="14"/>
                                        </p:tgtEl>
                                      </p:cBhvr>
                                      <p:to x="100000" y="100000"/>
                                    </p:animScale>
                                    <p:animScale>
                                      <p:cBhvr>
                                        <p:cTn id="207" dur="26">
                                          <p:stCondLst>
                                            <p:cond delay="1312"/>
                                          </p:stCondLst>
                                        </p:cTn>
                                        <p:tgtEl>
                                          <p:spTgt spid="14"/>
                                        </p:tgtEl>
                                      </p:cBhvr>
                                      <p:to x="100000" y="80000"/>
                                    </p:animScale>
                                    <p:animScale>
                                      <p:cBhvr>
                                        <p:cTn id="208" dur="166" decel="50000">
                                          <p:stCondLst>
                                            <p:cond delay="1338"/>
                                          </p:stCondLst>
                                        </p:cTn>
                                        <p:tgtEl>
                                          <p:spTgt spid="14"/>
                                        </p:tgtEl>
                                      </p:cBhvr>
                                      <p:to x="100000" y="100000"/>
                                    </p:animScale>
                                    <p:animScale>
                                      <p:cBhvr>
                                        <p:cTn id="209" dur="26">
                                          <p:stCondLst>
                                            <p:cond delay="1642"/>
                                          </p:stCondLst>
                                        </p:cTn>
                                        <p:tgtEl>
                                          <p:spTgt spid="14"/>
                                        </p:tgtEl>
                                      </p:cBhvr>
                                      <p:to x="100000" y="90000"/>
                                    </p:animScale>
                                    <p:animScale>
                                      <p:cBhvr>
                                        <p:cTn id="210" dur="166" decel="50000">
                                          <p:stCondLst>
                                            <p:cond delay="1668"/>
                                          </p:stCondLst>
                                        </p:cTn>
                                        <p:tgtEl>
                                          <p:spTgt spid="14"/>
                                        </p:tgtEl>
                                      </p:cBhvr>
                                      <p:to x="100000" y="100000"/>
                                    </p:animScale>
                                    <p:animScale>
                                      <p:cBhvr>
                                        <p:cTn id="211" dur="26">
                                          <p:stCondLst>
                                            <p:cond delay="1808"/>
                                          </p:stCondLst>
                                        </p:cTn>
                                        <p:tgtEl>
                                          <p:spTgt spid="14"/>
                                        </p:tgtEl>
                                      </p:cBhvr>
                                      <p:to x="100000" y="95000"/>
                                    </p:animScale>
                                    <p:animScale>
                                      <p:cBhvr>
                                        <p:cTn id="212" dur="166" decel="50000">
                                          <p:stCondLst>
                                            <p:cond delay="1834"/>
                                          </p:stCondLst>
                                        </p:cTn>
                                        <p:tgtEl>
                                          <p:spTgt spid="14"/>
                                        </p:tgtEl>
                                      </p:cBhvr>
                                      <p:to x="100000" y="100000"/>
                                    </p:animScale>
                                  </p:childTnLst>
                                </p:cTn>
                              </p:par>
                              <p:par>
                                <p:cTn id="213" presetID="26" presetClass="entr" presetSubtype="0" fill="hold" grpId="0" nodeType="withEffect">
                                  <p:stCondLst>
                                    <p:cond delay="0"/>
                                  </p:stCondLst>
                                  <p:childTnLst>
                                    <p:set>
                                      <p:cBhvr>
                                        <p:cTn id="214" dur="1" fill="hold">
                                          <p:stCondLst>
                                            <p:cond delay="0"/>
                                          </p:stCondLst>
                                        </p:cTn>
                                        <p:tgtEl>
                                          <p:spTgt spid="15"/>
                                        </p:tgtEl>
                                        <p:attrNameLst>
                                          <p:attrName>style.visibility</p:attrName>
                                        </p:attrNameLst>
                                      </p:cBhvr>
                                      <p:to>
                                        <p:strVal val="visible"/>
                                      </p:to>
                                    </p:set>
                                    <p:animEffect transition="in" filter="wipe(down)">
                                      <p:cBhvr>
                                        <p:cTn id="215" dur="580">
                                          <p:stCondLst>
                                            <p:cond delay="0"/>
                                          </p:stCondLst>
                                        </p:cTn>
                                        <p:tgtEl>
                                          <p:spTgt spid="15"/>
                                        </p:tgtEl>
                                      </p:cBhvr>
                                    </p:animEffect>
                                    <p:anim calcmode="lin" valueType="num">
                                      <p:cBhvr>
                                        <p:cTn id="216"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217"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218"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219"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220"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221" dur="26">
                                          <p:stCondLst>
                                            <p:cond delay="650"/>
                                          </p:stCondLst>
                                        </p:cTn>
                                        <p:tgtEl>
                                          <p:spTgt spid="15"/>
                                        </p:tgtEl>
                                      </p:cBhvr>
                                      <p:to x="100000" y="60000"/>
                                    </p:animScale>
                                    <p:animScale>
                                      <p:cBhvr>
                                        <p:cTn id="222" dur="166" decel="50000">
                                          <p:stCondLst>
                                            <p:cond delay="676"/>
                                          </p:stCondLst>
                                        </p:cTn>
                                        <p:tgtEl>
                                          <p:spTgt spid="15"/>
                                        </p:tgtEl>
                                      </p:cBhvr>
                                      <p:to x="100000" y="100000"/>
                                    </p:animScale>
                                    <p:animScale>
                                      <p:cBhvr>
                                        <p:cTn id="223" dur="26">
                                          <p:stCondLst>
                                            <p:cond delay="1312"/>
                                          </p:stCondLst>
                                        </p:cTn>
                                        <p:tgtEl>
                                          <p:spTgt spid="15"/>
                                        </p:tgtEl>
                                      </p:cBhvr>
                                      <p:to x="100000" y="80000"/>
                                    </p:animScale>
                                    <p:animScale>
                                      <p:cBhvr>
                                        <p:cTn id="224" dur="166" decel="50000">
                                          <p:stCondLst>
                                            <p:cond delay="1338"/>
                                          </p:stCondLst>
                                        </p:cTn>
                                        <p:tgtEl>
                                          <p:spTgt spid="15"/>
                                        </p:tgtEl>
                                      </p:cBhvr>
                                      <p:to x="100000" y="100000"/>
                                    </p:animScale>
                                    <p:animScale>
                                      <p:cBhvr>
                                        <p:cTn id="225" dur="26">
                                          <p:stCondLst>
                                            <p:cond delay="1642"/>
                                          </p:stCondLst>
                                        </p:cTn>
                                        <p:tgtEl>
                                          <p:spTgt spid="15"/>
                                        </p:tgtEl>
                                      </p:cBhvr>
                                      <p:to x="100000" y="90000"/>
                                    </p:animScale>
                                    <p:animScale>
                                      <p:cBhvr>
                                        <p:cTn id="226" dur="166" decel="50000">
                                          <p:stCondLst>
                                            <p:cond delay="1668"/>
                                          </p:stCondLst>
                                        </p:cTn>
                                        <p:tgtEl>
                                          <p:spTgt spid="15"/>
                                        </p:tgtEl>
                                      </p:cBhvr>
                                      <p:to x="100000" y="100000"/>
                                    </p:animScale>
                                    <p:animScale>
                                      <p:cBhvr>
                                        <p:cTn id="227" dur="26">
                                          <p:stCondLst>
                                            <p:cond delay="1808"/>
                                          </p:stCondLst>
                                        </p:cTn>
                                        <p:tgtEl>
                                          <p:spTgt spid="15"/>
                                        </p:tgtEl>
                                      </p:cBhvr>
                                      <p:to x="100000" y="95000"/>
                                    </p:animScale>
                                    <p:animScale>
                                      <p:cBhvr>
                                        <p:cTn id="228" dur="166" decel="50000">
                                          <p:stCondLst>
                                            <p:cond delay="1834"/>
                                          </p:stCondLst>
                                        </p:cTn>
                                        <p:tgtEl>
                                          <p:spTgt spid="15"/>
                                        </p:tgtEl>
                                      </p:cBhvr>
                                      <p:to x="100000" y="100000"/>
                                    </p:animScale>
                                  </p:childTnLst>
                                </p:cTn>
                              </p:par>
                              <p:par>
                                <p:cTn id="229" presetID="26" presetClass="entr" presetSubtype="0" fill="hold" grpId="0" nodeType="withEffect">
                                  <p:stCondLst>
                                    <p:cond delay="0"/>
                                  </p:stCondLst>
                                  <p:childTnLst>
                                    <p:set>
                                      <p:cBhvr>
                                        <p:cTn id="230" dur="1" fill="hold">
                                          <p:stCondLst>
                                            <p:cond delay="0"/>
                                          </p:stCondLst>
                                        </p:cTn>
                                        <p:tgtEl>
                                          <p:spTgt spid="16"/>
                                        </p:tgtEl>
                                        <p:attrNameLst>
                                          <p:attrName>style.visibility</p:attrName>
                                        </p:attrNameLst>
                                      </p:cBhvr>
                                      <p:to>
                                        <p:strVal val="visible"/>
                                      </p:to>
                                    </p:set>
                                    <p:animEffect transition="in" filter="wipe(down)">
                                      <p:cBhvr>
                                        <p:cTn id="231" dur="580">
                                          <p:stCondLst>
                                            <p:cond delay="0"/>
                                          </p:stCondLst>
                                        </p:cTn>
                                        <p:tgtEl>
                                          <p:spTgt spid="16"/>
                                        </p:tgtEl>
                                      </p:cBhvr>
                                    </p:animEffect>
                                    <p:anim calcmode="lin" valueType="num">
                                      <p:cBhvr>
                                        <p:cTn id="232"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33"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34"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35"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36"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37" dur="26">
                                          <p:stCondLst>
                                            <p:cond delay="650"/>
                                          </p:stCondLst>
                                        </p:cTn>
                                        <p:tgtEl>
                                          <p:spTgt spid="16"/>
                                        </p:tgtEl>
                                      </p:cBhvr>
                                      <p:to x="100000" y="60000"/>
                                    </p:animScale>
                                    <p:animScale>
                                      <p:cBhvr>
                                        <p:cTn id="238" dur="166" decel="50000">
                                          <p:stCondLst>
                                            <p:cond delay="676"/>
                                          </p:stCondLst>
                                        </p:cTn>
                                        <p:tgtEl>
                                          <p:spTgt spid="16"/>
                                        </p:tgtEl>
                                      </p:cBhvr>
                                      <p:to x="100000" y="100000"/>
                                    </p:animScale>
                                    <p:animScale>
                                      <p:cBhvr>
                                        <p:cTn id="239" dur="26">
                                          <p:stCondLst>
                                            <p:cond delay="1312"/>
                                          </p:stCondLst>
                                        </p:cTn>
                                        <p:tgtEl>
                                          <p:spTgt spid="16"/>
                                        </p:tgtEl>
                                      </p:cBhvr>
                                      <p:to x="100000" y="80000"/>
                                    </p:animScale>
                                    <p:animScale>
                                      <p:cBhvr>
                                        <p:cTn id="240" dur="166" decel="50000">
                                          <p:stCondLst>
                                            <p:cond delay="1338"/>
                                          </p:stCondLst>
                                        </p:cTn>
                                        <p:tgtEl>
                                          <p:spTgt spid="16"/>
                                        </p:tgtEl>
                                      </p:cBhvr>
                                      <p:to x="100000" y="100000"/>
                                    </p:animScale>
                                    <p:animScale>
                                      <p:cBhvr>
                                        <p:cTn id="241" dur="26">
                                          <p:stCondLst>
                                            <p:cond delay="1642"/>
                                          </p:stCondLst>
                                        </p:cTn>
                                        <p:tgtEl>
                                          <p:spTgt spid="16"/>
                                        </p:tgtEl>
                                      </p:cBhvr>
                                      <p:to x="100000" y="90000"/>
                                    </p:animScale>
                                    <p:animScale>
                                      <p:cBhvr>
                                        <p:cTn id="242" dur="166" decel="50000">
                                          <p:stCondLst>
                                            <p:cond delay="1668"/>
                                          </p:stCondLst>
                                        </p:cTn>
                                        <p:tgtEl>
                                          <p:spTgt spid="16"/>
                                        </p:tgtEl>
                                      </p:cBhvr>
                                      <p:to x="100000" y="100000"/>
                                    </p:animScale>
                                    <p:animScale>
                                      <p:cBhvr>
                                        <p:cTn id="243" dur="26">
                                          <p:stCondLst>
                                            <p:cond delay="1808"/>
                                          </p:stCondLst>
                                        </p:cTn>
                                        <p:tgtEl>
                                          <p:spTgt spid="16"/>
                                        </p:tgtEl>
                                      </p:cBhvr>
                                      <p:to x="100000" y="95000"/>
                                    </p:animScale>
                                    <p:animScale>
                                      <p:cBhvr>
                                        <p:cTn id="244" dur="166" decel="50000">
                                          <p:stCondLst>
                                            <p:cond delay="1834"/>
                                          </p:stCondLst>
                                        </p:cTn>
                                        <p:tgtEl>
                                          <p:spTgt spid="16"/>
                                        </p:tgtEl>
                                      </p:cBhvr>
                                      <p:to x="100000" y="100000"/>
                                    </p:animScale>
                                  </p:childTnLst>
                                </p:cTn>
                              </p:par>
                              <p:par>
                                <p:cTn id="245" presetID="26" presetClass="entr" presetSubtype="0" fill="hold" grpId="0" nodeType="withEffect">
                                  <p:stCondLst>
                                    <p:cond delay="0"/>
                                  </p:stCondLst>
                                  <p:childTnLst>
                                    <p:set>
                                      <p:cBhvr>
                                        <p:cTn id="246" dur="1" fill="hold">
                                          <p:stCondLst>
                                            <p:cond delay="0"/>
                                          </p:stCondLst>
                                        </p:cTn>
                                        <p:tgtEl>
                                          <p:spTgt spid="17"/>
                                        </p:tgtEl>
                                        <p:attrNameLst>
                                          <p:attrName>style.visibility</p:attrName>
                                        </p:attrNameLst>
                                      </p:cBhvr>
                                      <p:to>
                                        <p:strVal val="visible"/>
                                      </p:to>
                                    </p:set>
                                    <p:animEffect transition="in" filter="wipe(down)">
                                      <p:cBhvr>
                                        <p:cTn id="247" dur="580">
                                          <p:stCondLst>
                                            <p:cond delay="0"/>
                                          </p:stCondLst>
                                        </p:cTn>
                                        <p:tgtEl>
                                          <p:spTgt spid="17"/>
                                        </p:tgtEl>
                                      </p:cBhvr>
                                    </p:animEffect>
                                    <p:anim calcmode="lin" valueType="num">
                                      <p:cBhvr>
                                        <p:cTn id="24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4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5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25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25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53" dur="26">
                                          <p:stCondLst>
                                            <p:cond delay="650"/>
                                          </p:stCondLst>
                                        </p:cTn>
                                        <p:tgtEl>
                                          <p:spTgt spid="17"/>
                                        </p:tgtEl>
                                      </p:cBhvr>
                                      <p:to x="100000" y="60000"/>
                                    </p:animScale>
                                    <p:animScale>
                                      <p:cBhvr>
                                        <p:cTn id="254" dur="166" decel="50000">
                                          <p:stCondLst>
                                            <p:cond delay="676"/>
                                          </p:stCondLst>
                                        </p:cTn>
                                        <p:tgtEl>
                                          <p:spTgt spid="17"/>
                                        </p:tgtEl>
                                      </p:cBhvr>
                                      <p:to x="100000" y="100000"/>
                                    </p:animScale>
                                    <p:animScale>
                                      <p:cBhvr>
                                        <p:cTn id="255" dur="26">
                                          <p:stCondLst>
                                            <p:cond delay="1312"/>
                                          </p:stCondLst>
                                        </p:cTn>
                                        <p:tgtEl>
                                          <p:spTgt spid="17"/>
                                        </p:tgtEl>
                                      </p:cBhvr>
                                      <p:to x="100000" y="80000"/>
                                    </p:animScale>
                                    <p:animScale>
                                      <p:cBhvr>
                                        <p:cTn id="256" dur="166" decel="50000">
                                          <p:stCondLst>
                                            <p:cond delay="1338"/>
                                          </p:stCondLst>
                                        </p:cTn>
                                        <p:tgtEl>
                                          <p:spTgt spid="17"/>
                                        </p:tgtEl>
                                      </p:cBhvr>
                                      <p:to x="100000" y="100000"/>
                                    </p:animScale>
                                    <p:animScale>
                                      <p:cBhvr>
                                        <p:cTn id="257" dur="26">
                                          <p:stCondLst>
                                            <p:cond delay="1642"/>
                                          </p:stCondLst>
                                        </p:cTn>
                                        <p:tgtEl>
                                          <p:spTgt spid="17"/>
                                        </p:tgtEl>
                                      </p:cBhvr>
                                      <p:to x="100000" y="90000"/>
                                    </p:animScale>
                                    <p:animScale>
                                      <p:cBhvr>
                                        <p:cTn id="258" dur="166" decel="50000">
                                          <p:stCondLst>
                                            <p:cond delay="1668"/>
                                          </p:stCondLst>
                                        </p:cTn>
                                        <p:tgtEl>
                                          <p:spTgt spid="17"/>
                                        </p:tgtEl>
                                      </p:cBhvr>
                                      <p:to x="100000" y="100000"/>
                                    </p:animScale>
                                    <p:animScale>
                                      <p:cBhvr>
                                        <p:cTn id="259" dur="26">
                                          <p:stCondLst>
                                            <p:cond delay="1808"/>
                                          </p:stCondLst>
                                        </p:cTn>
                                        <p:tgtEl>
                                          <p:spTgt spid="17"/>
                                        </p:tgtEl>
                                      </p:cBhvr>
                                      <p:to x="100000" y="95000"/>
                                    </p:animScale>
                                    <p:animScale>
                                      <p:cBhvr>
                                        <p:cTn id="260" dur="166" decel="50000">
                                          <p:stCondLst>
                                            <p:cond delay="1834"/>
                                          </p:stCondLst>
                                        </p:cTn>
                                        <p:tgtEl>
                                          <p:spTgt spid="17"/>
                                        </p:tgtEl>
                                      </p:cBhvr>
                                      <p:to x="100000" y="100000"/>
                                    </p:animScale>
                                  </p:childTnLst>
                                </p:cTn>
                              </p:par>
                              <p:par>
                                <p:cTn id="261" presetID="26" presetClass="entr" presetSubtype="0" fill="hold" grpId="0" nodeType="withEffect">
                                  <p:stCondLst>
                                    <p:cond delay="0"/>
                                  </p:stCondLst>
                                  <p:childTnLst>
                                    <p:set>
                                      <p:cBhvr>
                                        <p:cTn id="262" dur="1" fill="hold">
                                          <p:stCondLst>
                                            <p:cond delay="0"/>
                                          </p:stCondLst>
                                        </p:cTn>
                                        <p:tgtEl>
                                          <p:spTgt spid="18"/>
                                        </p:tgtEl>
                                        <p:attrNameLst>
                                          <p:attrName>style.visibility</p:attrName>
                                        </p:attrNameLst>
                                      </p:cBhvr>
                                      <p:to>
                                        <p:strVal val="visible"/>
                                      </p:to>
                                    </p:set>
                                    <p:animEffect transition="in" filter="wipe(down)">
                                      <p:cBhvr>
                                        <p:cTn id="263" dur="580">
                                          <p:stCondLst>
                                            <p:cond delay="0"/>
                                          </p:stCondLst>
                                        </p:cTn>
                                        <p:tgtEl>
                                          <p:spTgt spid="18"/>
                                        </p:tgtEl>
                                      </p:cBhvr>
                                    </p:animEffect>
                                    <p:anim calcmode="lin" valueType="num">
                                      <p:cBhvr>
                                        <p:cTn id="264" dur="1822" tmFilter="0,0; 0.14,0.36; 0.43,0.73; 0.71,0.91; 1.0,1.0">
                                          <p:stCondLst>
                                            <p:cond delay="0"/>
                                          </p:stCondLst>
                                        </p:cTn>
                                        <p:tgtEl>
                                          <p:spTgt spid="18"/>
                                        </p:tgtEl>
                                        <p:attrNameLst>
                                          <p:attrName>ppt_x</p:attrName>
                                        </p:attrNameLst>
                                      </p:cBhvr>
                                      <p:tavLst>
                                        <p:tav tm="0">
                                          <p:val>
                                            <p:strVal val="#ppt_x-0.25"/>
                                          </p:val>
                                        </p:tav>
                                        <p:tav tm="100000">
                                          <p:val>
                                            <p:strVal val="#ppt_x"/>
                                          </p:val>
                                        </p:tav>
                                      </p:tavLst>
                                    </p:anim>
                                    <p:anim calcmode="lin" valueType="num">
                                      <p:cBhvr>
                                        <p:cTn id="265" dur="664" tmFilter="0.0,0.0; 0.25,0.07; 0.50,0.2; 0.75,0.467; 1.0,1.0">
                                          <p:stCondLst>
                                            <p:cond delay="0"/>
                                          </p:stCondLst>
                                        </p:cTn>
                                        <p:tgtEl>
                                          <p:spTgt spid="18"/>
                                        </p:tgtEl>
                                        <p:attrNameLst>
                                          <p:attrName>ppt_y</p:attrName>
                                        </p:attrNameLst>
                                      </p:cBhvr>
                                      <p:tavLst>
                                        <p:tav tm="0" fmla="#ppt_y-sin(pi*$)/3">
                                          <p:val>
                                            <p:fltVal val="0.5"/>
                                          </p:val>
                                        </p:tav>
                                        <p:tav tm="100000">
                                          <p:val>
                                            <p:fltVal val="1"/>
                                          </p:val>
                                        </p:tav>
                                      </p:tavLst>
                                    </p:anim>
                                    <p:anim calcmode="lin" valueType="num">
                                      <p:cBhvr>
                                        <p:cTn id="266" dur="664" tmFilter="0, 0; 0.125,0.2665; 0.25,0.4; 0.375,0.465; 0.5,0.5;  0.625,0.535; 0.75,0.6; 0.875,0.7335; 1,1">
                                          <p:stCondLst>
                                            <p:cond delay="664"/>
                                          </p:stCondLst>
                                        </p:cTn>
                                        <p:tgtEl>
                                          <p:spTgt spid="18"/>
                                        </p:tgtEl>
                                        <p:attrNameLst>
                                          <p:attrName>ppt_y</p:attrName>
                                        </p:attrNameLst>
                                      </p:cBhvr>
                                      <p:tavLst>
                                        <p:tav tm="0" fmla="#ppt_y-sin(pi*$)/9">
                                          <p:val>
                                            <p:fltVal val="0"/>
                                          </p:val>
                                        </p:tav>
                                        <p:tav tm="100000">
                                          <p:val>
                                            <p:fltVal val="1"/>
                                          </p:val>
                                        </p:tav>
                                      </p:tavLst>
                                    </p:anim>
                                    <p:anim calcmode="lin" valueType="num">
                                      <p:cBhvr>
                                        <p:cTn id="267" dur="332" tmFilter="0, 0; 0.125,0.2665; 0.25,0.4; 0.375,0.465; 0.5,0.5;  0.625,0.535; 0.75,0.6; 0.875,0.7335; 1,1">
                                          <p:stCondLst>
                                            <p:cond delay="1324"/>
                                          </p:stCondLst>
                                        </p:cTn>
                                        <p:tgtEl>
                                          <p:spTgt spid="18"/>
                                        </p:tgtEl>
                                        <p:attrNameLst>
                                          <p:attrName>ppt_y</p:attrName>
                                        </p:attrNameLst>
                                      </p:cBhvr>
                                      <p:tavLst>
                                        <p:tav tm="0" fmla="#ppt_y-sin(pi*$)/27">
                                          <p:val>
                                            <p:fltVal val="0"/>
                                          </p:val>
                                        </p:tav>
                                        <p:tav tm="100000">
                                          <p:val>
                                            <p:fltVal val="1"/>
                                          </p:val>
                                        </p:tav>
                                      </p:tavLst>
                                    </p:anim>
                                    <p:anim calcmode="lin" valueType="num">
                                      <p:cBhvr>
                                        <p:cTn id="268" dur="164" tmFilter="0, 0; 0.125,0.2665; 0.25,0.4; 0.375,0.465; 0.5,0.5;  0.625,0.535; 0.75,0.6; 0.875,0.7335; 1,1">
                                          <p:stCondLst>
                                            <p:cond delay="1656"/>
                                          </p:stCondLst>
                                        </p:cTn>
                                        <p:tgtEl>
                                          <p:spTgt spid="18"/>
                                        </p:tgtEl>
                                        <p:attrNameLst>
                                          <p:attrName>ppt_y</p:attrName>
                                        </p:attrNameLst>
                                      </p:cBhvr>
                                      <p:tavLst>
                                        <p:tav tm="0" fmla="#ppt_y-sin(pi*$)/81">
                                          <p:val>
                                            <p:fltVal val="0"/>
                                          </p:val>
                                        </p:tav>
                                        <p:tav tm="100000">
                                          <p:val>
                                            <p:fltVal val="1"/>
                                          </p:val>
                                        </p:tav>
                                      </p:tavLst>
                                    </p:anim>
                                    <p:animScale>
                                      <p:cBhvr>
                                        <p:cTn id="269" dur="26">
                                          <p:stCondLst>
                                            <p:cond delay="650"/>
                                          </p:stCondLst>
                                        </p:cTn>
                                        <p:tgtEl>
                                          <p:spTgt spid="18"/>
                                        </p:tgtEl>
                                      </p:cBhvr>
                                      <p:to x="100000" y="60000"/>
                                    </p:animScale>
                                    <p:animScale>
                                      <p:cBhvr>
                                        <p:cTn id="270" dur="166" decel="50000">
                                          <p:stCondLst>
                                            <p:cond delay="676"/>
                                          </p:stCondLst>
                                        </p:cTn>
                                        <p:tgtEl>
                                          <p:spTgt spid="18"/>
                                        </p:tgtEl>
                                      </p:cBhvr>
                                      <p:to x="100000" y="100000"/>
                                    </p:animScale>
                                    <p:animScale>
                                      <p:cBhvr>
                                        <p:cTn id="271" dur="26">
                                          <p:stCondLst>
                                            <p:cond delay="1312"/>
                                          </p:stCondLst>
                                        </p:cTn>
                                        <p:tgtEl>
                                          <p:spTgt spid="18"/>
                                        </p:tgtEl>
                                      </p:cBhvr>
                                      <p:to x="100000" y="80000"/>
                                    </p:animScale>
                                    <p:animScale>
                                      <p:cBhvr>
                                        <p:cTn id="272" dur="166" decel="50000">
                                          <p:stCondLst>
                                            <p:cond delay="1338"/>
                                          </p:stCondLst>
                                        </p:cTn>
                                        <p:tgtEl>
                                          <p:spTgt spid="18"/>
                                        </p:tgtEl>
                                      </p:cBhvr>
                                      <p:to x="100000" y="100000"/>
                                    </p:animScale>
                                    <p:animScale>
                                      <p:cBhvr>
                                        <p:cTn id="273" dur="26">
                                          <p:stCondLst>
                                            <p:cond delay="1642"/>
                                          </p:stCondLst>
                                        </p:cTn>
                                        <p:tgtEl>
                                          <p:spTgt spid="18"/>
                                        </p:tgtEl>
                                      </p:cBhvr>
                                      <p:to x="100000" y="90000"/>
                                    </p:animScale>
                                    <p:animScale>
                                      <p:cBhvr>
                                        <p:cTn id="274" dur="166" decel="50000">
                                          <p:stCondLst>
                                            <p:cond delay="1668"/>
                                          </p:stCondLst>
                                        </p:cTn>
                                        <p:tgtEl>
                                          <p:spTgt spid="18"/>
                                        </p:tgtEl>
                                      </p:cBhvr>
                                      <p:to x="100000" y="100000"/>
                                    </p:animScale>
                                    <p:animScale>
                                      <p:cBhvr>
                                        <p:cTn id="275" dur="26">
                                          <p:stCondLst>
                                            <p:cond delay="1808"/>
                                          </p:stCondLst>
                                        </p:cTn>
                                        <p:tgtEl>
                                          <p:spTgt spid="18"/>
                                        </p:tgtEl>
                                      </p:cBhvr>
                                      <p:to x="100000" y="95000"/>
                                    </p:animScale>
                                    <p:animScale>
                                      <p:cBhvr>
                                        <p:cTn id="276" dur="166" decel="50000">
                                          <p:stCondLst>
                                            <p:cond delay="1834"/>
                                          </p:stCondLst>
                                        </p:cTn>
                                        <p:tgtEl>
                                          <p:spTgt spid="18"/>
                                        </p:tgtEl>
                                      </p:cBhvr>
                                      <p:to x="100000" y="100000"/>
                                    </p:animScale>
                                  </p:childTnLst>
                                </p:cTn>
                              </p:par>
                              <p:par>
                                <p:cTn id="277" presetID="26" presetClass="entr" presetSubtype="0" fill="hold" grpId="0" nodeType="withEffect">
                                  <p:stCondLst>
                                    <p:cond delay="0"/>
                                  </p:stCondLst>
                                  <p:childTnLst>
                                    <p:set>
                                      <p:cBhvr>
                                        <p:cTn id="278" dur="1" fill="hold">
                                          <p:stCondLst>
                                            <p:cond delay="0"/>
                                          </p:stCondLst>
                                        </p:cTn>
                                        <p:tgtEl>
                                          <p:spTgt spid="19"/>
                                        </p:tgtEl>
                                        <p:attrNameLst>
                                          <p:attrName>style.visibility</p:attrName>
                                        </p:attrNameLst>
                                      </p:cBhvr>
                                      <p:to>
                                        <p:strVal val="visible"/>
                                      </p:to>
                                    </p:set>
                                    <p:animEffect transition="in" filter="wipe(down)">
                                      <p:cBhvr>
                                        <p:cTn id="279" dur="580">
                                          <p:stCondLst>
                                            <p:cond delay="0"/>
                                          </p:stCondLst>
                                        </p:cTn>
                                        <p:tgtEl>
                                          <p:spTgt spid="19"/>
                                        </p:tgtEl>
                                      </p:cBhvr>
                                    </p:animEffect>
                                    <p:anim calcmode="lin" valueType="num">
                                      <p:cBhvr>
                                        <p:cTn id="280"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281"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282"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283"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284"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285" dur="26">
                                          <p:stCondLst>
                                            <p:cond delay="650"/>
                                          </p:stCondLst>
                                        </p:cTn>
                                        <p:tgtEl>
                                          <p:spTgt spid="19"/>
                                        </p:tgtEl>
                                      </p:cBhvr>
                                      <p:to x="100000" y="60000"/>
                                    </p:animScale>
                                    <p:animScale>
                                      <p:cBhvr>
                                        <p:cTn id="286" dur="166" decel="50000">
                                          <p:stCondLst>
                                            <p:cond delay="676"/>
                                          </p:stCondLst>
                                        </p:cTn>
                                        <p:tgtEl>
                                          <p:spTgt spid="19"/>
                                        </p:tgtEl>
                                      </p:cBhvr>
                                      <p:to x="100000" y="100000"/>
                                    </p:animScale>
                                    <p:animScale>
                                      <p:cBhvr>
                                        <p:cTn id="287" dur="26">
                                          <p:stCondLst>
                                            <p:cond delay="1312"/>
                                          </p:stCondLst>
                                        </p:cTn>
                                        <p:tgtEl>
                                          <p:spTgt spid="19"/>
                                        </p:tgtEl>
                                      </p:cBhvr>
                                      <p:to x="100000" y="80000"/>
                                    </p:animScale>
                                    <p:animScale>
                                      <p:cBhvr>
                                        <p:cTn id="288" dur="166" decel="50000">
                                          <p:stCondLst>
                                            <p:cond delay="1338"/>
                                          </p:stCondLst>
                                        </p:cTn>
                                        <p:tgtEl>
                                          <p:spTgt spid="19"/>
                                        </p:tgtEl>
                                      </p:cBhvr>
                                      <p:to x="100000" y="100000"/>
                                    </p:animScale>
                                    <p:animScale>
                                      <p:cBhvr>
                                        <p:cTn id="289" dur="26">
                                          <p:stCondLst>
                                            <p:cond delay="1642"/>
                                          </p:stCondLst>
                                        </p:cTn>
                                        <p:tgtEl>
                                          <p:spTgt spid="19"/>
                                        </p:tgtEl>
                                      </p:cBhvr>
                                      <p:to x="100000" y="90000"/>
                                    </p:animScale>
                                    <p:animScale>
                                      <p:cBhvr>
                                        <p:cTn id="290" dur="166" decel="50000">
                                          <p:stCondLst>
                                            <p:cond delay="1668"/>
                                          </p:stCondLst>
                                        </p:cTn>
                                        <p:tgtEl>
                                          <p:spTgt spid="19"/>
                                        </p:tgtEl>
                                      </p:cBhvr>
                                      <p:to x="100000" y="100000"/>
                                    </p:animScale>
                                    <p:animScale>
                                      <p:cBhvr>
                                        <p:cTn id="291" dur="26">
                                          <p:stCondLst>
                                            <p:cond delay="1808"/>
                                          </p:stCondLst>
                                        </p:cTn>
                                        <p:tgtEl>
                                          <p:spTgt spid="19"/>
                                        </p:tgtEl>
                                      </p:cBhvr>
                                      <p:to x="100000" y="95000"/>
                                    </p:animScale>
                                    <p:animScale>
                                      <p:cBhvr>
                                        <p:cTn id="292" dur="166" decel="50000">
                                          <p:stCondLst>
                                            <p:cond delay="1834"/>
                                          </p:stCondLst>
                                        </p:cTn>
                                        <p:tgtEl>
                                          <p:spTgt spid="19"/>
                                        </p:tgtEl>
                                      </p:cBhvr>
                                      <p:to x="100000" y="100000"/>
                                    </p:animScale>
                                  </p:childTnLst>
                                </p:cTn>
                              </p:par>
                              <p:par>
                                <p:cTn id="293" presetID="26" presetClass="entr" presetSubtype="0" fill="hold" grpId="0" nodeType="withEffect">
                                  <p:stCondLst>
                                    <p:cond delay="0"/>
                                  </p:stCondLst>
                                  <p:childTnLst>
                                    <p:set>
                                      <p:cBhvr>
                                        <p:cTn id="294" dur="1" fill="hold">
                                          <p:stCondLst>
                                            <p:cond delay="0"/>
                                          </p:stCondLst>
                                        </p:cTn>
                                        <p:tgtEl>
                                          <p:spTgt spid="20"/>
                                        </p:tgtEl>
                                        <p:attrNameLst>
                                          <p:attrName>style.visibility</p:attrName>
                                        </p:attrNameLst>
                                      </p:cBhvr>
                                      <p:to>
                                        <p:strVal val="visible"/>
                                      </p:to>
                                    </p:set>
                                    <p:animEffect transition="in" filter="wipe(down)">
                                      <p:cBhvr>
                                        <p:cTn id="295" dur="580">
                                          <p:stCondLst>
                                            <p:cond delay="0"/>
                                          </p:stCondLst>
                                        </p:cTn>
                                        <p:tgtEl>
                                          <p:spTgt spid="20"/>
                                        </p:tgtEl>
                                      </p:cBhvr>
                                    </p:animEffect>
                                    <p:anim calcmode="lin" valueType="num">
                                      <p:cBhvr>
                                        <p:cTn id="296"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297"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298"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299"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300"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301" dur="26">
                                          <p:stCondLst>
                                            <p:cond delay="650"/>
                                          </p:stCondLst>
                                        </p:cTn>
                                        <p:tgtEl>
                                          <p:spTgt spid="20"/>
                                        </p:tgtEl>
                                      </p:cBhvr>
                                      <p:to x="100000" y="60000"/>
                                    </p:animScale>
                                    <p:animScale>
                                      <p:cBhvr>
                                        <p:cTn id="302" dur="166" decel="50000">
                                          <p:stCondLst>
                                            <p:cond delay="676"/>
                                          </p:stCondLst>
                                        </p:cTn>
                                        <p:tgtEl>
                                          <p:spTgt spid="20"/>
                                        </p:tgtEl>
                                      </p:cBhvr>
                                      <p:to x="100000" y="100000"/>
                                    </p:animScale>
                                    <p:animScale>
                                      <p:cBhvr>
                                        <p:cTn id="303" dur="26">
                                          <p:stCondLst>
                                            <p:cond delay="1312"/>
                                          </p:stCondLst>
                                        </p:cTn>
                                        <p:tgtEl>
                                          <p:spTgt spid="20"/>
                                        </p:tgtEl>
                                      </p:cBhvr>
                                      <p:to x="100000" y="80000"/>
                                    </p:animScale>
                                    <p:animScale>
                                      <p:cBhvr>
                                        <p:cTn id="304" dur="166" decel="50000">
                                          <p:stCondLst>
                                            <p:cond delay="1338"/>
                                          </p:stCondLst>
                                        </p:cTn>
                                        <p:tgtEl>
                                          <p:spTgt spid="20"/>
                                        </p:tgtEl>
                                      </p:cBhvr>
                                      <p:to x="100000" y="100000"/>
                                    </p:animScale>
                                    <p:animScale>
                                      <p:cBhvr>
                                        <p:cTn id="305" dur="26">
                                          <p:stCondLst>
                                            <p:cond delay="1642"/>
                                          </p:stCondLst>
                                        </p:cTn>
                                        <p:tgtEl>
                                          <p:spTgt spid="20"/>
                                        </p:tgtEl>
                                      </p:cBhvr>
                                      <p:to x="100000" y="90000"/>
                                    </p:animScale>
                                    <p:animScale>
                                      <p:cBhvr>
                                        <p:cTn id="306" dur="166" decel="50000">
                                          <p:stCondLst>
                                            <p:cond delay="1668"/>
                                          </p:stCondLst>
                                        </p:cTn>
                                        <p:tgtEl>
                                          <p:spTgt spid="20"/>
                                        </p:tgtEl>
                                      </p:cBhvr>
                                      <p:to x="100000" y="100000"/>
                                    </p:animScale>
                                    <p:animScale>
                                      <p:cBhvr>
                                        <p:cTn id="307" dur="26">
                                          <p:stCondLst>
                                            <p:cond delay="1808"/>
                                          </p:stCondLst>
                                        </p:cTn>
                                        <p:tgtEl>
                                          <p:spTgt spid="20"/>
                                        </p:tgtEl>
                                      </p:cBhvr>
                                      <p:to x="100000" y="95000"/>
                                    </p:animScale>
                                    <p:animScale>
                                      <p:cBhvr>
                                        <p:cTn id="308" dur="166" decel="50000">
                                          <p:stCondLst>
                                            <p:cond delay="1834"/>
                                          </p:stCondLst>
                                        </p:cTn>
                                        <p:tgtEl>
                                          <p:spTgt spid="20"/>
                                        </p:tgtEl>
                                      </p:cBhvr>
                                      <p:to x="100000" y="100000"/>
                                    </p:animScale>
                                  </p:childTnLst>
                                </p:cTn>
                              </p:par>
                              <p:par>
                                <p:cTn id="309" presetID="26" presetClass="entr" presetSubtype="0" fill="hold" grpId="0" nodeType="withEffect">
                                  <p:stCondLst>
                                    <p:cond delay="0"/>
                                  </p:stCondLst>
                                  <p:childTnLst>
                                    <p:set>
                                      <p:cBhvr>
                                        <p:cTn id="310" dur="1" fill="hold">
                                          <p:stCondLst>
                                            <p:cond delay="0"/>
                                          </p:stCondLst>
                                        </p:cTn>
                                        <p:tgtEl>
                                          <p:spTgt spid="21"/>
                                        </p:tgtEl>
                                        <p:attrNameLst>
                                          <p:attrName>style.visibility</p:attrName>
                                        </p:attrNameLst>
                                      </p:cBhvr>
                                      <p:to>
                                        <p:strVal val="visible"/>
                                      </p:to>
                                    </p:set>
                                    <p:animEffect transition="in" filter="wipe(down)">
                                      <p:cBhvr>
                                        <p:cTn id="311" dur="580">
                                          <p:stCondLst>
                                            <p:cond delay="0"/>
                                          </p:stCondLst>
                                        </p:cTn>
                                        <p:tgtEl>
                                          <p:spTgt spid="21"/>
                                        </p:tgtEl>
                                      </p:cBhvr>
                                    </p:animEffect>
                                    <p:anim calcmode="lin" valueType="num">
                                      <p:cBhvr>
                                        <p:cTn id="312"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313"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314"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315"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316"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317" dur="26">
                                          <p:stCondLst>
                                            <p:cond delay="650"/>
                                          </p:stCondLst>
                                        </p:cTn>
                                        <p:tgtEl>
                                          <p:spTgt spid="21"/>
                                        </p:tgtEl>
                                      </p:cBhvr>
                                      <p:to x="100000" y="60000"/>
                                    </p:animScale>
                                    <p:animScale>
                                      <p:cBhvr>
                                        <p:cTn id="318" dur="166" decel="50000">
                                          <p:stCondLst>
                                            <p:cond delay="676"/>
                                          </p:stCondLst>
                                        </p:cTn>
                                        <p:tgtEl>
                                          <p:spTgt spid="21"/>
                                        </p:tgtEl>
                                      </p:cBhvr>
                                      <p:to x="100000" y="100000"/>
                                    </p:animScale>
                                    <p:animScale>
                                      <p:cBhvr>
                                        <p:cTn id="319" dur="26">
                                          <p:stCondLst>
                                            <p:cond delay="1312"/>
                                          </p:stCondLst>
                                        </p:cTn>
                                        <p:tgtEl>
                                          <p:spTgt spid="21"/>
                                        </p:tgtEl>
                                      </p:cBhvr>
                                      <p:to x="100000" y="80000"/>
                                    </p:animScale>
                                    <p:animScale>
                                      <p:cBhvr>
                                        <p:cTn id="320" dur="166" decel="50000">
                                          <p:stCondLst>
                                            <p:cond delay="1338"/>
                                          </p:stCondLst>
                                        </p:cTn>
                                        <p:tgtEl>
                                          <p:spTgt spid="21"/>
                                        </p:tgtEl>
                                      </p:cBhvr>
                                      <p:to x="100000" y="100000"/>
                                    </p:animScale>
                                    <p:animScale>
                                      <p:cBhvr>
                                        <p:cTn id="321" dur="26">
                                          <p:stCondLst>
                                            <p:cond delay="1642"/>
                                          </p:stCondLst>
                                        </p:cTn>
                                        <p:tgtEl>
                                          <p:spTgt spid="21"/>
                                        </p:tgtEl>
                                      </p:cBhvr>
                                      <p:to x="100000" y="90000"/>
                                    </p:animScale>
                                    <p:animScale>
                                      <p:cBhvr>
                                        <p:cTn id="322" dur="166" decel="50000">
                                          <p:stCondLst>
                                            <p:cond delay="1668"/>
                                          </p:stCondLst>
                                        </p:cTn>
                                        <p:tgtEl>
                                          <p:spTgt spid="21"/>
                                        </p:tgtEl>
                                      </p:cBhvr>
                                      <p:to x="100000" y="100000"/>
                                    </p:animScale>
                                    <p:animScale>
                                      <p:cBhvr>
                                        <p:cTn id="323" dur="26">
                                          <p:stCondLst>
                                            <p:cond delay="1808"/>
                                          </p:stCondLst>
                                        </p:cTn>
                                        <p:tgtEl>
                                          <p:spTgt spid="21"/>
                                        </p:tgtEl>
                                      </p:cBhvr>
                                      <p:to x="100000" y="95000"/>
                                    </p:animScale>
                                    <p:animScale>
                                      <p:cBhvr>
                                        <p:cTn id="324" dur="166" decel="50000">
                                          <p:stCondLst>
                                            <p:cond delay="1834"/>
                                          </p:stCondLst>
                                        </p:cTn>
                                        <p:tgtEl>
                                          <p:spTgt spid="2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Choix de design : Palette &amp; Typographie</a:t>
            </a:r>
            <a:endParaRPr lang="en-US" sz="2200" dirty="0"/>
          </a:p>
        </p:txBody>
      </p:sp>
      <p:sp>
        <p:nvSpPr>
          <p:cNvPr id="5" name="Text 3"/>
          <p:cNvSpPr/>
          <p:nvPr/>
        </p:nvSpPr>
        <p:spPr>
          <a:xfrm>
            <a:off x="548640" y="1234440"/>
            <a:ext cx="4572000" cy="365760"/>
          </a:xfrm>
          <a:prstGeom prst="rect">
            <a:avLst/>
          </a:prstGeom>
          <a:noFill/>
          <a:ln/>
        </p:spPr>
        <p:txBody>
          <a:bodyPr wrap="square" rtlCol="0" anchor="ctr"/>
          <a:lstStyle/>
          <a:p>
            <a:pPr marL="0" indent="0">
              <a:buNone/>
            </a:pPr>
            <a:r>
              <a:rPr lang="en-US" sz="1500" b="1" dirty="0">
                <a:solidFill>
                  <a:srgbClr val="6B7280"/>
                </a:solidFill>
                <a:latin typeface="Calibri" pitchFamily="34" charset="0"/>
                <a:ea typeface="Calibri" pitchFamily="34" charset="-122"/>
                <a:cs typeface="Calibri" pitchFamily="34" charset="-120"/>
              </a:rPr>
              <a:t>Palette de couleurs</a:t>
            </a:r>
            <a:endParaRPr lang="en-US" sz="1500" dirty="0"/>
          </a:p>
        </p:txBody>
      </p:sp>
      <p:sp>
        <p:nvSpPr>
          <p:cNvPr id="6" name="Shape 4"/>
          <p:cNvSpPr/>
          <p:nvPr/>
        </p:nvSpPr>
        <p:spPr>
          <a:xfrm>
            <a:off x="548640" y="1645920"/>
            <a:ext cx="914400" cy="914400"/>
          </a:xfrm>
          <a:prstGeom prst="roundRect">
            <a:avLst>
              <a:gd name="adj" fmla="val 6000"/>
            </a:avLst>
          </a:prstGeom>
          <a:solidFill>
            <a:srgbClr val="0F0A1E"/>
          </a:solidFill>
          <a:ln w="12700">
            <a:solidFill>
              <a:srgbClr val="E5E7EB"/>
            </a:solidFill>
            <a:prstDash val="solid"/>
          </a:ln>
        </p:spPr>
        <p:txBody>
          <a:bodyPr/>
          <a:lstStyle/>
          <a:p>
            <a:endParaRPr lang="fr-FR"/>
          </a:p>
        </p:txBody>
      </p:sp>
      <p:sp>
        <p:nvSpPr>
          <p:cNvPr id="7" name="Text 5"/>
          <p:cNvSpPr/>
          <p:nvPr/>
        </p:nvSpPr>
        <p:spPr>
          <a:xfrm>
            <a:off x="457200" y="2606040"/>
            <a:ext cx="1097280" cy="27432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#0F0A1E</a:t>
            </a:r>
            <a:endParaRPr lang="en-US" sz="900" dirty="0"/>
          </a:p>
        </p:txBody>
      </p:sp>
      <p:sp>
        <p:nvSpPr>
          <p:cNvPr id="8" name="Text 6"/>
          <p:cNvSpPr/>
          <p:nvPr/>
        </p:nvSpPr>
        <p:spPr>
          <a:xfrm>
            <a:off x="457200" y="2834640"/>
            <a:ext cx="1097280" cy="457200"/>
          </a:xfrm>
          <a:prstGeom prst="rect">
            <a:avLst/>
          </a:prstGeom>
          <a:noFill/>
          <a:ln/>
        </p:spPr>
        <p:txBody>
          <a:bodyPr wrap="square"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Fond sombre</a:t>
            </a:r>
            <a:endParaRPr lang="en-US" sz="900" dirty="0"/>
          </a:p>
        </p:txBody>
      </p:sp>
      <p:sp>
        <p:nvSpPr>
          <p:cNvPr id="9" name="Shape 7"/>
          <p:cNvSpPr/>
          <p:nvPr/>
        </p:nvSpPr>
        <p:spPr>
          <a:xfrm>
            <a:off x="1627632" y="1645920"/>
            <a:ext cx="914400" cy="914400"/>
          </a:xfrm>
          <a:prstGeom prst="roundRect">
            <a:avLst>
              <a:gd name="adj" fmla="val 6000"/>
            </a:avLst>
          </a:prstGeom>
          <a:solidFill>
            <a:srgbClr val="00D4FF"/>
          </a:solidFill>
          <a:ln w="12700">
            <a:solidFill>
              <a:srgbClr val="E5E7EB"/>
            </a:solidFill>
            <a:prstDash val="solid"/>
          </a:ln>
        </p:spPr>
        <p:txBody>
          <a:bodyPr/>
          <a:lstStyle/>
          <a:p>
            <a:endParaRPr lang="fr-FR"/>
          </a:p>
        </p:txBody>
      </p:sp>
      <p:sp>
        <p:nvSpPr>
          <p:cNvPr id="10" name="Text 8"/>
          <p:cNvSpPr/>
          <p:nvPr/>
        </p:nvSpPr>
        <p:spPr>
          <a:xfrm>
            <a:off x="1536192" y="2606040"/>
            <a:ext cx="1097280" cy="27432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#00D4FF</a:t>
            </a:r>
            <a:endParaRPr lang="en-US" sz="900" dirty="0"/>
          </a:p>
        </p:txBody>
      </p:sp>
      <p:sp>
        <p:nvSpPr>
          <p:cNvPr id="11" name="Text 9"/>
          <p:cNvSpPr/>
          <p:nvPr/>
        </p:nvSpPr>
        <p:spPr>
          <a:xfrm>
            <a:off x="1536192" y="2834640"/>
            <a:ext cx="1097280" cy="457200"/>
          </a:xfrm>
          <a:prstGeom prst="rect">
            <a:avLst/>
          </a:prstGeom>
          <a:noFill/>
          <a:ln/>
        </p:spPr>
        <p:txBody>
          <a:bodyPr wrap="square"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Primaire Cyan</a:t>
            </a:r>
            <a:endParaRPr lang="en-US" sz="900" dirty="0"/>
          </a:p>
        </p:txBody>
      </p:sp>
      <p:sp>
        <p:nvSpPr>
          <p:cNvPr id="12" name="Shape 10"/>
          <p:cNvSpPr/>
          <p:nvPr/>
        </p:nvSpPr>
        <p:spPr>
          <a:xfrm>
            <a:off x="2706624" y="1645920"/>
            <a:ext cx="914400" cy="914400"/>
          </a:xfrm>
          <a:prstGeom prst="roundRect">
            <a:avLst>
              <a:gd name="adj" fmla="val 6000"/>
            </a:avLst>
          </a:prstGeom>
          <a:solidFill>
            <a:srgbClr val="A855F7"/>
          </a:solidFill>
          <a:ln w="12700">
            <a:solidFill>
              <a:srgbClr val="E5E7EB"/>
            </a:solidFill>
            <a:prstDash val="solid"/>
          </a:ln>
        </p:spPr>
        <p:txBody>
          <a:bodyPr/>
          <a:lstStyle/>
          <a:p>
            <a:endParaRPr lang="fr-FR"/>
          </a:p>
        </p:txBody>
      </p:sp>
      <p:sp>
        <p:nvSpPr>
          <p:cNvPr id="13" name="Text 11"/>
          <p:cNvSpPr/>
          <p:nvPr/>
        </p:nvSpPr>
        <p:spPr>
          <a:xfrm>
            <a:off x="2615184" y="2606040"/>
            <a:ext cx="1097280" cy="27432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#A855F7</a:t>
            </a:r>
            <a:endParaRPr lang="en-US" sz="900" dirty="0"/>
          </a:p>
        </p:txBody>
      </p:sp>
      <p:sp>
        <p:nvSpPr>
          <p:cNvPr id="14" name="Text 12"/>
          <p:cNvSpPr/>
          <p:nvPr/>
        </p:nvSpPr>
        <p:spPr>
          <a:xfrm>
            <a:off x="2615184" y="2834640"/>
            <a:ext cx="1097280" cy="457200"/>
          </a:xfrm>
          <a:prstGeom prst="rect">
            <a:avLst/>
          </a:prstGeom>
          <a:noFill/>
          <a:ln/>
        </p:spPr>
        <p:txBody>
          <a:bodyPr wrap="square"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Accent Violet</a:t>
            </a:r>
            <a:endParaRPr lang="en-US" sz="900" dirty="0"/>
          </a:p>
        </p:txBody>
      </p:sp>
      <p:sp>
        <p:nvSpPr>
          <p:cNvPr id="15" name="Shape 13"/>
          <p:cNvSpPr/>
          <p:nvPr/>
        </p:nvSpPr>
        <p:spPr>
          <a:xfrm>
            <a:off x="3785616" y="1645920"/>
            <a:ext cx="914400" cy="914400"/>
          </a:xfrm>
          <a:prstGeom prst="roundRect">
            <a:avLst>
              <a:gd name="adj" fmla="val 6000"/>
            </a:avLst>
          </a:prstGeom>
          <a:solidFill>
            <a:srgbClr val="1F2937"/>
          </a:solidFill>
          <a:ln w="12700">
            <a:solidFill>
              <a:srgbClr val="E5E7EB"/>
            </a:solidFill>
            <a:prstDash val="solid"/>
          </a:ln>
        </p:spPr>
        <p:txBody>
          <a:bodyPr/>
          <a:lstStyle/>
          <a:p>
            <a:endParaRPr lang="fr-FR"/>
          </a:p>
        </p:txBody>
      </p:sp>
      <p:sp>
        <p:nvSpPr>
          <p:cNvPr id="16" name="Text 14"/>
          <p:cNvSpPr/>
          <p:nvPr/>
        </p:nvSpPr>
        <p:spPr>
          <a:xfrm>
            <a:off x="3694176" y="2606040"/>
            <a:ext cx="1097280" cy="27432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#1F2937</a:t>
            </a:r>
            <a:endParaRPr lang="en-US" sz="900" dirty="0"/>
          </a:p>
        </p:txBody>
      </p:sp>
      <p:sp>
        <p:nvSpPr>
          <p:cNvPr id="17" name="Text 15"/>
          <p:cNvSpPr/>
          <p:nvPr/>
        </p:nvSpPr>
        <p:spPr>
          <a:xfrm>
            <a:off x="3694176" y="2834640"/>
            <a:ext cx="1097280" cy="457200"/>
          </a:xfrm>
          <a:prstGeom prst="rect">
            <a:avLst/>
          </a:prstGeom>
          <a:noFill/>
          <a:ln/>
        </p:spPr>
        <p:txBody>
          <a:bodyPr wrap="square"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Texte principal</a:t>
            </a:r>
            <a:endParaRPr lang="en-US" sz="900" dirty="0"/>
          </a:p>
        </p:txBody>
      </p:sp>
      <p:sp>
        <p:nvSpPr>
          <p:cNvPr id="18" name="Shape 16"/>
          <p:cNvSpPr/>
          <p:nvPr/>
        </p:nvSpPr>
        <p:spPr>
          <a:xfrm>
            <a:off x="4864608" y="1645920"/>
            <a:ext cx="914400" cy="914400"/>
          </a:xfrm>
          <a:prstGeom prst="roundRect">
            <a:avLst>
              <a:gd name="adj" fmla="val 6000"/>
            </a:avLst>
          </a:prstGeom>
          <a:solidFill>
            <a:srgbClr val="94A3B8"/>
          </a:solidFill>
          <a:ln w="12700">
            <a:solidFill>
              <a:srgbClr val="E5E7EB"/>
            </a:solidFill>
            <a:prstDash val="solid"/>
          </a:ln>
        </p:spPr>
        <p:txBody>
          <a:bodyPr/>
          <a:lstStyle/>
          <a:p>
            <a:endParaRPr lang="fr-FR"/>
          </a:p>
        </p:txBody>
      </p:sp>
      <p:sp>
        <p:nvSpPr>
          <p:cNvPr id="19" name="Text 17"/>
          <p:cNvSpPr/>
          <p:nvPr/>
        </p:nvSpPr>
        <p:spPr>
          <a:xfrm>
            <a:off x="4773168" y="2606040"/>
            <a:ext cx="1097280" cy="274320"/>
          </a:xfrm>
          <a:prstGeom prst="rect">
            <a:avLst/>
          </a:prstGeom>
          <a:noFill/>
          <a:ln/>
        </p:spPr>
        <p:txBody>
          <a:bodyPr wrap="square"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#94A3B8</a:t>
            </a:r>
            <a:endParaRPr lang="en-US" sz="900" dirty="0"/>
          </a:p>
        </p:txBody>
      </p:sp>
      <p:sp>
        <p:nvSpPr>
          <p:cNvPr id="20" name="Text 18"/>
          <p:cNvSpPr/>
          <p:nvPr/>
        </p:nvSpPr>
        <p:spPr>
          <a:xfrm>
            <a:off x="4773168" y="2834640"/>
            <a:ext cx="1097280" cy="457200"/>
          </a:xfrm>
          <a:prstGeom prst="rect">
            <a:avLst/>
          </a:prstGeom>
          <a:noFill/>
          <a:ln/>
        </p:spPr>
        <p:txBody>
          <a:bodyPr wrap="square" rtlCol="0" anchor="ctr"/>
          <a:lstStyle/>
          <a:p>
            <a:pPr marL="0" indent="0" algn="ctr">
              <a:buNone/>
            </a:pPr>
            <a:r>
              <a:rPr lang="en-US" sz="900" dirty="0">
                <a:solidFill>
                  <a:srgbClr val="1F2937"/>
                </a:solidFill>
                <a:latin typeface="Calibri" pitchFamily="34" charset="0"/>
                <a:ea typeface="Calibri" pitchFamily="34" charset="-122"/>
                <a:cs typeface="Calibri" pitchFamily="34" charset="-120"/>
              </a:rPr>
              <a:t>Texte secondaire</a:t>
            </a:r>
            <a:endParaRPr lang="en-US" sz="900" dirty="0"/>
          </a:p>
        </p:txBody>
      </p:sp>
      <p:sp>
        <p:nvSpPr>
          <p:cNvPr id="21" name="Text 19"/>
          <p:cNvSpPr/>
          <p:nvPr/>
        </p:nvSpPr>
        <p:spPr>
          <a:xfrm>
            <a:off x="548640" y="3520440"/>
            <a:ext cx="4572000" cy="365760"/>
          </a:xfrm>
          <a:prstGeom prst="rect">
            <a:avLst/>
          </a:prstGeom>
          <a:noFill/>
          <a:ln/>
        </p:spPr>
        <p:txBody>
          <a:bodyPr wrap="square" rtlCol="0" anchor="ctr"/>
          <a:lstStyle/>
          <a:p>
            <a:pPr marL="0" indent="0">
              <a:buNone/>
            </a:pPr>
            <a:r>
              <a:rPr lang="en-US" sz="1500" b="1" dirty="0">
                <a:solidFill>
                  <a:srgbClr val="6B7280"/>
                </a:solidFill>
                <a:latin typeface="Calibri" pitchFamily="34" charset="0"/>
                <a:ea typeface="Calibri" pitchFamily="34" charset="-122"/>
                <a:cs typeface="Calibri" pitchFamily="34" charset="-120"/>
              </a:rPr>
              <a:t>Typographie</a:t>
            </a:r>
            <a:endParaRPr lang="en-US" sz="1500" dirty="0"/>
          </a:p>
        </p:txBody>
      </p:sp>
      <p:sp>
        <p:nvSpPr>
          <p:cNvPr id="22" name="Shape 20"/>
          <p:cNvSpPr/>
          <p:nvPr/>
        </p:nvSpPr>
        <p:spPr>
          <a:xfrm>
            <a:off x="548640" y="3931920"/>
            <a:ext cx="3474720" cy="1051560"/>
          </a:xfrm>
          <a:prstGeom prst="roundRect">
            <a:avLst>
              <a:gd name="adj" fmla="val 6087"/>
            </a:avLst>
          </a:prstGeom>
          <a:solidFill>
            <a:srgbClr val="F4F1EC"/>
          </a:solidFill>
          <a:ln/>
        </p:spPr>
        <p:txBody>
          <a:bodyPr/>
          <a:lstStyle/>
          <a:p>
            <a:endParaRPr lang="fr-FR"/>
          </a:p>
        </p:txBody>
      </p:sp>
      <p:sp>
        <p:nvSpPr>
          <p:cNvPr id="23" name="Text 21"/>
          <p:cNvSpPr/>
          <p:nvPr/>
        </p:nvSpPr>
        <p:spPr>
          <a:xfrm>
            <a:off x="731520" y="4023360"/>
            <a:ext cx="3108960" cy="457200"/>
          </a:xfrm>
          <a:prstGeom prst="rect">
            <a:avLst/>
          </a:prstGeom>
          <a:noFill/>
          <a:ln/>
        </p:spPr>
        <p:txBody>
          <a:bodyPr wrap="square" rtlCol="0" anchor="ctr"/>
          <a:lstStyle/>
          <a:p>
            <a:pPr marL="0" indent="0">
              <a:buNone/>
            </a:pPr>
            <a:r>
              <a:rPr lang="en-US" sz="1600" b="1" dirty="0">
                <a:solidFill>
                  <a:srgbClr val="0B5E63"/>
                </a:solidFill>
                <a:latin typeface="Cambria" pitchFamily="34" charset="0"/>
                <a:ea typeface="Cambria" pitchFamily="34" charset="-122"/>
                <a:cs typeface="Cambria" pitchFamily="34" charset="-120"/>
              </a:rPr>
              <a:t>AfriTalent</a:t>
            </a:r>
            <a:endParaRPr lang="en-US" sz="1600" dirty="0"/>
          </a:p>
        </p:txBody>
      </p:sp>
      <p:sp>
        <p:nvSpPr>
          <p:cNvPr id="24" name="Text 22"/>
          <p:cNvSpPr/>
          <p:nvPr/>
        </p:nvSpPr>
        <p:spPr>
          <a:xfrm>
            <a:off x="731520" y="4480560"/>
            <a:ext cx="3108960" cy="3657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Orbitron — Titres &amp; Navbar</a:t>
            </a:r>
            <a:endParaRPr lang="en-US" sz="1100" dirty="0"/>
          </a:p>
        </p:txBody>
      </p:sp>
      <p:sp>
        <p:nvSpPr>
          <p:cNvPr id="25" name="Shape 23"/>
          <p:cNvSpPr/>
          <p:nvPr/>
        </p:nvSpPr>
        <p:spPr>
          <a:xfrm>
            <a:off x="4251960" y="3931920"/>
            <a:ext cx="3474720" cy="1051560"/>
          </a:xfrm>
          <a:prstGeom prst="roundRect">
            <a:avLst>
              <a:gd name="adj" fmla="val 6087"/>
            </a:avLst>
          </a:prstGeom>
          <a:solidFill>
            <a:srgbClr val="F4F1EC"/>
          </a:solidFill>
          <a:ln/>
        </p:spPr>
        <p:txBody>
          <a:bodyPr/>
          <a:lstStyle/>
          <a:p>
            <a:endParaRPr lang="fr-FR"/>
          </a:p>
        </p:txBody>
      </p:sp>
      <p:sp>
        <p:nvSpPr>
          <p:cNvPr id="26" name="Text 24"/>
          <p:cNvSpPr/>
          <p:nvPr/>
        </p:nvSpPr>
        <p:spPr>
          <a:xfrm>
            <a:off x="4434840" y="4023360"/>
            <a:ext cx="3108960" cy="457200"/>
          </a:xfrm>
          <a:prstGeom prst="rect">
            <a:avLst/>
          </a:prstGeom>
          <a:noFill/>
          <a:ln/>
        </p:spPr>
        <p:txBody>
          <a:bodyPr wrap="square" rtlCol="0" anchor="ctr"/>
          <a:lstStyle/>
          <a:p>
            <a:pPr marL="0" indent="0">
              <a:buNone/>
            </a:pPr>
            <a:r>
              <a:rPr lang="en-US" sz="1600" b="1" dirty="0">
                <a:solidFill>
                  <a:srgbClr val="0B5E63"/>
                </a:solidFill>
                <a:latin typeface="Cambria" pitchFamily="34" charset="0"/>
                <a:ea typeface="Cambria" pitchFamily="34" charset="-122"/>
                <a:cs typeface="Cambria" pitchFamily="34" charset="-120"/>
              </a:rPr>
              <a:t>Connectez vos talents</a:t>
            </a:r>
            <a:endParaRPr lang="en-US" sz="1600" dirty="0"/>
          </a:p>
        </p:txBody>
      </p:sp>
      <p:sp>
        <p:nvSpPr>
          <p:cNvPr id="27" name="Text 25"/>
          <p:cNvSpPr/>
          <p:nvPr/>
        </p:nvSpPr>
        <p:spPr>
          <a:xfrm>
            <a:off x="4434840" y="4480560"/>
            <a:ext cx="3108960" cy="3657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DM Sans — Corps de texte</a:t>
            </a:r>
            <a:endParaRPr lang="en-US" sz="1100" dirty="0"/>
          </a:p>
        </p:txBody>
      </p:sp>
      <p:sp>
        <p:nvSpPr>
          <p:cNvPr id="28" name="Shape 26"/>
          <p:cNvSpPr/>
          <p:nvPr/>
        </p:nvSpPr>
        <p:spPr>
          <a:xfrm>
            <a:off x="7955280" y="3931920"/>
            <a:ext cx="3474720" cy="1051560"/>
          </a:xfrm>
          <a:prstGeom prst="roundRect">
            <a:avLst>
              <a:gd name="adj" fmla="val 6087"/>
            </a:avLst>
          </a:prstGeom>
          <a:solidFill>
            <a:srgbClr val="F4F1EC"/>
          </a:solidFill>
          <a:ln/>
        </p:spPr>
        <p:txBody>
          <a:bodyPr/>
          <a:lstStyle/>
          <a:p>
            <a:endParaRPr lang="fr-FR"/>
          </a:p>
        </p:txBody>
      </p:sp>
      <p:sp>
        <p:nvSpPr>
          <p:cNvPr id="29" name="Text 27"/>
          <p:cNvSpPr/>
          <p:nvPr/>
        </p:nvSpPr>
        <p:spPr>
          <a:xfrm>
            <a:off x="8138160" y="4023360"/>
            <a:ext cx="3108960" cy="457200"/>
          </a:xfrm>
          <a:prstGeom prst="rect">
            <a:avLst/>
          </a:prstGeom>
          <a:noFill/>
          <a:ln/>
        </p:spPr>
        <p:txBody>
          <a:bodyPr wrap="square" rtlCol="0" anchor="ctr"/>
          <a:lstStyle/>
          <a:p>
            <a:pPr marL="0" indent="0">
              <a:buNone/>
            </a:pPr>
            <a:r>
              <a:rPr lang="en-US" sz="1600" b="1" dirty="0">
                <a:solidFill>
                  <a:srgbClr val="0B5E63"/>
                </a:solidFill>
                <a:latin typeface="Cambria" pitchFamily="34" charset="0"/>
                <a:ea typeface="Cambria" pitchFamily="34" charset="-122"/>
                <a:cs typeface="Cambria" pitchFamily="34" charset="-120"/>
              </a:rPr>
              <a:t>2 500+</a:t>
            </a:r>
            <a:endParaRPr lang="en-US" sz="1600" dirty="0"/>
          </a:p>
        </p:txBody>
      </p:sp>
      <p:sp>
        <p:nvSpPr>
          <p:cNvPr id="30" name="Text 28"/>
          <p:cNvSpPr/>
          <p:nvPr/>
        </p:nvSpPr>
        <p:spPr>
          <a:xfrm>
            <a:off x="8138160" y="4480560"/>
            <a:ext cx="3108960" cy="3657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Space Mono — Chiffres &amp; code</a:t>
            </a:r>
            <a:endParaRPr lang="en-US" sz="1100" dirty="0"/>
          </a:p>
        </p:txBody>
      </p:sp>
      <p:sp>
        <p:nvSpPr>
          <p:cNvPr id="31" name="Text 29"/>
          <p:cNvSpPr/>
          <p:nvPr/>
        </p:nvSpPr>
        <p:spPr>
          <a:xfrm>
            <a:off x="548640" y="5212080"/>
            <a:ext cx="4572000" cy="365760"/>
          </a:xfrm>
          <a:prstGeom prst="rect">
            <a:avLst/>
          </a:prstGeom>
          <a:noFill/>
          <a:ln/>
        </p:spPr>
        <p:txBody>
          <a:bodyPr wrap="square" rtlCol="0" anchor="ctr"/>
          <a:lstStyle/>
          <a:p>
            <a:pPr marL="0" indent="0">
              <a:buNone/>
            </a:pPr>
            <a:r>
              <a:rPr lang="en-US" sz="1500" b="1" dirty="0">
                <a:solidFill>
                  <a:srgbClr val="6B7280"/>
                </a:solidFill>
                <a:latin typeface="Calibri" pitchFamily="34" charset="0"/>
                <a:ea typeface="Calibri" pitchFamily="34" charset="-122"/>
                <a:cs typeface="Calibri" pitchFamily="34" charset="-120"/>
              </a:rPr>
              <a:t>Inspirations design</a:t>
            </a:r>
            <a:endParaRPr lang="en-US" sz="1500" dirty="0"/>
          </a:p>
        </p:txBody>
      </p:sp>
      <p:sp>
        <p:nvSpPr>
          <p:cNvPr id="32" name="Text 30"/>
          <p:cNvSpPr/>
          <p:nvPr/>
        </p:nvSpPr>
        <p:spPr>
          <a:xfrm>
            <a:off x="548640" y="5577840"/>
            <a:ext cx="10515600" cy="548640"/>
          </a:xfrm>
          <a:prstGeom prst="rect">
            <a:avLst/>
          </a:prstGeom>
          <a:noFill/>
          <a:ln/>
        </p:spPr>
        <p:txBody>
          <a:bodyPr wrap="square" rtlCol="0" anchor="ctr"/>
          <a:lstStyle/>
          <a:p>
            <a:pPr marL="0" indent="0">
              <a:buNone/>
            </a:pPr>
            <a:r>
              <a:rPr lang="en-US" sz="1250" dirty="0">
                <a:solidFill>
                  <a:srgbClr val="1F2937"/>
                </a:solidFill>
                <a:latin typeface="Calibri" pitchFamily="34" charset="0"/>
                <a:ea typeface="Calibri" pitchFamily="34" charset="-122"/>
                <a:cs typeface="Calibri" pitchFamily="34" charset="-120"/>
              </a:rPr>
              <a:t>Tendances Bento Grid 2026  ·  Awwwards (dark UI minimale)  ·  Contraste fort fond sombre / texte clair</a:t>
            </a:r>
            <a:endParaRPr lang="en-US" sz="1250" dirty="0"/>
          </a:p>
        </p:txBody>
      </p:sp>
      <p:sp>
        <p:nvSpPr>
          <p:cNvPr id="33" name="Text 31"/>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34" name="Text 32"/>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randombar(horizontal)">
                                      <p:cBhvr>
                                        <p:cTn id="10" dur="500"/>
                                        <p:tgtEl>
                                          <p:spTgt spid="3"/>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randombar(horizontal)">
                                      <p:cBhvr>
                                        <p:cTn id="25" dur="500"/>
                                        <p:tgtEl>
                                          <p:spTgt spid="8"/>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randombar(horizontal)">
                                      <p:cBhvr>
                                        <p:cTn id="28" dur="500"/>
                                        <p:tgtEl>
                                          <p:spTgt spid="9"/>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randombar(horizontal)">
                                      <p:cBhvr>
                                        <p:cTn id="31" dur="500"/>
                                        <p:tgtEl>
                                          <p:spTgt spid="10"/>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randombar(horizontal)">
                                      <p:cBhvr>
                                        <p:cTn id="34" dur="500"/>
                                        <p:tgtEl>
                                          <p:spTgt spid="11"/>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randombar(horizontal)">
                                      <p:cBhvr>
                                        <p:cTn id="37" dur="500"/>
                                        <p:tgtEl>
                                          <p:spTgt spid="12"/>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randombar(horizontal)">
                                      <p:cBhvr>
                                        <p:cTn id="40" dur="500"/>
                                        <p:tgtEl>
                                          <p:spTgt spid="13"/>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randombar(horizontal)">
                                      <p:cBhvr>
                                        <p:cTn id="43" dur="500"/>
                                        <p:tgtEl>
                                          <p:spTgt spid="14"/>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randombar(horizontal)">
                                      <p:cBhvr>
                                        <p:cTn id="46" dur="500"/>
                                        <p:tgtEl>
                                          <p:spTgt spid="15"/>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randombar(horizontal)">
                                      <p:cBhvr>
                                        <p:cTn id="49" dur="500"/>
                                        <p:tgtEl>
                                          <p:spTgt spid="16"/>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randombar(horizontal)">
                                      <p:cBhvr>
                                        <p:cTn id="52" dur="500"/>
                                        <p:tgtEl>
                                          <p:spTgt spid="17"/>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randombar(horizontal)">
                                      <p:cBhvr>
                                        <p:cTn id="55" dur="500"/>
                                        <p:tgtEl>
                                          <p:spTgt spid="1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randombar(horizontal)">
                                      <p:cBhvr>
                                        <p:cTn id="58" dur="500"/>
                                        <p:tgtEl>
                                          <p:spTgt spid="19"/>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randombar(horizontal)">
                                      <p:cBhvr>
                                        <p:cTn id="61" dur="500"/>
                                        <p:tgtEl>
                                          <p:spTgt spid="20"/>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randombar(horizontal)">
                                      <p:cBhvr>
                                        <p:cTn id="64" dur="500"/>
                                        <p:tgtEl>
                                          <p:spTgt spid="21"/>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randombar(horizontal)">
                                      <p:cBhvr>
                                        <p:cTn id="67" dur="500"/>
                                        <p:tgtEl>
                                          <p:spTgt spid="22"/>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randombar(horizontal)">
                                      <p:cBhvr>
                                        <p:cTn id="70" dur="500"/>
                                        <p:tgtEl>
                                          <p:spTgt spid="23"/>
                                        </p:tgtEl>
                                      </p:cBhvr>
                                    </p:animEffect>
                                  </p:childTnLst>
                                </p:cTn>
                              </p:par>
                              <p:par>
                                <p:cTn id="71" presetID="14" presetClass="entr" presetSubtype="1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randombar(horizontal)">
                                      <p:cBhvr>
                                        <p:cTn id="73" dur="500"/>
                                        <p:tgtEl>
                                          <p:spTgt spid="24"/>
                                        </p:tgtEl>
                                      </p:cBhvr>
                                    </p:animEffect>
                                  </p:childTnLst>
                                </p:cTn>
                              </p:par>
                              <p:par>
                                <p:cTn id="74" presetID="14" presetClass="entr" presetSubtype="1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randombar(horizontal)">
                                      <p:cBhvr>
                                        <p:cTn id="76" dur="500"/>
                                        <p:tgtEl>
                                          <p:spTgt spid="25"/>
                                        </p:tgtEl>
                                      </p:cBhvr>
                                    </p:animEffect>
                                  </p:childTnLst>
                                </p:cTn>
                              </p:par>
                              <p:par>
                                <p:cTn id="77" presetID="14" presetClass="entr" presetSubtype="1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randombar(horizontal)">
                                      <p:cBhvr>
                                        <p:cTn id="79" dur="500"/>
                                        <p:tgtEl>
                                          <p:spTgt spid="26"/>
                                        </p:tgtEl>
                                      </p:cBhvr>
                                    </p:animEffect>
                                  </p:childTnLst>
                                </p:cTn>
                              </p:par>
                              <p:par>
                                <p:cTn id="80" presetID="14" presetClass="entr" presetSubtype="1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randombar(horizontal)">
                                      <p:cBhvr>
                                        <p:cTn id="82" dur="500"/>
                                        <p:tgtEl>
                                          <p:spTgt spid="27"/>
                                        </p:tgtEl>
                                      </p:cBhvr>
                                    </p:animEffect>
                                  </p:childTnLst>
                                </p:cTn>
                              </p:par>
                              <p:par>
                                <p:cTn id="83" presetID="14" presetClass="entr" presetSubtype="1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randombar(horizontal)">
                                      <p:cBhvr>
                                        <p:cTn id="85" dur="500"/>
                                        <p:tgtEl>
                                          <p:spTgt spid="28"/>
                                        </p:tgtEl>
                                      </p:cBhvr>
                                    </p:animEffect>
                                  </p:childTnLst>
                                </p:cTn>
                              </p:par>
                              <p:par>
                                <p:cTn id="86" presetID="14" presetClass="entr" presetSubtype="1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randombar(horizontal)">
                                      <p:cBhvr>
                                        <p:cTn id="88" dur="500"/>
                                        <p:tgtEl>
                                          <p:spTgt spid="29"/>
                                        </p:tgtEl>
                                      </p:cBhvr>
                                    </p:animEffect>
                                  </p:childTnLst>
                                </p:cTn>
                              </p:par>
                              <p:par>
                                <p:cTn id="89" presetID="14" presetClass="entr" presetSubtype="1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randombar(horizontal)">
                                      <p:cBhvr>
                                        <p:cTn id="91" dur="500"/>
                                        <p:tgtEl>
                                          <p:spTgt spid="30"/>
                                        </p:tgtEl>
                                      </p:cBhvr>
                                    </p:animEffect>
                                  </p:childTnLst>
                                </p:cTn>
                              </p:par>
                              <p:par>
                                <p:cTn id="92" presetID="14" presetClass="entr" presetSubtype="1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randombar(horizontal)">
                                      <p:cBhvr>
                                        <p:cTn id="94" dur="500"/>
                                        <p:tgtEl>
                                          <p:spTgt spid="31"/>
                                        </p:tgtEl>
                                      </p:cBhvr>
                                    </p:animEffect>
                                  </p:childTnLst>
                                </p:cTn>
                              </p:par>
                              <p:par>
                                <p:cTn id="95" presetID="14" presetClass="entr" presetSubtype="1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randombar(horizontal)">
                                      <p:cBhvr>
                                        <p:cTn id="97" dur="500"/>
                                        <p:tgtEl>
                                          <p:spTgt spid="32"/>
                                        </p:tgtEl>
                                      </p:cBhvr>
                                    </p:animEffect>
                                  </p:childTnLst>
                                </p:cTn>
                              </p:par>
                              <p:par>
                                <p:cTn id="98" presetID="14" presetClass="entr" presetSubtype="1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randombar(horizontal)">
                                      <p:cBhvr>
                                        <p:cTn id="100" dur="500"/>
                                        <p:tgtEl>
                                          <p:spTgt spid="33"/>
                                        </p:tgtEl>
                                      </p:cBhvr>
                                    </p:animEffect>
                                  </p:childTnLst>
                                </p:cTn>
                              </p:par>
                              <p:par>
                                <p:cTn id="101" presetID="14" presetClass="entr" presetSubtype="1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randombar(horizontal)">
                                      <p:cBhvr>
                                        <p:cTn id="10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Architecture du site &amp; Pages</a:t>
            </a:r>
            <a:endParaRPr lang="en-US" sz="2200" dirty="0"/>
          </a:p>
        </p:txBody>
      </p:sp>
      <p:sp>
        <p:nvSpPr>
          <p:cNvPr id="5" name="Shape 3"/>
          <p:cNvSpPr/>
          <p:nvPr/>
        </p:nvSpPr>
        <p:spPr>
          <a:xfrm>
            <a:off x="548640" y="1280160"/>
            <a:ext cx="4206240" cy="4663440"/>
          </a:xfrm>
          <a:prstGeom prst="roundRect">
            <a:avLst>
              <a:gd name="adj" fmla="val 1739"/>
            </a:avLst>
          </a:prstGeom>
          <a:solidFill>
            <a:srgbClr val="083F42"/>
          </a:solidFill>
          <a:ln/>
        </p:spPr>
        <p:txBody>
          <a:bodyPr/>
          <a:lstStyle/>
          <a:p>
            <a:endParaRPr lang="fr-FR"/>
          </a:p>
        </p:txBody>
      </p:sp>
      <p:sp>
        <p:nvSpPr>
          <p:cNvPr id="6" name="Text 4"/>
          <p:cNvSpPr/>
          <p:nvPr/>
        </p:nvSpPr>
        <p:spPr>
          <a:xfrm>
            <a:off x="777240" y="1463040"/>
            <a:ext cx="374904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Arborescence des fichiers</a:t>
            </a:r>
            <a:endParaRPr lang="en-US" sz="1300" dirty="0"/>
          </a:p>
        </p:txBody>
      </p:sp>
      <p:sp>
        <p:nvSpPr>
          <p:cNvPr id="7" name="Text 5"/>
          <p:cNvSpPr/>
          <p:nvPr/>
        </p:nvSpPr>
        <p:spPr>
          <a:xfrm>
            <a:off x="777240" y="1965960"/>
            <a:ext cx="3749040" cy="3749040"/>
          </a:xfrm>
          <a:prstGeom prst="rect">
            <a:avLst/>
          </a:prstGeom>
          <a:noFill/>
          <a:ln/>
        </p:spPr>
        <p:txBody>
          <a:bodyPr wrap="square" rtlCol="0" anchor="ctr"/>
          <a:lstStyle/>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NOM-Prenom-AfriTalent/</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index.html</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freelances.html</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tarifs.html</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about.html</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contact.html</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css/</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style.css</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js/</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main.js</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images/</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docs/</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Presentation.pptx</a:t>
            </a:r>
            <a:endParaRPr lang="en-US" sz="1100" dirty="0"/>
          </a:p>
          <a:p>
            <a:pPr marL="0" indent="0">
              <a:lnSpc>
                <a:spcPts val="1500"/>
              </a:lnSpc>
              <a:buNone/>
            </a:pPr>
            <a:r>
              <a:rPr lang="en-US" sz="1100" dirty="0">
                <a:solidFill>
                  <a:srgbClr val="CFEAE7"/>
                </a:solidFill>
                <a:latin typeface="Courier New" pitchFamily="34" charset="0"/>
                <a:ea typeface="Courier New" pitchFamily="34" charset="-122"/>
                <a:cs typeface="Courier New" pitchFamily="34" charset="-120"/>
              </a:rPr>
              <a:t>  README.md</a:t>
            </a:r>
            <a:endParaRPr lang="en-US" sz="1100" dirty="0"/>
          </a:p>
        </p:txBody>
      </p:sp>
      <p:sp>
        <p:nvSpPr>
          <p:cNvPr id="8" name="Shape 6"/>
          <p:cNvSpPr/>
          <p:nvPr/>
        </p:nvSpPr>
        <p:spPr>
          <a:xfrm>
            <a:off x="5029200" y="1371600"/>
            <a:ext cx="6583680" cy="749808"/>
          </a:xfrm>
          <a:prstGeom prst="roundRect">
            <a:avLst>
              <a:gd name="adj" fmla="val 7317"/>
            </a:avLst>
          </a:prstGeom>
          <a:solidFill>
            <a:srgbClr val="F4F1EC"/>
          </a:solidFill>
          <a:ln/>
        </p:spPr>
        <p:txBody>
          <a:bodyPr/>
          <a:lstStyle/>
          <a:p>
            <a:endParaRPr lang="fr-FR"/>
          </a:p>
        </p:txBody>
      </p:sp>
      <p:sp>
        <p:nvSpPr>
          <p:cNvPr id="9" name="Text 7"/>
          <p:cNvSpPr/>
          <p:nvPr/>
        </p:nvSpPr>
        <p:spPr>
          <a:xfrm>
            <a:off x="5212080" y="1426464"/>
            <a:ext cx="2743200" cy="320040"/>
          </a:xfrm>
          <a:prstGeom prst="rect">
            <a:avLst/>
          </a:prstGeom>
          <a:noFill/>
          <a:ln/>
        </p:spPr>
        <p:txBody>
          <a:bodyPr wrap="square" rtlCol="0" anchor="ctr"/>
          <a:lstStyle/>
          <a:p>
            <a:pPr marL="0" indent="0">
              <a:buNone/>
            </a:pPr>
            <a:r>
              <a:rPr lang="en-US" sz="1300" b="1" dirty="0">
                <a:solidFill>
                  <a:srgbClr val="0B5E63"/>
                </a:solidFill>
                <a:latin typeface="Calibri" pitchFamily="34" charset="0"/>
                <a:ea typeface="Calibri" pitchFamily="34" charset="-122"/>
                <a:cs typeface="Calibri" pitchFamily="34" charset="-120"/>
              </a:rPr>
              <a:t>index.html</a:t>
            </a:r>
            <a:endParaRPr lang="en-US" sz="1300" dirty="0"/>
          </a:p>
        </p:txBody>
      </p:sp>
      <p:sp>
        <p:nvSpPr>
          <p:cNvPr id="10" name="Text 8"/>
          <p:cNvSpPr/>
          <p:nvPr/>
        </p:nvSpPr>
        <p:spPr>
          <a:xfrm>
            <a:off x="5212080" y="1737360"/>
            <a:ext cx="6217920" cy="3200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Accueil, hero, catégories, témoignages, CTA</a:t>
            </a:r>
            <a:endParaRPr lang="en-US" sz="1100" dirty="0"/>
          </a:p>
        </p:txBody>
      </p:sp>
      <p:sp>
        <p:nvSpPr>
          <p:cNvPr id="11" name="Shape 9"/>
          <p:cNvSpPr/>
          <p:nvPr/>
        </p:nvSpPr>
        <p:spPr>
          <a:xfrm>
            <a:off x="5029200" y="2286000"/>
            <a:ext cx="6583680" cy="749808"/>
          </a:xfrm>
          <a:prstGeom prst="roundRect">
            <a:avLst>
              <a:gd name="adj" fmla="val 7317"/>
            </a:avLst>
          </a:prstGeom>
          <a:solidFill>
            <a:srgbClr val="F4F1EC"/>
          </a:solidFill>
          <a:ln/>
        </p:spPr>
        <p:txBody>
          <a:bodyPr/>
          <a:lstStyle/>
          <a:p>
            <a:endParaRPr lang="fr-FR"/>
          </a:p>
        </p:txBody>
      </p:sp>
      <p:sp>
        <p:nvSpPr>
          <p:cNvPr id="12" name="Text 10"/>
          <p:cNvSpPr/>
          <p:nvPr/>
        </p:nvSpPr>
        <p:spPr>
          <a:xfrm>
            <a:off x="5212080" y="2340864"/>
            <a:ext cx="2743200" cy="320040"/>
          </a:xfrm>
          <a:prstGeom prst="rect">
            <a:avLst/>
          </a:prstGeom>
          <a:noFill/>
          <a:ln/>
        </p:spPr>
        <p:txBody>
          <a:bodyPr wrap="square" rtlCol="0" anchor="ctr"/>
          <a:lstStyle/>
          <a:p>
            <a:pPr marL="0" indent="0">
              <a:buNone/>
            </a:pPr>
            <a:r>
              <a:rPr lang="en-US" sz="1300" b="1" dirty="0">
                <a:solidFill>
                  <a:srgbClr val="0B5E63"/>
                </a:solidFill>
                <a:latin typeface="Calibri" pitchFamily="34" charset="0"/>
                <a:ea typeface="Calibri" pitchFamily="34" charset="-122"/>
                <a:cs typeface="Calibri" pitchFamily="34" charset="-120"/>
              </a:rPr>
              <a:t>freelances.html</a:t>
            </a:r>
            <a:endParaRPr lang="en-US" sz="1300" dirty="0"/>
          </a:p>
        </p:txBody>
      </p:sp>
      <p:sp>
        <p:nvSpPr>
          <p:cNvPr id="13" name="Text 11"/>
          <p:cNvSpPr/>
          <p:nvPr/>
        </p:nvSpPr>
        <p:spPr>
          <a:xfrm>
            <a:off x="5212080" y="2651760"/>
            <a:ext cx="6217920" cy="3200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Catalogue filtrable de 9 profils freelance</a:t>
            </a:r>
            <a:endParaRPr lang="en-US" sz="1100" dirty="0"/>
          </a:p>
        </p:txBody>
      </p:sp>
      <p:sp>
        <p:nvSpPr>
          <p:cNvPr id="14" name="Shape 12"/>
          <p:cNvSpPr/>
          <p:nvPr/>
        </p:nvSpPr>
        <p:spPr>
          <a:xfrm>
            <a:off x="5029200" y="3200400"/>
            <a:ext cx="6583680" cy="749808"/>
          </a:xfrm>
          <a:prstGeom prst="roundRect">
            <a:avLst>
              <a:gd name="adj" fmla="val 7317"/>
            </a:avLst>
          </a:prstGeom>
          <a:solidFill>
            <a:srgbClr val="F4F1EC"/>
          </a:solidFill>
          <a:ln/>
        </p:spPr>
        <p:txBody>
          <a:bodyPr/>
          <a:lstStyle/>
          <a:p>
            <a:endParaRPr lang="fr-FR"/>
          </a:p>
        </p:txBody>
      </p:sp>
      <p:sp>
        <p:nvSpPr>
          <p:cNvPr id="15" name="Text 13"/>
          <p:cNvSpPr/>
          <p:nvPr/>
        </p:nvSpPr>
        <p:spPr>
          <a:xfrm>
            <a:off x="5212080" y="3255264"/>
            <a:ext cx="2743200" cy="320040"/>
          </a:xfrm>
          <a:prstGeom prst="rect">
            <a:avLst/>
          </a:prstGeom>
          <a:noFill/>
          <a:ln/>
        </p:spPr>
        <p:txBody>
          <a:bodyPr wrap="square" rtlCol="0" anchor="ctr"/>
          <a:lstStyle/>
          <a:p>
            <a:pPr marL="0" indent="0">
              <a:buNone/>
            </a:pPr>
            <a:r>
              <a:rPr lang="en-US" sz="1300" b="1" dirty="0">
                <a:solidFill>
                  <a:srgbClr val="0B5E63"/>
                </a:solidFill>
                <a:latin typeface="Calibri" pitchFamily="34" charset="0"/>
                <a:ea typeface="Calibri" pitchFamily="34" charset="-122"/>
                <a:cs typeface="Calibri" pitchFamily="34" charset="-120"/>
              </a:rPr>
              <a:t>tarifs.html</a:t>
            </a:r>
            <a:endParaRPr lang="en-US" sz="1300" dirty="0"/>
          </a:p>
        </p:txBody>
      </p:sp>
      <p:sp>
        <p:nvSpPr>
          <p:cNvPr id="16" name="Text 14"/>
          <p:cNvSpPr/>
          <p:nvPr/>
        </p:nvSpPr>
        <p:spPr>
          <a:xfrm>
            <a:off x="5212080" y="3566160"/>
            <a:ext cx="6217920" cy="3200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3 plans tarifaires + FAQ accordion</a:t>
            </a:r>
            <a:endParaRPr lang="en-US" sz="1100" dirty="0"/>
          </a:p>
        </p:txBody>
      </p:sp>
      <p:sp>
        <p:nvSpPr>
          <p:cNvPr id="17" name="Shape 15"/>
          <p:cNvSpPr/>
          <p:nvPr/>
        </p:nvSpPr>
        <p:spPr>
          <a:xfrm>
            <a:off x="5029200" y="4114800"/>
            <a:ext cx="6583680" cy="749808"/>
          </a:xfrm>
          <a:prstGeom prst="roundRect">
            <a:avLst>
              <a:gd name="adj" fmla="val 7317"/>
            </a:avLst>
          </a:prstGeom>
          <a:solidFill>
            <a:srgbClr val="F4F1EC"/>
          </a:solidFill>
          <a:ln/>
        </p:spPr>
        <p:txBody>
          <a:bodyPr/>
          <a:lstStyle/>
          <a:p>
            <a:endParaRPr lang="fr-FR"/>
          </a:p>
        </p:txBody>
      </p:sp>
      <p:sp>
        <p:nvSpPr>
          <p:cNvPr id="18" name="Text 16"/>
          <p:cNvSpPr/>
          <p:nvPr/>
        </p:nvSpPr>
        <p:spPr>
          <a:xfrm>
            <a:off x="5212080" y="4169664"/>
            <a:ext cx="2743200" cy="320040"/>
          </a:xfrm>
          <a:prstGeom prst="rect">
            <a:avLst/>
          </a:prstGeom>
          <a:noFill/>
          <a:ln/>
        </p:spPr>
        <p:txBody>
          <a:bodyPr wrap="square" rtlCol="0" anchor="ctr"/>
          <a:lstStyle/>
          <a:p>
            <a:pPr marL="0" indent="0">
              <a:buNone/>
            </a:pPr>
            <a:r>
              <a:rPr lang="en-US" sz="1300" b="1" dirty="0">
                <a:solidFill>
                  <a:srgbClr val="0B5E63"/>
                </a:solidFill>
                <a:latin typeface="Calibri" pitchFamily="34" charset="0"/>
                <a:ea typeface="Calibri" pitchFamily="34" charset="-122"/>
                <a:cs typeface="Calibri" pitchFamily="34" charset="-120"/>
              </a:rPr>
              <a:t>about.html</a:t>
            </a:r>
            <a:endParaRPr lang="en-US" sz="1300" dirty="0"/>
          </a:p>
        </p:txBody>
      </p:sp>
      <p:sp>
        <p:nvSpPr>
          <p:cNvPr id="19" name="Text 17"/>
          <p:cNvSpPr/>
          <p:nvPr/>
        </p:nvSpPr>
        <p:spPr>
          <a:xfrm>
            <a:off x="5212080" y="4480560"/>
            <a:ext cx="6217920" cy="3200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Histoire, équipe, valeurs, chiffres clés</a:t>
            </a:r>
            <a:endParaRPr lang="en-US" sz="1100" dirty="0"/>
          </a:p>
        </p:txBody>
      </p:sp>
      <p:sp>
        <p:nvSpPr>
          <p:cNvPr id="20" name="Shape 18"/>
          <p:cNvSpPr/>
          <p:nvPr/>
        </p:nvSpPr>
        <p:spPr>
          <a:xfrm>
            <a:off x="5029200" y="5029200"/>
            <a:ext cx="6583680" cy="749808"/>
          </a:xfrm>
          <a:prstGeom prst="roundRect">
            <a:avLst>
              <a:gd name="adj" fmla="val 7317"/>
            </a:avLst>
          </a:prstGeom>
          <a:solidFill>
            <a:srgbClr val="F4F1EC"/>
          </a:solidFill>
          <a:ln/>
        </p:spPr>
        <p:txBody>
          <a:bodyPr/>
          <a:lstStyle/>
          <a:p>
            <a:endParaRPr lang="fr-FR"/>
          </a:p>
        </p:txBody>
      </p:sp>
      <p:sp>
        <p:nvSpPr>
          <p:cNvPr id="21" name="Text 19"/>
          <p:cNvSpPr/>
          <p:nvPr/>
        </p:nvSpPr>
        <p:spPr>
          <a:xfrm>
            <a:off x="5212080" y="5084064"/>
            <a:ext cx="2743200" cy="320040"/>
          </a:xfrm>
          <a:prstGeom prst="rect">
            <a:avLst/>
          </a:prstGeom>
          <a:noFill/>
          <a:ln/>
        </p:spPr>
        <p:txBody>
          <a:bodyPr wrap="square" rtlCol="0" anchor="ctr"/>
          <a:lstStyle/>
          <a:p>
            <a:pPr marL="0" indent="0">
              <a:buNone/>
            </a:pPr>
            <a:r>
              <a:rPr lang="en-US" sz="1300" b="1" dirty="0">
                <a:solidFill>
                  <a:srgbClr val="0B5E63"/>
                </a:solidFill>
                <a:latin typeface="Calibri" pitchFamily="34" charset="0"/>
                <a:ea typeface="Calibri" pitchFamily="34" charset="-122"/>
                <a:cs typeface="Calibri" pitchFamily="34" charset="-120"/>
              </a:rPr>
              <a:t>contact.html</a:t>
            </a:r>
            <a:endParaRPr lang="en-US" sz="1300" dirty="0"/>
          </a:p>
        </p:txBody>
      </p:sp>
      <p:sp>
        <p:nvSpPr>
          <p:cNvPr id="22" name="Text 20"/>
          <p:cNvSpPr/>
          <p:nvPr/>
        </p:nvSpPr>
        <p:spPr>
          <a:xfrm>
            <a:off x="5212080" y="5394960"/>
            <a:ext cx="6217920" cy="320040"/>
          </a:xfrm>
          <a:prstGeom prst="rect">
            <a:avLst/>
          </a:prstGeom>
          <a:noFill/>
          <a:ln/>
        </p:spPr>
        <p:txBody>
          <a:bodyPr wrap="square" rtlCol="0" anchor="ctr"/>
          <a:lstStyle/>
          <a:p>
            <a:pPr marL="0" indent="0">
              <a:buNone/>
            </a:pPr>
            <a:r>
              <a:rPr lang="en-US" sz="1100" dirty="0">
                <a:solidFill>
                  <a:srgbClr val="1F2937"/>
                </a:solidFill>
                <a:latin typeface="Calibri" pitchFamily="34" charset="0"/>
                <a:ea typeface="Calibri" pitchFamily="34" charset="-122"/>
                <a:cs typeface="Calibri" pitchFamily="34" charset="-120"/>
              </a:rPr>
              <a:t>Formulaire validé + carte Google Maps</a:t>
            </a:r>
            <a:endParaRPr lang="en-US" sz="1100" dirty="0"/>
          </a:p>
        </p:txBody>
      </p:sp>
      <p:sp>
        <p:nvSpPr>
          <p:cNvPr id="23" name="Text 21"/>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24" name="Text 22"/>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051560" y="44577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Fonctionnalités JavaScript</a:t>
            </a:r>
            <a:endParaRPr lang="en-US" sz="2200" dirty="0"/>
          </a:p>
        </p:txBody>
      </p:sp>
      <p:sp>
        <p:nvSpPr>
          <p:cNvPr id="5" name="Shape 3"/>
          <p:cNvSpPr/>
          <p:nvPr/>
        </p:nvSpPr>
        <p:spPr>
          <a:xfrm>
            <a:off x="548640" y="1371600"/>
            <a:ext cx="2606040" cy="2194560"/>
          </a:xfrm>
          <a:prstGeom prst="roundRect">
            <a:avLst>
              <a:gd name="adj" fmla="val 3333"/>
            </a:avLst>
          </a:prstGeom>
          <a:solidFill>
            <a:srgbClr val="F4F1EC"/>
          </a:solidFill>
          <a:ln/>
        </p:spPr>
        <p:txBody>
          <a:bodyPr/>
          <a:lstStyle/>
          <a:p>
            <a:endParaRPr lang="fr-FR"/>
          </a:p>
        </p:txBody>
      </p:sp>
      <p:sp>
        <p:nvSpPr>
          <p:cNvPr id="6" name="Shape 4"/>
          <p:cNvSpPr/>
          <p:nvPr/>
        </p:nvSpPr>
        <p:spPr>
          <a:xfrm>
            <a:off x="731520" y="1554480"/>
            <a:ext cx="457200" cy="457200"/>
          </a:xfrm>
          <a:prstGeom prst="ellipse">
            <a:avLst/>
          </a:prstGeom>
          <a:solidFill>
            <a:srgbClr val="0B5E63"/>
          </a:solidFill>
          <a:ln/>
        </p:spPr>
        <p:txBody>
          <a:bodyPr/>
          <a:lstStyle/>
          <a:p>
            <a:endParaRPr lang="fr-FR"/>
          </a:p>
        </p:txBody>
      </p:sp>
      <p:sp>
        <p:nvSpPr>
          <p:cNvPr id="7" name="Text 5"/>
          <p:cNvSpPr/>
          <p:nvPr/>
        </p:nvSpPr>
        <p:spPr>
          <a:xfrm>
            <a:off x="731520" y="155448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31520" y="214884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Dark / Light Mode</a:t>
            </a:r>
            <a:endParaRPr lang="en-US" sz="1300" dirty="0"/>
          </a:p>
        </p:txBody>
      </p:sp>
      <p:sp>
        <p:nvSpPr>
          <p:cNvPr id="9" name="Text 7"/>
          <p:cNvSpPr/>
          <p:nvPr/>
        </p:nvSpPr>
        <p:spPr>
          <a:xfrm>
            <a:off x="731520" y="269748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Toggle navbar · Persistance localStorage</a:t>
            </a:r>
            <a:endParaRPr lang="en-US" sz="1050" dirty="0"/>
          </a:p>
        </p:txBody>
      </p:sp>
      <p:sp>
        <p:nvSpPr>
          <p:cNvPr id="10" name="Shape 8"/>
          <p:cNvSpPr/>
          <p:nvPr/>
        </p:nvSpPr>
        <p:spPr>
          <a:xfrm>
            <a:off x="3337560" y="1371600"/>
            <a:ext cx="2606040" cy="2194560"/>
          </a:xfrm>
          <a:prstGeom prst="roundRect">
            <a:avLst>
              <a:gd name="adj" fmla="val 3333"/>
            </a:avLst>
          </a:prstGeom>
          <a:solidFill>
            <a:srgbClr val="F4F1EC"/>
          </a:solidFill>
          <a:ln/>
        </p:spPr>
        <p:txBody>
          <a:bodyPr/>
          <a:lstStyle/>
          <a:p>
            <a:endParaRPr lang="fr-FR"/>
          </a:p>
        </p:txBody>
      </p:sp>
      <p:sp>
        <p:nvSpPr>
          <p:cNvPr id="11" name="Shape 9"/>
          <p:cNvSpPr/>
          <p:nvPr/>
        </p:nvSpPr>
        <p:spPr>
          <a:xfrm>
            <a:off x="3520440" y="1554480"/>
            <a:ext cx="457200" cy="457200"/>
          </a:xfrm>
          <a:prstGeom prst="ellipse">
            <a:avLst/>
          </a:prstGeom>
          <a:solidFill>
            <a:srgbClr val="0B5E63"/>
          </a:solidFill>
          <a:ln/>
        </p:spPr>
        <p:txBody>
          <a:bodyPr/>
          <a:lstStyle/>
          <a:p>
            <a:endParaRPr lang="fr-FR"/>
          </a:p>
        </p:txBody>
      </p:sp>
      <p:sp>
        <p:nvSpPr>
          <p:cNvPr id="12" name="Text 10"/>
          <p:cNvSpPr/>
          <p:nvPr/>
        </p:nvSpPr>
        <p:spPr>
          <a:xfrm>
            <a:off x="3520440" y="155448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3520440" y="214884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Compteurs animés</a:t>
            </a:r>
            <a:endParaRPr lang="en-US" sz="1300" dirty="0"/>
          </a:p>
        </p:txBody>
      </p:sp>
      <p:sp>
        <p:nvSpPr>
          <p:cNvPr id="14" name="Text 12"/>
          <p:cNvSpPr/>
          <p:nvPr/>
        </p:nvSpPr>
        <p:spPr>
          <a:xfrm>
            <a:off x="3520440" y="269748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De 0 à la valeur cible au scroll</a:t>
            </a:r>
            <a:endParaRPr lang="en-US" sz="1050" dirty="0"/>
          </a:p>
        </p:txBody>
      </p:sp>
      <p:sp>
        <p:nvSpPr>
          <p:cNvPr id="15" name="Shape 13"/>
          <p:cNvSpPr/>
          <p:nvPr/>
        </p:nvSpPr>
        <p:spPr>
          <a:xfrm>
            <a:off x="6126480" y="1371600"/>
            <a:ext cx="2606040" cy="2194560"/>
          </a:xfrm>
          <a:prstGeom prst="roundRect">
            <a:avLst>
              <a:gd name="adj" fmla="val 3333"/>
            </a:avLst>
          </a:prstGeom>
          <a:solidFill>
            <a:srgbClr val="F4F1EC"/>
          </a:solidFill>
          <a:ln/>
        </p:spPr>
        <p:txBody>
          <a:bodyPr/>
          <a:lstStyle/>
          <a:p>
            <a:endParaRPr lang="fr-FR"/>
          </a:p>
        </p:txBody>
      </p:sp>
      <p:sp>
        <p:nvSpPr>
          <p:cNvPr id="16" name="Shape 14"/>
          <p:cNvSpPr/>
          <p:nvPr/>
        </p:nvSpPr>
        <p:spPr>
          <a:xfrm>
            <a:off x="6309360" y="1554480"/>
            <a:ext cx="457200" cy="457200"/>
          </a:xfrm>
          <a:prstGeom prst="ellipse">
            <a:avLst/>
          </a:prstGeom>
          <a:solidFill>
            <a:srgbClr val="0B5E63"/>
          </a:solidFill>
          <a:ln/>
        </p:spPr>
        <p:txBody>
          <a:bodyPr/>
          <a:lstStyle/>
          <a:p>
            <a:endParaRPr lang="fr-FR"/>
          </a:p>
        </p:txBody>
      </p:sp>
      <p:sp>
        <p:nvSpPr>
          <p:cNvPr id="17" name="Text 15"/>
          <p:cNvSpPr/>
          <p:nvPr/>
        </p:nvSpPr>
        <p:spPr>
          <a:xfrm>
            <a:off x="6309360" y="155448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6309360" y="214884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Filtrage dynamique</a:t>
            </a:r>
            <a:endParaRPr lang="en-US" sz="1300" dirty="0"/>
          </a:p>
        </p:txBody>
      </p:sp>
      <p:sp>
        <p:nvSpPr>
          <p:cNvPr id="19" name="Text 17"/>
          <p:cNvSpPr/>
          <p:nvPr/>
        </p:nvSpPr>
        <p:spPr>
          <a:xfrm>
            <a:off x="6309360" y="269748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Freelances filtrés par catégorie sans rechargement</a:t>
            </a:r>
            <a:endParaRPr lang="en-US" sz="1050" dirty="0"/>
          </a:p>
        </p:txBody>
      </p:sp>
      <p:sp>
        <p:nvSpPr>
          <p:cNvPr id="20" name="Shape 18"/>
          <p:cNvSpPr/>
          <p:nvPr/>
        </p:nvSpPr>
        <p:spPr>
          <a:xfrm>
            <a:off x="8915400" y="1371600"/>
            <a:ext cx="2606040" cy="2194560"/>
          </a:xfrm>
          <a:prstGeom prst="roundRect">
            <a:avLst>
              <a:gd name="adj" fmla="val 3333"/>
            </a:avLst>
          </a:prstGeom>
          <a:solidFill>
            <a:srgbClr val="F4F1EC"/>
          </a:solidFill>
          <a:ln/>
        </p:spPr>
        <p:txBody>
          <a:bodyPr/>
          <a:lstStyle/>
          <a:p>
            <a:endParaRPr lang="fr-FR"/>
          </a:p>
        </p:txBody>
      </p:sp>
      <p:sp>
        <p:nvSpPr>
          <p:cNvPr id="21" name="Shape 19"/>
          <p:cNvSpPr/>
          <p:nvPr/>
        </p:nvSpPr>
        <p:spPr>
          <a:xfrm>
            <a:off x="9098280" y="1554480"/>
            <a:ext cx="457200" cy="457200"/>
          </a:xfrm>
          <a:prstGeom prst="ellipse">
            <a:avLst/>
          </a:prstGeom>
          <a:solidFill>
            <a:srgbClr val="0B5E63"/>
          </a:solidFill>
          <a:ln/>
        </p:spPr>
        <p:txBody>
          <a:bodyPr/>
          <a:lstStyle/>
          <a:p>
            <a:endParaRPr lang="fr-FR"/>
          </a:p>
        </p:txBody>
      </p:sp>
      <p:sp>
        <p:nvSpPr>
          <p:cNvPr id="22" name="Text 20"/>
          <p:cNvSpPr/>
          <p:nvPr/>
        </p:nvSpPr>
        <p:spPr>
          <a:xfrm>
            <a:off x="9098280" y="155448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p:nvPr/>
        </p:nvSpPr>
        <p:spPr>
          <a:xfrm>
            <a:off x="9098280" y="214884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Validation formulaire</a:t>
            </a:r>
            <a:endParaRPr lang="en-US" sz="1300" dirty="0"/>
          </a:p>
        </p:txBody>
      </p:sp>
      <p:sp>
        <p:nvSpPr>
          <p:cNvPr id="24" name="Text 22"/>
          <p:cNvSpPr/>
          <p:nvPr/>
        </p:nvSpPr>
        <p:spPr>
          <a:xfrm>
            <a:off x="9098280" y="269748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Regex email · erreurs sous chaque champ</a:t>
            </a:r>
            <a:endParaRPr lang="en-US" sz="1050" dirty="0"/>
          </a:p>
        </p:txBody>
      </p:sp>
      <p:sp>
        <p:nvSpPr>
          <p:cNvPr id="25" name="Shape 23"/>
          <p:cNvSpPr/>
          <p:nvPr/>
        </p:nvSpPr>
        <p:spPr>
          <a:xfrm>
            <a:off x="548640" y="3794760"/>
            <a:ext cx="2606040" cy="2194560"/>
          </a:xfrm>
          <a:prstGeom prst="roundRect">
            <a:avLst>
              <a:gd name="adj" fmla="val 3333"/>
            </a:avLst>
          </a:prstGeom>
          <a:solidFill>
            <a:srgbClr val="F4F1EC"/>
          </a:solidFill>
          <a:ln/>
        </p:spPr>
        <p:txBody>
          <a:bodyPr/>
          <a:lstStyle/>
          <a:p>
            <a:endParaRPr lang="fr-FR"/>
          </a:p>
        </p:txBody>
      </p:sp>
      <p:sp>
        <p:nvSpPr>
          <p:cNvPr id="26" name="Shape 24"/>
          <p:cNvSpPr/>
          <p:nvPr/>
        </p:nvSpPr>
        <p:spPr>
          <a:xfrm>
            <a:off x="731520" y="3977640"/>
            <a:ext cx="457200" cy="457200"/>
          </a:xfrm>
          <a:prstGeom prst="ellipse">
            <a:avLst/>
          </a:prstGeom>
          <a:solidFill>
            <a:srgbClr val="0B5E63"/>
          </a:solidFill>
          <a:ln/>
        </p:spPr>
        <p:txBody>
          <a:bodyPr/>
          <a:lstStyle/>
          <a:p>
            <a:endParaRPr lang="fr-FR"/>
          </a:p>
        </p:txBody>
      </p:sp>
      <p:sp>
        <p:nvSpPr>
          <p:cNvPr id="27" name="Text 25"/>
          <p:cNvSpPr/>
          <p:nvPr/>
        </p:nvSpPr>
        <p:spPr>
          <a:xfrm>
            <a:off x="731520" y="39776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8" name="Text 26"/>
          <p:cNvSpPr/>
          <p:nvPr/>
        </p:nvSpPr>
        <p:spPr>
          <a:xfrm>
            <a:off x="731520" y="457200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Navbar dynamique</a:t>
            </a:r>
            <a:endParaRPr lang="en-US" sz="1300" dirty="0"/>
          </a:p>
        </p:txBody>
      </p:sp>
      <p:sp>
        <p:nvSpPr>
          <p:cNvPr id="29" name="Text 27"/>
          <p:cNvSpPr/>
          <p:nvPr/>
        </p:nvSpPr>
        <p:spPr>
          <a:xfrm>
            <a:off x="731520" y="512064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Fond + ombre au défilement</a:t>
            </a:r>
            <a:endParaRPr lang="en-US" sz="1050" dirty="0"/>
          </a:p>
        </p:txBody>
      </p:sp>
      <p:sp>
        <p:nvSpPr>
          <p:cNvPr id="30" name="Shape 28"/>
          <p:cNvSpPr/>
          <p:nvPr/>
        </p:nvSpPr>
        <p:spPr>
          <a:xfrm>
            <a:off x="3337560" y="3794760"/>
            <a:ext cx="2606040" cy="2194560"/>
          </a:xfrm>
          <a:prstGeom prst="roundRect">
            <a:avLst>
              <a:gd name="adj" fmla="val 3333"/>
            </a:avLst>
          </a:prstGeom>
          <a:solidFill>
            <a:srgbClr val="F4F1EC"/>
          </a:solidFill>
          <a:ln/>
        </p:spPr>
        <p:txBody>
          <a:bodyPr/>
          <a:lstStyle/>
          <a:p>
            <a:endParaRPr lang="fr-FR"/>
          </a:p>
        </p:txBody>
      </p:sp>
      <p:sp>
        <p:nvSpPr>
          <p:cNvPr id="31" name="Shape 29"/>
          <p:cNvSpPr/>
          <p:nvPr/>
        </p:nvSpPr>
        <p:spPr>
          <a:xfrm>
            <a:off x="3520440" y="3977640"/>
            <a:ext cx="457200" cy="457200"/>
          </a:xfrm>
          <a:prstGeom prst="ellipse">
            <a:avLst/>
          </a:prstGeom>
          <a:solidFill>
            <a:srgbClr val="0B5E63"/>
          </a:solidFill>
          <a:ln/>
        </p:spPr>
        <p:txBody>
          <a:bodyPr/>
          <a:lstStyle/>
          <a:p>
            <a:endParaRPr lang="fr-FR"/>
          </a:p>
        </p:txBody>
      </p:sp>
      <p:sp>
        <p:nvSpPr>
          <p:cNvPr id="32" name="Text 30"/>
          <p:cNvSpPr/>
          <p:nvPr/>
        </p:nvSpPr>
        <p:spPr>
          <a:xfrm>
            <a:off x="3520440" y="39776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3" name="Text 31"/>
          <p:cNvSpPr/>
          <p:nvPr/>
        </p:nvSpPr>
        <p:spPr>
          <a:xfrm>
            <a:off x="3520440" y="457200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Bouton retour en haut</a:t>
            </a:r>
            <a:endParaRPr lang="en-US" sz="1300" dirty="0"/>
          </a:p>
        </p:txBody>
      </p:sp>
      <p:sp>
        <p:nvSpPr>
          <p:cNvPr id="34" name="Text 32"/>
          <p:cNvSpPr/>
          <p:nvPr/>
        </p:nvSpPr>
        <p:spPr>
          <a:xfrm>
            <a:off x="3520440" y="512064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Apparaît à 200px de scroll</a:t>
            </a:r>
            <a:endParaRPr lang="en-US" sz="1050" dirty="0"/>
          </a:p>
        </p:txBody>
      </p:sp>
      <p:sp>
        <p:nvSpPr>
          <p:cNvPr id="35" name="Shape 33"/>
          <p:cNvSpPr/>
          <p:nvPr/>
        </p:nvSpPr>
        <p:spPr>
          <a:xfrm>
            <a:off x="6126480" y="3794760"/>
            <a:ext cx="2606040" cy="2194560"/>
          </a:xfrm>
          <a:prstGeom prst="roundRect">
            <a:avLst>
              <a:gd name="adj" fmla="val 3333"/>
            </a:avLst>
          </a:prstGeom>
          <a:solidFill>
            <a:srgbClr val="F4F1EC"/>
          </a:solidFill>
          <a:ln/>
        </p:spPr>
        <p:txBody>
          <a:bodyPr/>
          <a:lstStyle/>
          <a:p>
            <a:endParaRPr lang="fr-FR"/>
          </a:p>
        </p:txBody>
      </p:sp>
      <p:sp>
        <p:nvSpPr>
          <p:cNvPr id="36" name="Shape 34"/>
          <p:cNvSpPr/>
          <p:nvPr/>
        </p:nvSpPr>
        <p:spPr>
          <a:xfrm>
            <a:off x="6309360" y="3977640"/>
            <a:ext cx="457200" cy="457200"/>
          </a:xfrm>
          <a:prstGeom prst="ellipse">
            <a:avLst/>
          </a:prstGeom>
          <a:solidFill>
            <a:srgbClr val="0B5E63"/>
          </a:solidFill>
          <a:ln/>
        </p:spPr>
        <p:txBody>
          <a:bodyPr/>
          <a:lstStyle/>
          <a:p>
            <a:endParaRPr lang="fr-FR"/>
          </a:p>
        </p:txBody>
      </p:sp>
      <p:sp>
        <p:nvSpPr>
          <p:cNvPr id="37" name="Text 35"/>
          <p:cNvSpPr/>
          <p:nvPr/>
        </p:nvSpPr>
        <p:spPr>
          <a:xfrm>
            <a:off x="6309360" y="3977640"/>
            <a:ext cx="457200" cy="45720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38" name="Text 36"/>
          <p:cNvSpPr/>
          <p:nvPr/>
        </p:nvSpPr>
        <p:spPr>
          <a:xfrm>
            <a:off x="6309360" y="4572000"/>
            <a:ext cx="2286000" cy="548640"/>
          </a:xfrm>
          <a:prstGeom prst="rect">
            <a:avLst/>
          </a:prstGeom>
          <a:noFill/>
          <a:ln/>
        </p:spPr>
        <p:txBody>
          <a:bodyPr wrap="square" rtlCol="0" anchor="ctr"/>
          <a:lstStyle/>
          <a:p>
            <a:pPr marL="0" indent="0">
              <a:buNone/>
            </a:pPr>
            <a:r>
              <a:rPr lang="en-US" sz="1300" b="1" dirty="0">
                <a:solidFill>
                  <a:srgbClr val="1F2937"/>
                </a:solidFill>
                <a:latin typeface="Calibri" pitchFamily="34" charset="0"/>
                <a:ea typeface="Calibri" pitchFamily="34" charset="-122"/>
                <a:cs typeface="Calibri" pitchFamily="34" charset="-120"/>
              </a:rPr>
              <a:t>Animations fade-in</a:t>
            </a:r>
            <a:endParaRPr lang="en-US" sz="1300" dirty="0"/>
          </a:p>
        </p:txBody>
      </p:sp>
      <p:sp>
        <p:nvSpPr>
          <p:cNvPr id="39" name="Text 37"/>
          <p:cNvSpPr/>
          <p:nvPr/>
        </p:nvSpPr>
        <p:spPr>
          <a:xfrm>
            <a:off x="6309360" y="5120640"/>
            <a:ext cx="2286000" cy="77724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Sections en fondu via IntersectionObserver</a:t>
            </a:r>
            <a:endParaRPr lang="en-US" sz="1050" dirty="0"/>
          </a:p>
        </p:txBody>
      </p:sp>
      <p:sp>
        <p:nvSpPr>
          <p:cNvPr id="40" name="Text 38"/>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41" name="Text 39"/>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fill="hold"/>
                                        <p:tgtEl>
                                          <p:spTgt spid="6"/>
                                        </p:tgtEl>
                                        <p:attrNameLst>
                                          <p:attrName>ppt_x</p:attrName>
                                        </p:attrNameLst>
                                      </p:cBhvr>
                                      <p:tavLst>
                                        <p:tav tm="0">
                                          <p:val>
                                            <p:strVal val="#ppt_x"/>
                                          </p:val>
                                        </p:tav>
                                        <p:tav tm="100000">
                                          <p:val>
                                            <p:strVal val="#ppt_x"/>
                                          </p:val>
                                        </p:tav>
                                      </p:tavLst>
                                    </p:anim>
                                    <p:anim calcmode="lin" valueType="num">
                                      <p:cBhvr>
                                        <p:cTn id="14" dur="5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anim calcmode="lin" valueType="num">
                                      <p:cBhvr>
                                        <p:cTn id="18" dur="500" fill="hold"/>
                                        <p:tgtEl>
                                          <p:spTgt spid="7"/>
                                        </p:tgtEl>
                                        <p:attrNameLst>
                                          <p:attrName>ppt_x</p:attrName>
                                        </p:attrNameLst>
                                      </p:cBhvr>
                                      <p:tavLst>
                                        <p:tav tm="0">
                                          <p:val>
                                            <p:strVal val="#ppt_x"/>
                                          </p:val>
                                        </p:tav>
                                        <p:tav tm="100000">
                                          <p:val>
                                            <p:strVal val="#ppt_x"/>
                                          </p:val>
                                        </p:tav>
                                      </p:tavLst>
                                    </p:anim>
                                    <p:anim calcmode="lin" valueType="num">
                                      <p:cBhvr>
                                        <p:cTn id="19" dur="5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anim calcmode="lin" valueType="num">
                                      <p:cBhvr>
                                        <p:cTn id="23" dur="500" fill="hold"/>
                                        <p:tgtEl>
                                          <p:spTgt spid="8"/>
                                        </p:tgtEl>
                                        <p:attrNameLst>
                                          <p:attrName>ppt_x</p:attrName>
                                        </p:attrNameLst>
                                      </p:cBhvr>
                                      <p:tavLst>
                                        <p:tav tm="0">
                                          <p:val>
                                            <p:strVal val="#ppt_x"/>
                                          </p:val>
                                        </p:tav>
                                        <p:tav tm="100000">
                                          <p:val>
                                            <p:strVal val="#ppt_x"/>
                                          </p:val>
                                        </p:tav>
                                      </p:tavLst>
                                    </p:anim>
                                    <p:anim calcmode="lin" valueType="num">
                                      <p:cBhvr>
                                        <p:cTn id="24" dur="500" fill="hold"/>
                                        <p:tgtEl>
                                          <p:spTgt spid="8"/>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anim calcmode="lin" valueType="num">
                                      <p:cBhvr>
                                        <p:cTn id="28" dur="500" fill="hold"/>
                                        <p:tgtEl>
                                          <p:spTgt spid="9"/>
                                        </p:tgtEl>
                                        <p:attrNameLst>
                                          <p:attrName>ppt_x</p:attrName>
                                        </p:attrNameLst>
                                      </p:cBhvr>
                                      <p:tavLst>
                                        <p:tav tm="0">
                                          <p:val>
                                            <p:strVal val="#ppt_x"/>
                                          </p:val>
                                        </p:tav>
                                        <p:tav tm="100000">
                                          <p:val>
                                            <p:strVal val="#ppt_x"/>
                                          </p:val>
                                        </p:tav>
                                      </p:tavLst>
                                    </p:anim>
                                    <p:anim calcmode="lin" valueType="num">
                                      <p:cBhvr>
                                        <p:cTn id="29" dur="500" fill="hold"/>
                                        <p:tgtEl>
                                          <p:spTgt spid="9"/>
                                        </p:tgtEl>
                                        <p:attrNameLst>
                                          <p:attrName>ppt_y</p:attrName>
                                        </p:attrNameLst>
                                      </p:cBhvr>
                                      <p:tavLst>
                                        <p:tav tm="0">
                                          <p:val>
                                            <p:strVal val="#ppt_y+.1"/>
                                          </p:val>
                                        </p:tav>
                                        <p:tav tm="100000">
                                          <p:val>
                                            <p:strVal val="#ppt_y"/>
                                          </p:val>
                                        </p:tav>
                                      </p:tavLst>
                                    </p:anim>
                                  </p:childTnLst>
                                </p:cTn>
                              </p:par>
                            </p:childTnLst>
                          </p:cTn>
                        </p:par>
                        <p:par>
                          <p:cTn id="30" fill="hold">
                            <p:stCondLst>
                              <p:cond delay="500"/>
                            </p:stCondLst>
                            <p:childTnLst>
                              <p:par>
                                <p:cTn id="31" presetID="42" presetClass="entr" presetSubtype="0"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anim calcmode="lin" valueType="num">
                                      <p:cBhvr>
                                        <p:cTn id="34" dur="500" fill="hold"/>
                                        <p:tgtEl>
                                          <p:spTgt spid="10"/>
                                        </p:tgtEl>
                                        <p:attrNameLst>
                                          <p:attrName>ppt_x</p:attrName>
                                        </p:attrNameLst>
                                      </p:cBhvr>
                                      <p:tavLst>
                                        <p:tav tm="0">
                                          <p:val>
                                            <p:strVal val="#ppt_x"/>
                                          </p:val>
                                        </p:tav>
                                        <p:tav tm="100000">
                                          <p:val>
                                            <p:strVal val="#ppt_x"/>
                                          </p:val>
                                        </p:tav>
                                      </p:tavLst>
                                    </p:anim>
                                    <p:anim calcmode="lin" valueType="num">
                                      <p:cBhvr>
                                        <p:cTn id="35" dur="500" fill="hold"/>
                                        <p:tgtEl>
                                          <p:spTgt spid="10"/>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42" presetClass="entr" presetSubtype="0"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anim calcmode="lin" valueType="num">
                                      <p:cBhvr>
                                        <p:cTn id="40" dur="500" fill="hold"/>
                                        <p:tgtEl>
                                          <p:spTgt spid="11"/>
                                        </p:tgtEl>
                                        <p:attrNameLst>
                                          <p:attrName>ppt_x</p:attrName>
                                        </p:attrNameLst>
                                      </p:cBhvr>
                                      <p:tavLst>
                                        <p:tav tm="0">
                                          <p:val>
                                            <p:strVal val="#ppt_x"/>
                                          </p:val>
                                        </p:tav>
                                        <p:tav tm="100000">
                                          <p:val>
                                            <p:strVal val="#ppt_x"/>
                                          </p:val>
                                        </p:tav>
                                      </p:tavLst>
                                    </p:anim>
                                    <p:anim calcmode="lin" valueType="num">
                                      <p:cBhvr>
                                        <p:cTn id="41" dur="500" fill="hold"/>
                                        <p:tgtEl>
                                          <p:spTgt spid="11"/>
                                        </p:tgtEl>
                                        <p:attrNameLst>
                                          <p:attrName>ppt_y</p:attrName>
                                        </p:attrNameLst>
                                      </p:cBhvr>
                                      <p:tavLst>
                                        <p:tav tm="0">
                                          <p:val>
                                            <p:strVal val="#ppt_y+.1"/>
                                          </p:val>
                                        </p:tav>
                                        <p:tav tm="100000">
                                          <p:val>
                                            <p:strVal val="#ppt_y"/>
                                          </p:val>
                                        </p:tav>
                                      </p:tavLst>
                                    </p:anim>
                                  </p:childTnLst>
                                </p:cTn>
                              </p:par>
                            </p:childTnLst>
                          </p:cTn>
                        </p:par>
                        <p:par>
                          <p:cTn id="42" fill="hold">
                            <p:stCondLst>
                              <p:cond delay="1500"/>
                            </p:stCondLst>
                            <p:childTnLst>
                              <p:par>
                                <p:cTn id="43" presetID="42" presetClass="entr" presetSubtype="0"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anim calcmode="lin" valueType="num">
                                      <p:cBhvr>
                                        <p:cTn id="46" dur="500" fill="hold"/>
                                        <p:tgtEl>
                                          <p:spTgt spid="12"/>
                                        </p:tgtEl>
                                        <p:attrNameLst>
                                          <p:attrName>ppt_x</p:attrName>
                                        </p:attrNameLst>
                                      </p:cBhvr>
                                      <p:tavLst>
                                        <p:tav tm="0">
                                          <p:val>
                                            <p:strVal val="#ppt_x"/>
                                          </p:val>
                                        </p:tav>
                                        <p:tav tm="100000">
                                          <p:val>
                                            <p:strVal val="#ppt_x"/>
                                          </p:val>
                                        </p:tav>
                                      </p:tavLst>
                                    </p:anim>
                                    <p:anim calcmode="lin" valueType="num">
                                      <p:cBhvr>
                                        <p:cTn id="47" dur="500" fill="hold"/>
                                        <p:tgtEl>
                                          <p:spTgt spid="12"/>
                                        </p:tgtEl>
                                        <p:attrNameLst>
                                          <p:attrName>ppt_y</p:attrName>
                                        </p:attrNameLst>
                                      </p:cBhvr>
                                      <p:tavLst>
                                        <p:tav tm="0">
                                          <p:val>
                                            <p:strVal val="#ppt_y+.1"/>
                                          </p:val>
                                        </p:tav>
                                        <p:tav tm="100000">
                                          <p:val>
                                            <p:strVal val="#ppt_y"/>
                                          </p:val>
                                        </p:tav>
                                      </p:tavLst>
                                    </p:anim>
                                  </p:childTnLst>
                                </p:cTn>
                              </p:par>
                            </p:childTnLst>
                          </p:cTn>
                        </p:par>
                        <p:par>
                          <p:cTn id="48" fill="hold">
                            <p:stCondLst>
                              <p:cond delay="2000"/>
                            </p:stCondLst>
                            <p:childTnLst>
                              <p:par>
                                <p:cTn id="49" presetID="42" presetClass="entr" presetSubtype="0"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anim calcmode="lin" valueType="num">
                                      <p:cBhvr>
                                        <p:cTn id="52" dur="500" fill="hold"/>
                                        <p:tgtEl>
                                          <p:spTgt spid="13"/>
                                        </p:tgtEl>
                                        <p:attrNameLst>
                                          <p:attrName>ppt_x</p:attrName>
                                        </p:attrNameLst>
                                      </p:cBhvr>
                                      <p:tavLst>
                                        <p:tav tm="0">
                                          <p:val>
                                            <p:strVal val="#ppt_x"/>
                                          </p:val>
                                        </p:tav>
                                        <p:tav tm="100000">
                                          <p:val>
                                            <p:strVal val="#ppt_x"/>
                                          </p:val>
                                        </p:tav>
                                      </p:tavLst>
                                    </p:anim>
                                    <p:anim calcmode="lin" valueType="num">
                                      <p:cBhvr>
                                        <p:cTn id="53" dur="500" fill="hold"/>
                                        <p:tgtEl>
                                          <p:spTgt spid="13"/>
                                        </p:tgtEl>
                                        <p:attrNameLst>
                                          <p:attrName>ppt_y</p:attrName>
                                        </p:attrNameLst>
                                      </p:cBhvr>
                                      <p:tavLst>
                                        <p:tav tm="0">
                                          <p:val>
                                            <p:strVal val="#ppt_y+.1"/>
                                          </p:val>
                                        </p:tav>
                                        <p:tav tm="100000">
                                          <p:val>
                                            <p:strVal val="#ppt_y"/>
                                          </p:val>
                                        </p:tav>
                                      </p:tavLst>
                                    </p:anim>
                                  </p:childTnLst>
                                </p:cTn>
                              </p:par>
                            </p:childTnLst>
                          </p:cTn>
                        </p:par>
                        <p:par>
                          <p:cTn id="54" fill="hold">
                            <p:stCondLst>
                              <p:cond delay="2500"/>
                            </p:stCondLst>
                            <p:childTnLst>
                              <p:par>
                                <p:cTn id="55" presetID="42" presetClass="entr" presetSubtype="0" fill="hold" grpId="0"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anim calcmode="lin" valueType="num">
                                      <p:cBhvr>
                                        <p:cTn id="58" dur="500" fill="hold"/>
                                        <p:tgtEl>
                                          <p:spTgt spid="14"/>
                                        </p:tgtEl>
                                        <p:attrNameLst>
                                          <p:attrName>ppt_x</p:attrName>
                                        </p:attrNameLst>
                                      </p:cBhvr>
                                      <p:tavLst>
                                        <p:tav tm="0">
                                          <p:val>
                                            <p:strVal val="#ppt_x"/>
                                          </p:val>
                                        </p:tav>
                                        <p:tav tm="100000">
                                          <p:val>
                                            <p:strVal val="#ppt_x"/>
                                          </p:val>
                                        </p:tav>
                                      </p:tavLst>
                                    </p:anim>
                                    <p:anim calcmode="lin" valueType="num">
                                      <p:cBhvr>
                                        <p:cTn id="59" dur="500" fill="hold"/>
                                        <p:tgtEl>
                                          <p:spTgt spid="14"/>
                                        </p:tgtEl>
                                        <p:attrNameLst>
                                          <p:attrName>ppt_y</p:attrName>
                                        </p:attrNameLst>
                                      </p:cBhvr>
                                      <p:tavLst>
                                        <p:tav tm="0">
                                          <p:val>
                                            <p:strVal val="#ppt_y+.1"/>
                                          </p:val>
                                        </p:tav>
                                        <p:tav tm="100000">
                                          <p:val>
                                            <p:strVal val="#ppt_y"/>
                                          </p:val>
                                        </p:tav>
                                      </p:tavLst>
                                    </p:anim>
                                  </p:childTnLst>
                                </p:cTn>
                              </p:par>
                            </p:childTnLst>
                          </p:cTn>
                        </p:par>
                        <p:par>
                          <p:cTn id="60" fill="hold">
                            <p:stCondLst>
                              <p:cond delay="3000"/>
                            </p:stCondLst>
                            <p:childTnLst>
                              <p:par>
                                <p:cTn id="61" presetID="42" presetClass="entr" presetSubtype="0" fill="hold" grpId="0" nodeType="after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500"/>
                                        <p:tgtEl>
                                          <p:spTgt spid="15"/>
                                        </p:tgtEl>
                                      </p:cBhvr>
                                    </p:animEffect>
                                    <p:anim calcmode="lin" valueType="num">
                                      <p:cBhvr>
                                        <p:cTn id="64" dur="500" fill="hold"/>
                                        <p:tgtEl>
                                          <p:spTgt spid="15"/>
                                        </p:tgtEl>
                                        <p:attrNameLst>
                                          <p:attrName>ppt_x</p:attrName>
                                        </p:attrNameLst>
                                      </p:cBhvr>
                                      <p:tavLst>
                                        <p:tav tm="0">
                                          <p:val>
                                            <p:strVal val="#ppt_x"/>
                                          </p:val>
                                        </p:tav>
                                        <p:tav tm="100000">
                                          <p:val>
                                            <p:strVal val="#ppt_x"/>
                                          </p:val>
                                        </p:tav>
                                      </p:tavLst>
                                    </p:anim>
                                    <p:anim calcmode="lin" valueType="num">
                                      <p:cBhvr>
                                        <p:cTn id="65" dur="500" fill="hold"/>
                                        <p:tgtEl>
                                          <p:spTgt spid="15"/>
                                        </p:tgtEl>
                                        <p:attrNameLst>
                                          <p:attrName>ppt_y</p:attrName>
                                        </p:attrNameLst>
                                      </p:cBhvr>
                                      <p:tavLst>
                                        <p:tav tm="0">
                                          <p:val>
                                            <p:strVal val="#ppt_y+.1"/>
                                          </p:val>
                                        </p:tav>
                                        <p:tav tm="100000">
                                          <p:val>
                                            <p:strVal val="#ppt_y"/>
                                          </p:val>
                                        </p:tav>
                                      </p:tavLst>
                                    </p:anim>
                                  </p:childTnLst>
                                </p:cTn>
                              </p:par>
                            </p:childTnLst>
                          </p:cTn>
                        </p:par>
                        <p:par>
                          <p:cTn id="66" fill="hold">
                            <p:stCondLst>
                              <p:cond delay="3500"/>
                            </p:stCondLst>
                            <p:childTnLst>
                              <p:par>
                                <p:cTn id="67" presetID="42" presetClass="entr" presetSubtype="0" fill="hold" grpId="0" nodeType="after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500"/>
                                        <p:tgtEl>
                                          <p:spTgt spid="16"/>
                                        </p:tgtEl>
                                      </p:cBhvr>
                                    </p:animEffect>
                                    <p:anim calcmode="lin" valueType="num">
                                      <p:cBhvr>
                                        <p:cTn id="70" dur="500" fill="hold"/>
                                        <p:tgtEl>
                                          <p:spTgt spid="16"/>
                                        </p:tgtEl>
                                        <p:attrNameLst>
                                          <p:attrName>ppt_x</p:attrName>
                                        </p:attrNameLst>
                                      </p:cBhvr>
                                      <p:tavLst>
                                        <p:tav tm="0">
                                          <p:val>
                                            <p:strVal val="#ppt_x"/>
                                          </p:val>
                                        </p:tav>
                                        <p:tav tm="100000">
                                          <p:val>
                                            <p:strVal val="#ppt_x"/>
                                          </p:val>
                                        </p:tav>
                                      </p:tavLst>
                                    </p:anim>
                                    <p:anim calcmode="lin" valueType="num">
                                      <p:cBhvr>
                                        <p:cTn id="71" dur="500" fill="hold"/>
                                        <p:tgtEl>
                                          <p:spTgt spid="16"/>
                                        </p:tgtEl>
                                        <p:attrNameLst>
                                          <p:attrName>ppt_y</p:attrName>
                                        </p:attrNameLst>
                                      </p:cBhvr>
                                      <p:tavLst>
                                        <p:tav tm="0">
                                          <p:val>
                                            <p:strVal val="#ppt_y+.1"/>
                                          </p:val>
                                        </p:tav>
                                        <p:tav tm="100000">
                                          <p:val>
                                            <p:strVal val="#ppt_y"/>
                                          </p:val>
                                        </p:tav>
                                      </p:tavLst>
                                    </p:anim>
                                  </p:childTnLst>
                                </p:cTn>
                              </p:par>
                            </p:childTnLst>
                          </p:cTn>
                        </p:par>
                        <p:par>
                          <p:cTn id="72" fill="hold">
                            <p:stCondLst>
                              <p:cond delay="4000"/>
                            </p:stCondLst>
                            <p:childTnLst>
                              <p:par>
                                <p:cTn id="73" presetID="42" presetClass="entr" presetSubtype="0" fill="hold" grpId="0" nodeType="after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p:cTn id="76" dur="500" fill="hold"/>
                                        <p:tgtEl>
                                          <p:spTgt spid="17"/>
                                        </p:tgtEl>
                                        <p:attrNameLst>
                                          <p:attrName>ppt_x</p:attrName>
                                        </p:attrNameLst>
                                      </p:cBhvr>
                                      <p:tavLst>
                                        <p:tav tm="0">
                                          <p:val>
                                            <p:strVal val="#ppt_x"/>
                                          </p:val>
                                        </p:tav>
                                        <p:tav tm="100000">
                                          <p:val>
                                            <p:strVal val="#ppt_x"/>
                                          </p:val>
                                        </p:tav>
                                      </p:tavLst>
                                    </p:anim>
                                    <p:anim calcmode="lin" valueType="num">
                                      <p:cBhvr>
                                        <p:cTn id="77" dur="500" fill="hold"/>
                                        <p:tgtEl>
                                          <p:spTgt spid="17"/>
                                        </p:tgtEl>
                                        <p:attrNameLst>
                                          <p:attrName>ppt_y</p:attrName>
                                        </p:attrNameLst>
                                      </p:cBhvr>
                                      <p:tavLst>
                                        <p:tav tm="0">
                                          <p:val>
                                            <p:strVal val="#ppt_y+.1"/>
                                          </p:val>
                                        </p:tav>
                                        <p:tav tm="100000">
                                          <p:val>
                                            <p:strVal val="#ppt_y"/>
                                          </p:val>
                                        </p:tav>
                                      </p:tavLst>
                                    </p:anim>
                                  </p:childTnLst>
                                </p:cTn>
                              </p:par>
                            </p:childTnLst>
                          </p:cTn>
                        </p:par>
                        <p:par>
                          <p:cTn id="78" fill="hold">
                            <p:stCondLst>
                              <p:cond delay="4500"/>
                            </p:stCondLst>
                            <p:childTnLst>
                              <p:par>
                                <p:cTn id="79" presetID="42" presetClass="entr" presetSubtype="0" fill="hold" grpId="0" nodeType="after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500"/>
                                        <p:tgtEl>
                                          <p:spTgt spid="18"/>
                                        </p:tgtEl>
                                      </p:cBhvr>
                                    </p:animEffect>
                                    <p:anim calcmode="lin" valueType="num">
                                      <p:cBhvr>
                                        <p:cTn id="82" dur="500" fill="hold"/>
                                        <p:tgtEl>
                                          <p:spTgt spid="18"/>
                                        </p:tgtEl>
                                        <p:attrNameLst>
                                          <p:attrName>ppt_x</p:attrName>
                                        </p:attrNameLst>
                                      </p:cBhvr>
                                      <p:tavLst>
                                        <p:tav tm="0">
                                          <p:val>
                                            <p:strVal val="#ppt_x"/>
                                          </p:val>
                                        </p:tav>
                                        <p:tav tm="100000">
                                          <p:val>
                                            <p:strVal val="#ppt_x"/>
                                          </p:val>
                                        </p:tav>
                                      </p:tavLst>
                                    </p:anim>
                                    <p:anim calcmode="lin" valueType="num">
                                      <p:cBhvr>
                                        <p:cTn id="83" dur="500" fill="hold"/>
                                        <p:tgtEl>
                                          <p:spTgt spid="18"/>
                                        </p:tgtEl>
                                        <p:attrNameLst>
                                          <p:attrName>ppt_y</p:attrName>
                                        </p:attrNameLst>
                                      </p:cBhvr>
                                      <p:tavLst>
                                        <p:tav tm="0">
                                          <p:val>
                                            <p:strVal val="#ppt_y+.1"/>
                                          </p:val>
                                        </p:tav>
                                        <p:tav tm="100000">
                                          <p:val>
                                            <p:strVal val="#ppt_y"/>
                                          </p:val>
                                        </p:tav>
                                      </p:tavLst>
                                    </p:anim>
                                  </p:childTnLst>
                                </p:cTn>
                              </p:par>
                            </p:childTnLst>
                          </p:cTn>
                        </p:par>
                        <p:par>
                          <p:cTn id="84" fill="hold">
                            <p:stCondLst>
                              <p:cond delay="5000"/>
                            </p:stCondLst>
                            <p:childTnLst>
                              <p:par>
                                <p:cTn id="85" presetID="42" presetClass="entr" presetSubtype="0" fill="hold" grpId="0" nodeType="after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500"/>
                                        <p:tgtEl>
                                          <p:spTgt spid="19"/>
                                        </p:tgtEl>
                                      </p:cBhvr>
                                    </p:animEffect>
                                    <p:anim calcmode="lin" valueType="num">
                                      <p:cBhvr>
                                        <p:cTn id="88" dur="500" fill="hold"/>
                                        <p:tgtEl>
                                          <p:spTgt spid="19"/>
                                        </p:tgtEl>
                                        <p:attrNameLst>
                                          <p:attrName>ppt_x</p:attrName>
                                        </p:attrNameLst>
                                      </p:cBhvr>
                                      <p:tavLst>
                                        <p:tav tm="0">
                                          <p:val>
                                            <p:strVal val="#ppt_x"/>
                                          </p:val>
                                        </p:tav>
                                        <p:tav tm="100000">
                                          <p:val>
                                            <p:strVal val="#ppt_x"/>
                                          </p:val>
                                        </p:tav>
                                      </p:tavLst>
                                    </p:anim>
                                    <p:anim calcmode="lin" valueType="num">
                                      <p:cBhvr>
                                        <p:cTn id="89" dur="500" fill="hold"/>
                                        <p:tgtEl>
                                          <p:spTgt spid="19"/>
                                        </p:tgtEl>
                                        <p:attrNameLst>
                                          <p:attrName>ppt_y</p:attrName>
                                        </p:attrNameLst>
                                      </p:cBhvr>
                                      <p:tavLst>
                                        <p:tav tm="0">
                                          <p:val>
                                            <p:strVal val="#ppt_y+.1"/>
                                          </p:val>
                                        </p:tav>
                                        <p:tav tm="100000">
                                          <p:val>
                                            <p:strVal val="#ppt_y"/>
                                          </p:val>
                                        </p:tav>
                                      </p:tavLst>
                                    </p:anim>
                                  </p:childTnLst>
                                </p:cTn>
                              </p:par>
                            </p:childTnLst>
                          </p:cTn>
                        </p:par>
                        <p:par>
                          <p:cTn id="90" fill="hold">
                            <p:stCondLst>
                              <p:cond delay="5500"/>
                            </p:stCondLst>
                            <p:childTnLst>
                              <p:par>
                                <p:cTn id="91" presetID="42" presetClass="entr" presetSubtype="0" fill="hold" grpId="0" nodeType="after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250"/>
                                        <p:tgtEl>
                                          <p:spTgt spid="20"/>
                                        </p:tgtEl>
                                      </p:cBhvr>
                                    </p:animEffect>
                                    <p:anim calcmode="lin" valueType="num">
                                      <p:cBhvr>
                                        <p:cTn id="94" dur="250" fill="hold"/>
                                        <p:tgtEl>
                                          <p:spTgt spid="20"/>
                                        </p:tgtEl>
                                        <p:attrNameLst>
                                          <p:attrName>ppt_x</p:attrName>
                                        </p:attrNameLst>
                                      </p:cBhvr>
                                      <p:tavLst>
                                        <p:tav tm="0">
                                          <p:val>
                                            <p:strVal val="#ppt_x"/>
                                          </p:val>
                                        </p:tav>
                                        <p:tav tm="100000">
                                          <p:val>
                                            <p:strVal val="#ppt_x"/>
                                          </p:val>
                                        </p:tav>
                                      </p:tavLst>
                                    </p:anim>
                                    <p:anim calcmode="lin" valueType="num">
                                      <p:cBhvr>
                                        <p:cTn id="95" dur="250" fill="hold"/>
                                        <p:tgtEl>
                                          <p:spTgt spid="20"/>
                                        </p:tgtEl>
                                        <p:attrNameLst>
                                          <p:attrName>ppt_y</p:attrName>
                                        </p:attrNameLst>
                                      </p:cBhvr>
                                      <p:tavLst>
                                        <p:tav tm="0">
                                          <p:val>
                                            <p:strVal val="#ppt_y+.1"/>
                                          </p:val>
                                        </p:tav>
                                        <p:tav tm="100000">
                                          <p:val>
                                            <p:strVal val="#ppt_y"/>
                                          </p:val>
                                        </p:tav>
                                      </p:tavLst>
                                    </p:anim>
                                  </p:childTnLst>
                                </p:cTn>
                              </p:par>
                            </p:childTnLst>
                          </p:cTn>
                        </p:par>
                        <p:par>
                          <p:cTn id="96" fill="hold">
                            <p:stCondLst>
                              <p:cond delay="5750"/>
                            </p:stCondLst>
                            <p:childTnLst>
                              <p:par>
                                <p:cTn id="97" presetID="42" presetClass="entr" presetSubtype="0" fill="hold" grpId="0" nodeType="after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500"/>
                                        <p:tgtEl>
                                          <p:spTgt spid="21"/>
                                        </p:tgtEl>
                                      </p:cBhvr>
                                    </p:animEffect>
                                    <p:anim calcmode="lin" valueType="num">
                                      <p:cBhvr>
                                        <p:cTn id="100" dur="500" fill="hold"/>
                                        <p:tgtEl>
                                          <p:spTgt spid="21"/>
                                        </p:tgtEl>
                                        <p:attrNameLst>
                                          <p:attrName>ppt_x</p:attrName>
                                        </p:attrNameLst>
                                      </p:cBhvr>
                                      <p:tavLst>
                                        <p:tav tm="0">
                                          <p:val>
                                            <p:strVal val="#ppt_x"/>
                                          </p:val>
                                        </p:tav>
                                        <p:tav tm="100000">
                                          <p:val>
                                            <p:strVal val="#ppt_x"/>
                                          </p:val>
                                        </p:tav>
                                      </p:tavLst>
                                    </p:anim>
                                    <p:anim calcmode="lin" valueType="num">
                                      <p:cBhvr>
                                        <p:cTn id="101" dur="500" fill="hold"/>
                                        <p:tgtEl>
                                          <p:spTgt spid="21"/>
                                        </p:tgtEl>
                                        <p:attrNameLst>
                                          <p:attrName>ppt_y</p:attrName>
                                        </p:attrNameLst>
                                      </p:cBhvr>
                                      <p:tavLst>
                                        <p:tav tm="0">
                                          <p:val>
                                            <p:strVal val="#ppt_y+.1"/>
                                          </p:val>
                                        </p:tav>
                                        <p:tav tm="100000">
                                          <p:val>
                                            <p:strVal val="#ppt_y"/>
                                          </p:val>
                                        </p:tav>
                                      </p:tavLst>
                                    </p:anim>
                                  </p:childTnLst>
                                </p:cTn>
                              </p:par>
                            </p:childTnLst>
                          </p:cTn>
                        </p:par>
                        <p:par>
                          <p:cTn id="102" fill="hold">
                            <p:stCondLst>
                              <p:cond delay="6250"/>
                            </p:stCondLst>
                            <p:childTnLst>
                              <p:par>
                                <p:cTn id="103" presetID="42" presetClass="entr" presetSubtype="0" fill="hold" grpId="0" nodeType="afterEffect">
                                  <p:stCondLst>
                                    <p:cond delay="0"/>
                                  </p:stCondLst>
                                  <p:childTnLst>
                                    <p:set>
                                      <p:cBhvr>
                                        <p:cTn id="104" dur="1" fill="hold">
                                          <p:stCondLst>
                                            <p:cond delay="0"/>
                                          </p:stCondLst>
                                        </p:cTn>
                                        <p:tgtEl>
                                          <p:spTgt spid="22"/>
                                        </p:tgtEl>
                                        <p:attrNameLst>
                                          <p:attrName>style.visibility</p:attrName>
                                        </p:attrNameLst>
                                      </p:cBhvr>
                                      <p:to>
                                        <p:strVal val="visible"/>
                                      </p:to>
                                    </p:set>
                                    <p:animEffect transition="in" filter="fade">
                                      <p:cBhvr>
                                        <p:cTn id="105" dur="500"/>
                                        <p:tgtEl>
                                          <p:spTgt spid="22"/>
                                        </p:tgtEl>
                                      </p:cBhvr>
                                    </p:animEffect>
                                    <p:anim calcmode="lin" valueType="num">
                                      <p:cBhvr>
                                        <p:cTn id="106" dur="500" fill="hold"/>
                                        <p:tgtEl>
                                          <p:spTgt spid="22"/>
                                        </p:tgtEl>
                                        <p:attrNameLst>
                                          <p:attrName>ppt_x</p:attrName>
                                        </p:attrNameLst>
                                      </p:cBhvr>
                                      <p:tavLst>
                                        <p:tav tm="0">
                                          <p:val>
                                            <p:strVal val="#ppt_x"/>
                                          </p:val>
                                        </p:tav>
                                        <p:tav tm="100000">
                                          <p:val>
                                            <p:strVal val="#ppt_x"/>
                                          </p:val>
                                        </p:tav>
                                      </p:tavLst>
                                    </p:anim>
                                    <p:anim calcmode="lin" valueType="num">
                                      <p:cBhvr>
                                        <p:cTn id="107" dur="500" fill="hold"/>
                                        <p:tgtEl>
                                          <p:spTgt spid="22"/>
                                        </p:tgtEl>
                                        <p:attrNameLst>
                                          <p:attrName>ppt_y</p:attrName>
                                        </p:attrNameLst>
                                      </p:cBhvr>
                                      <p:tavLst>
                                        <p:tav tm="0">
                                          <p:val>
                                            <p:strVal val="#ppt_y+.1"/>
                                          </p:val>
                                        </p:tav>
                                        <p:tav tm="100000">
                                          <p:val>
                                            <p:strVal val="#ppt_y"/>
                                          </p:val>
                                        </p:tav>
                                      </p:tavLst>
                                    </p:anim>
                                  </p:childTnLst>
                                </p:cTn>
                              </p:par>
                            </p:childTnLst>
                          </p:cTn>
                        </p:par>
                        <p:par>
                          <p:cTn id="108" fill="hold">
                            <p:stCondLst>
                              <p:cond delay="6750"/>
                            </p:stCondLst>
                            <p:childTnLst>
                              <p:par>
                                <p:cTn id="109" presetID="42" presetClass="entr" presetSubtype="0" fill="hold" grpId="0" nodeType="after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250"/>
                                        <p:tgtEl>
                                          <p:spTgt spid="23"/>
                                        </p:tgtEl>
                                      </p:cBhvr>
                                    </p:animEffect>
                                    <p:anim calcmode="lin" valueType="num">
                                      <p:cBhvr>
                                        <p:cTn id="112" dur="250" fill="hold"/>
                                        <p:tgtEl>
                                          <p:spTgt spid="23"/>
                                        </p:tgtEl>
                                        <p:attrNameLst>
                                          <p:attrName>ppt_x</p:attrName>
                                        </p:attrNameLst>
                                      </p:cBhvr>
                                      <p:tavLst>
                                        <p:tav tm="0">
                                          <p:val>
                                            <p:strVal val="#ppt_x"/>
                                          </p:val>
                                        </p:tav>
                                        <p:tav tm="100000">
                                          <p:val>
                                            <p:strVal val="#ppt_x"/>
                                          </p:val>
                                        </p:tav>
                                      </p:tavLst>
                                    </p:anim>
                                    <p:anim calcmode="lin" valueType="num">
                                      <p:cBhvr>
                                        <p:cTn id="113" dur="250" fill="hold"/>
                                        <p:tgtEl>
                                          <p:spTgt spid="23"/>
                                        </p:tgtEl>
                                        <p:attrNameLst>
                                          <p:attrName>ppt_y</p:attrName>
                                        </p:attrNameLst>
                                      </p:cBhvr>
                                      <p:tavLst>
                                        <p:tav tm="0">
                                          <p:val>
                                            <p:strVal val="#ppt_y+.1"/>
                                          </p:val>
                                        </p:tav>
                                        <p:tav tm="100000">
                                          <p:val>
                                            <p:strVal val="#ppt_y"/>
                                          </p:val>
                                        </p:tav>
                                      </p:tavLst>
                                    </p:anim>
                                  </p:childTnLst>
                                </p:cTn>
                              </p:par>
                            </p:childTnLst>
                          </p:cTn>
                        </p:par>
                        <p:par>
                          <p:cTn id="114" fill="hold">
                            <p:stCondLst>
                              <p:cond delay="7000"/>
                            </p:stCondLst>
                            <p:childTnLst>
                              <p:par>
                                <p:cTn id="115" presetID="42" presetClass="entr" presetSubtype="0" fill="hold" grpId="0" nodeType="after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250"/>
                                        <p:tgtEl>
                                          <p:spTgt spid="24"/>
                                        </p:tgtEl>
                                      </p:cBhvr>
                                    </p:animEffect>
                                    <p:anim calcmode="lin" valueType="num">
                                      <p:cBhvr>
                                        <p:cTn id="118" dur="250" fill="hold"/>
                                        <p:tgtEl>
                                          <p:spTgt spid="24"/>
                                        </p:tgtEl>
                                        <p:attrNameLst>
                                          <p:attrName>ppt_x</p:attrName>
                                        </p:attrNameLst>
                                      </p:cBhvr>
                                      <p:tavLst>
                                        <p:tav tm="0">
                                          <p:val>
                                            <p:strVal val="#ppt_x"/>
                                          </p:val>
                                        </p:tav>
                                        <p:tav tm="100000">
                                          <p:val>
                                            <p:strVal val="#ppt_x"/>
                                          </p:val>
                                        </p:tav>
                                      </p:tavLst>
                                    </p:anim>
                                    <p:anim calcmode="lin" valueType="num">
                                      <p:cBhvr>
                                        <p:cTn id="119" dur="250" fill="hold"/>
                                        <p:tgtEl>
                                          <p:spTgt spid="24"/>
                                        </p:tgtEl>
                                        <p:attrNameLst>
                                          <p:attrName>ppt_y</p:attrName>
                                        </p:attrNameLst>
                                      </p:cBhvr>
                                      <p:tavLst>
                                        <p:tav tm="0">
                                          <p:val>
                                            <p:strVal val="#ppt_y+.1"/>
                                          </p:val>
                                        </p:tav>
                                        <p:tav tm="100000">
                                          <p:val>
                                            <p:strVal val="#ppt_y"/>
                                          </p:val>
                                        </p:tav>
                                      </p:tavLst>
                                    </p:anim>
                                  </p:childTnLst>
                                </p:cTn>
                              </p:par>
                            </p:childTnLst>
                          </p:cTn>
                        </p:par>
                        <p:par>
                          <p:cTn id="120" fill="hold">
                            <p:stCondLst>
                              <p:cond delay="7250"/>
                            </p:stCondLst>
                            <p:childTnLst>
                              <p:par>
                                <p:cTn id="121" presetID="42" presetClass="entr" presetSubtype="0" fill="hold" grpId="0" nodeType="afterEffect">
                                  <p:stCondLst>
                                    <p:cond delay="0"/>
                                  </p:stCondLst>
                                  <p:childTnLst>
                                    <p:set>
                                      <p:cBhvr>
                                        <p:cTn id="122" dur="1" fill="hold">
                                          <p:stCondLst>
                                            <p:cond delay="0"/>
                                          </p:stCondLst>
                                        </p:cTn>
                                        <p:tgtEl>
                                          <p:spTgt spid="25"/>
                                        </p:tgtEl>
                                        <p:attrNameLst>
                                          <p:attrName>style.visibility</p:attrName>
                                        </p:attrNameLst>
                                      </p:cBhvr>
                                      <p:to>
                                        <p:strVal val="visible"/>
                                      </p:to>
                                    </p:set>
                                    <p:animEffect transition="in" filter="fade">
                                      <p:cBhvr>
                                        <p:cTn id="123" dur="500"/>
                                        <p:tgtEl>
                                          <p:spTgt spid="25"/>
                                        </p:tgtEl>
                                      </p:cBhvr>
                                    </p:animEffect>
                                    <p:anim calcmode="lin" valueType="num">
                                      <p:cBhvr>
                                        <p:cTn id="124" dur="500" fill="hold"/>
                                        <p:tgtEl>
                                          <p:spTgt spid="25"/>
                                        </p:tgtEl>
                                        <p:attrNameLst>
                                          <p:attrName>ppt_x</p:attrName>
                                        </p:attrNameLst>
                                      </p:cBhvr>
                                      <p:tavLst>
                                        <p:tav tm="0">
                                          <p:val>
                                            <p:strVal val="#ppt_x"/>
                                          </p:val>
                                        </p:tav>
                                        <p:tav tm="100000">
                                          <p:val>
                                            <p:strVal val="#ppt_x"/>
                                          </p:val>
                                        </p:tav>
                                      </p:tavLst>
                                    </p:anim>
                                    <p:anim calcmode="lin" valueType="num">
                                      <p:cBhvr>
                                        <p:cTn id="125" dur="500" fill="hold"/>
                                        <p:tgtEl>
                                          <p:spTgt spid="25"/>
                                        </p:tgtEl>
                                        <p:attrNameLst>
                                          <p:attrName>ppt_y</p:attrName>
                                        </p:attrNameLst>
                                      </p:cBhvr>
                                      <p:tavLst>
                                        <p:tav tm="0">
                                          <p:val>
                                            <p:strVal val="#ppt_y+.1"/>
                                          </p:val>
                                        </p:tav>
                                        <p:tav tm="100000">
                                          <p:val>
                                            <p:strVal val="#ppt_y"/>
                                          </p:val>
                                        </p:tav>
                                      </p:tavLst>
                                    </p:anim>
                                  </p:childTnLst>
                                </p:cTn>
                              </p:par>
                            </p:childTnLst>
                          </p:cTn>
                        </p:par>
                        <p:par>
                          <p:cTn id="126" fill="hold">
                            <p:stCondLst>
                              <p:cond delay="7750"/>
                            </p:stCondLst>
                            <p:childTnLst>
                              <p:par>
                                <p:cTn id="127" presetID="42" presetClass="entr" presetSubtype="0" fill="hold" grpId="0" nodeType="afterEffect">
                                  <p:stCondLst>
                                    <p:cond delay="0"/>
                                  </p:stCondLst>
                                  <p:childTnLst>
                                    <p:set>
                                      <p:cBhvr>
                                        <p:cTn id="128" dur="1" fill="hold">
                                          <p:stCondLst>
                                            <p:cond delay="0"/>
                                          </p:stCondLst>
                                        </p:cTn>
                                        <p:tgtEl>
                                          <p:spTgt spid="26"/>
                                        </p:tgtEl>
                                        <p:attrNameLst>
                                          <p:attrName>style.visibility</p:attrName>
                                        </p:attrNameLst>
                                      </p:cBhvr>
                                      <p:to>
                                        <p:strVal val="visible"/>
                                      </p:to>
                                    </p:set>
                                    <p:animEffect transition="in" filter="fade">
                                      <p:cBhvr>
                                        <p:cTn id="129" dur="500"/>
                                        <p:tgtEl>
                                          <p:spTgt spid="26"/>
                                        </p:tgtEl>
                                      </p:cBhvr>
                                    </p:animEffect>
                                    <p:anim calcmode="lin" valueType="num">
                                      <p:cBhvr>
                                        <p:cTn id="130" dur="500" fill="hold"/>
                                        <p:tgtEl>
                                          <p:spTgt spid="26"/>
                                        </p:tgtEl>
                                        <p:attrNameLst>
                                          <p:attrName>ppt_x</p:attrName>
                                        </p:attrNameLst>
                                      </p:cBhvr>
                                      <p:tavLst>
                                        <p:tav tm="0">
                                          <p:val>
                                            <p:strVal val="#ppt_x"/>
                                          </p:val>
                                        </p:tav>
                                        <p:tav tm="100000">
                                          <p:val>
                                            <p:strVal val="#ppt_x"/>
                                          </p:val>
                                        </p:tav>
                                      </p:tavLst>
                                    </p:anim>
                                    <p:anim calcmode="lin" valueType="num">
                                      <p:cBhvr>
                                        <p:cTn id="131" dur="500" fill="hold"/>
                                        <p:tgtEl>
                                          <p:spTgt spid="26"/>
                                        </p:tgtEl>
                                        <p:attrNameLst>
                                          <p:attrName>ppt_y</p:attrName>
                                        </p:attrNameLst>
                                      </p:cBhvr>
                                      <p:tavLst>
                                        <p:tav tm="0">
                                          <p:val>
                                            <p:strVal val="#ppt_y+.1"/>
                                          </p:val>
                                        </p:tav>
                                        <p:tav tm="100000">
                                          <p:val>
                                            <p:strVal val="#ppt_y"/>
                                          </p:val>
                                        </p:tav>
                                      </p:tavLst>
                                    </p:anim>
                                  </p:childTnLst>
                                </p:cTn>
                              </p:par>
                            </p:childTnLst>
                          </p:cTn>
                        </p:par>
                        <p:par>
                          <p:cTn id="132" fill="hold">
                            <p:stCondLst>
                              <p:cond delay="8250"/>
                            </p:stCondLst>
                            <p:childTnLst>
                              <p:par>
                                <p:cTn id="133" presetID="42" presetClass="entr" presetSubtype="0" fill="hold" grpId="0" nodeType="afterEffect">
                                  <p:stCondLst>
                                    <p:cond delay="0"/>
                                  </p:stCondLst>
                                  <p:childTnLst>
                                    <p:set>
                                      <p:cBhvr>
                                        <p:cTn id="134" dur="1" fill="hold">
                                          <p:stCondLst>
                                            <p:cond delay="0"/>
                                          </p:stCondLst>
                                        </p:cTn>
                                        <p:tgtEl>
                                          <p:spTgt spid="27"/>
                                        </p:tgtEl>
                                        <p:attrNameLst>
                                          <p:attrName>style.visibility</p:attrName>
                                        </p:attrNameLst>
                                      </p:cBhvr>
                                      <p:to>
                                        <p:strVal val="visible"/>
                                      </p:to>
                                    </p:set>
                                    <p:animEffect transition="in" filter="fade">
                                      <p:cBhvr>
                                        <p:cTn id="135" dur="500"/>
                                        <p:tgtEl>
                                          <p:spTgt spid="27"/>
                                        </p:tgtEl>
                                      </p:cBhvr>
                                    </p:animEffect>
                                    <p:anim calcmode="lin" valueType="num">
                                      <p:cBhvr>
                                        <p:cTn id="136" dur="500" fill="hold"/>
                                        <p:tgtEl>
                                          <p:spTgt spid="27"/>
                                        </p:tgtEl>
                                        <p:attrNameLst>
                                          <p:attrName>ppt_x</p:attrName>
                                        </p:attrNameLst>
                                      </p:cBhvr>
                                      <p:tavLst>
                                        <p:tav tm="0">
                                          <p:val>
                                            <p:strVal val="#ppt_x"/>
                                          </p:val>
                                        </p:tav>
                                        <p:tav tm="100000">
                                          <p:val>
                                            <p:strVal val="#ppt_x"/>
                                          </p:val>
                                        </p:tav>
                                      </p:tavLst>
                                    </p:anim>
                                    <p:anim calcmode="lin" valueType="num">
                                      <p:cBhvr>
                                        <p:cTn id="137" dur="500" fill="hold"/>
                                        <p:tgtEl>
                                          <p:spTgt spid="27"/>
                                        </p:tgtEl>
                                        <p:attrNameLst>
                                          <p:attrName>ppt_y</p:attrName>
                                        </p:attrNameLst>
                                      </p:cBhvr>
                                      <p:tavLst>
                                        <p:tav tm="0">
                                          <p:val>
                                            <p:strVal val="#ppt_y+.1"/>
                                          </p:val>
                                        </p:tav>
                                        <p:tav tm="100000">
                                          <p:val>
                                            <p:strVal val="#ppt_y"/>
                                          </p:val>
                                        </p:tav>
                                      </p:tavLst>
                                    </p:anim>
                                  </p:childTnLst>
                                </p:cTn>
                              </p:par>
                            </p:childTnLst>
                          </p:cTn>
                        </p:par>
                        <p:par>
                          <p:cTn id="138" fill="hold">
                            <p:stCondLst>
                              <p:cond delay="8750"/>
                            </p:stCondLst>
                            <p:childTnLst>
                              <p:par>
                                <p:cTn id="139" presetID="42" presetClass="entr" presetSubtype="0" fill="hold" grpId="0" nodeType="afterEffect">
                                  <p:stCondLst>
                                    <p:cond delay="0"/>
                                  </p:stCondLst>
                                  <p:childTnLst>
                                    <p:set>
                                      <p:cBhvr>
                                        <p:cTn id="140" dur="1" fill="hold">
                                          <p:stCondLst>
                                            <p:cond delay="0"/>
                                          </p:stCondLst>
                                        </p:cTn>
                                        <p:tgtEl>
                                          <p:spTgt spid="28"/>
                                        </p:tgtEl>
                                        <p:attrNameLst>
                                          <p:attrName>style.visibility</p:attrName>
                                        </p:attrNameLst>
                                      </p:cBhvr>
                                      <p:to>
                                        <p:strVal val="visible"/>
                                      </p:to>
                                    </p:set>
                                    <p:animEffect transition="in" filter="fade">
                                      <p:cBhvr>
                                        <p:cTn id="141" dur="500"/>
                                        <p:tgtEl>
                                          <p:spTgt spid="28"/>
                                        </p:tgtEl>
                                      </p:cBhvr>
                                    </p:animEffect>
                                    <p:anim calcmode="lin" valueType="num">
                                      <p:cBhvr>
                                        <p:cTn id="142" dur="500" fill="hold"/>
                                        <p:tgtEl>
                                          <p:spTgt spid="28"/>
                                        </p:tgtEl>
                                        <p:attrNameLst>
                                          <p:attrName>ppt_x</p:attrName>
                                        </p:attrNameLst>
                                      </p:cBhvr>
                                      <p:tavLst>
                                        <p:tav tm="0">
                                          <p:val>
                                            <p:strVal val="#ppt_x"/>
                                          </p:val>
                                        </p:tav>
                                        <p:tav tm="100000">
                                          <p:val>
                                            <p:strVal val="#ppt_x"/>
                                          </p:val>
                                        </p:tav>
                                      </p:tavLst>
                                    </p:anim>
                                    <p:anim calcmode="lin" valueType="num">
                                      <p:cBhvr>
                                        <p:cTn id="143" dur="500" fill="hold"/>
                                        <p:tgtEl>
                                          <p:spTgt spid="28"/>
                                        </p:tgtEl>
                                        <p:attrNameLst>
                                          <p:attrName>ppt_y</p:attrName>
                                        </p:attrNameLst>
                                      </p:cBhvr>
                                      <p:tavLst>
                                        <p:tav tm="0">
                                          <p:val>
                                            <p:strVal val="#ppt_y+.1"/>
                                          </p:val>
                                        </p:tav>
                                        <p:tav tm="100000">
                                          <p:val>
                                            <p:strVal val="#ppt_y"/>
                                          </p:val>
                                        </p:tav>
                                      </p:tavLst>
                                    </p:anim>
                                  </p:childTnLst>
                                </p:cTn>
                              </p:par>
                            </p:childTnLst>
                          </p:cTn>
                        </p:par>
                        <p:par>
                          <p:cTn id="144" fill="hold">
                            <p:stCondLst>
                              <p:cond delay="9250"/>
                            </p:stCondLst>
                            <p:childTnLst>
                              <p:par>
                                <p:cTn id="145" presetID="42" presetClass="entr" presetSubtype="0" fill="hold" grpId="0" nodeType="afterEffect">
                                  <p:stCondLst>
                                    <p:cond delay="0"/>
                                  </p:stCondLst>
                                  <p:childTnLst>
                                    <p:set>
                                      <p:cBhvr>
                                        <p:cTn id="146" dur="1" fill="hold">
                                          <p:stCondLst>
                                            <p:cond delay="0"/>
                                          </p:stCondLst>
                                        </p:cTn>
                                        <p:tgtEl>
                                          <p:spTgt spid="29"/>
                                        </p:tgtEl>
                                        <p:attrNameLst>
                                          <p:attrName>style.visibility</p:attrName>
                                        </p:attrNameLst>
                                      </p:cBhvr>
                                      <p:to>
                                        <p:strVal val="visible"/>
                                      </p:to>
                                    </p:set>
                                    <p:animEffect transition="in" filter="fade">
                                      <p:cBhvr>
                                        <p:cTn id="147" dur="500"/>
                                        <p:tgtEl>
                                          <p:spTgt spid="29"/>
                                        </p:tgtEl>
                                      </p:cBhvr>
                                    </p:animEffect>
                                    <p:anim calcmode="lin" valueType="num">
                                      <p:cBhvr>
                                        <p:cTn id="148" dur="500" fill="hold"/>
                                        <p:tgtEl>
                                          <p:spTgt spid="29"/>
                                        </p:tgtEl>
                                        <p:attrNameLst>
                                          <p:attrName>ppt_x</p:attrName>
                                        </p:attrNameLst>
                                      </p:cBhvr>
                                      <p:tavLst>
                                        <p:tav tm="0">
                                          <p:val>
                                            <p:strVal val="#ppt_x"/>
                                          </p:val>
                                        </p:tav>
                                        <p:tav tm="100000">
                                          <p:val>
                                            <p:strVal val="#ppt_x"/>
                                          </p:val>
                                        </p:tav>
                                      </p:tavLst>
                                    </p:anim>
                                    <p:anim calcmode="lin" valueType="num">
                                      <p:cBhvr>
                                        <p:cTn id="149" dur="500" fill="hold"/>
                                        <p:tgtEl>
                                          <p:spTgt spid="29"/>
                                        </p:tgtEl>
                                        <p:attrNameLst>
                                          <p:attrName>ppt_y</p:attrName>
                                        </p:attrNameLst>
                                      </p:cBhvr>
                                      <p:tavLst>
                                        <p:tav tm="0">
                                          <p:val>
                                            <p:strVal val="#ppt_y+.1"/>
                                          </p:val>
                                        </p:tav>
                                        <p:tav tm="100000">
                                          <p:val>
                                            <p:strVal val="#ppt_y"/>
                                          </p:val>
                                        </p:tav>
                                      </p:tavLst>
                                    </p:anim>
                                  </p:childTnLst>
                                </p:cTn>
                              </p:par>
                            </p:childTnLst>
                          </p:cTn>
                        </p:par>
                        <p:par>
                          <p:cTn id="150" fill="hold">
                            <p:stCondLst>
                              <p:cond delay="9750"/>
                            </p:stCondLst>
                            <p:childTnLst>
                              <p:par>
                                <p:cTn id="151" presetID="42" presetClass="entr" presetSubtype="0" fill="hold" grpId="0" nodeType="afterEffect">
                                  <p:stCondLst>
                                    <p:cond delay="0"/>
                                  </p:stCondLst>
                                  <p:childTnLst>
                                    <p:set>
                                      <p:cBhvr>
                                        <p:cTn id="152" dur="1" fill="hold">
                                          <p:stCondLst>
                                            <p:cond delay="0"/>
                                          </p:stCondLst>
                                        </p:cTn>
                                        <p:tgtEl>
                                          <p:spTgt spid="30"/>
                                        </p:tgtEl>
                                        <p:attrNameLst>
                                          <p:attrName>style.visibility</p:attrName>
                                        </p:attrNameLst>
                                      </p:cBhvr>
                                      <p:to>
                                        <p:strVal val="visible"/>
                                      </p:to>
                                    </p:set>
                                    <p:animEffect transition="in" filter="fade">
                                      <p:cBhvr>
                                        <p:cTn id="153" dur="500"/>
                                        <p:tgtEl>
                                          <p:spTgt spid="30"/>
                                        </p:tgtEl>
                                      </p:cBhvr>
                                    </p:animEffect>
                                    <p:anim calcmode="lin" valueType="num">
                                      <p:cBhvr>
                                        <p:cTn id="154" dur="500" fill="hold"/>
                                        <p:tgtEl>
                                          <p:spTgt spid="30"/>
                                        </p:tgtEl>
                                        <p:attrNameLst>
                                          <p:attrName>ppt_x</p:attrName>
                                        </p:attrNameLst>
                                      </p:cBhvr>
                                      <p:tavLst>
                                        <p:tav tm="0">
                                          <p:val>
                                            <p:strVal val="#ppt_x"/>
                                          </p:val>
                                        </p:tav>
                                        <p:tav tm="100000">
                                          <p:val>
                                            <p:strVal val="#ppt_x"/>
                                          </p:val>
                                        </p:tav>
                                      </p:tavLst>
                                    </p:anim>
                                    <p:anim calcmode="lin" valueType="num">
                                      <p:cBhvr>
                                        <p:cTn id="155" dur="500" fill="hold"/>
                                        <p:tgtEl>
                                          <p:spTgt spid="30"/>
                                        </p:tgtEl>
                                        <p:attrNameLst>
                                          <p:attrName>ppt_y</p:attrName>
                                        </p:attrNameLst>
                                      </p:cBhvr>
                                      <p:tavLst>
                                        <p:tav tm="0">
                                          <p:val>
                                            <p:strVal val="#ppt_y+.1"/>
                                          </p:val>
                                        </p:tav>
                                        <p:tav tm="100000">
                                          <p:val>
                                            <p:strVal val="#ppt_y"/>
                                          </p:val>
                                        </p:tav>
                                      </p:tavLst>
                                    </p:anim>
                                  </p:childTnLst>
                                </p:cTn>
                              </p:par>
                            </p:childTnLst>
                          </p:cTn>
                        </p:par>
                        <p:par>
                          <p:cTn id="156" fill="hold">
                            <p:stCondLst>
                              <p:cond delay="10250"/>
                            </p:stCondLst>
                            <p:childTnLst>
                              <p:par>
                                <p:cTn id="157" presetID="42" presetClass="entr" presetSubtype="0" fill="hold" grpId="0" nodeType="afterEffect">
                                  <p:stCondLst>
                                    <p:cond delay="0"/>
                                  </p:stCondLst>
                                  <p:childTnLst>
                                    <p:set>
                                      <p:cBhvr>
                                        <p:cTn id="158" dur="1" fill="hold">
                                          <p:stCondLst>
                                            <p:cond delay="0"/>
                                          </p:stCondLst>
                                        </p:cTn>
                                        <p:tgtEl>
                                          <p:spTgt spid="31"/>
                                        </p:tgtEl>
                                        <p:attrNameLst>
                                          <p:attrName>style.visibility</p:attrName>
                                        </p:attrNameLst>
                                      </p:cBhvr>
                                      <p:to>
                                        <p:strVal val="visible"/>
                                      </p:to>
                                    </p:set>
                                    <p:animEffect transition="in" filter="fade">
                                      <p:cBhvr>
                                        <p:cTn id="159" dur="500"/>
                                        <p:tgtEl>
                                          <p:spTgt spid="31"/>
                                        </p:tgtEl>
                                      </p:cBhvr>
                                    </p:animEffect>
                                    <p:anim calcmode="lin" valueType="num">
                                      <p:cBhvr>
                                        <p:cTn id="160" dur="500" fill="hold"/>
                                        <p:tgtEl>
                                          <p:spTgt spid="31"/>
                                        </p:tgtEl>
                                        <p:attrNameLst>
                                          <p:attrName>ppt_x</p:attrName>
                                        </p:attrNameLst>
                                      </p:cBhvr>
                                      <p:tavLst>
                                        <p:tav tm="0">
                                          <p:val>
                                            <p:strVal val="#ppt_x"/>
                                          </p:val>
                                        </p:tav>
                                        <p:tav tm="100000">
                                          <p:val>
                                            <p:strVal val="#ppt_x"/>
                                          </p:val>
                                        </p:tav>
                                      </p:tavLst>
                                    </p:anim>
                                    <p:anim calcmode="lin" valueType="num">
                                      <p:cBhvr>
                                        <p:cTn id="161" dur="500" fill="hold"/>
                                        <p:tgtEl>
                                          <p:spTgt spid="31"/>
                                        </p:tgtEl>
                                        <p:attrNameLst>
                                          <p:attrName>ppt_y</p:attrName>
                                        </p:attrNameLst>
                                      </p:cBhvr>
                                      <p:tavLst>
                                        <p:tav tm="0">
                                          <p:val>
                                            <p:strVal val="#ppt_y+.1"/>
                                          </p:val>
                                        </p:tav>
                                        <p:tav tm="100000">
                                          <p:val>
                                            <p:strVal val="#ppt_y"/>
                                          </p:val>
                                        </p:tav>
                                      </p:tavLst>
                                    </p:anim>
                                  </p:childTnLst>
                                </p:cTn>
                              </p:par>
                            </p:childTnLst>
                          </p:cTn>
                        </p:par>
                        <p:par>
                          <p:cTn id="162" fill="hold">
                            <p:stCondLst>
                              <p:cond delay="10750"/>
                            </p:stCondLst>
                            <p:childTnLst>
                              <p:par>
                                <p:cTn id="163" presetID="42" presetClass="entr" presetSubtype="0" fill="hold" grpId="0" nodeType="afterEffect">
                                  <p:stCondLst>
                                    <p:cond delay="0"/>
                                  </p:stCondLst>
                                  <p:childTnLst>
                                    <p:set>
                                      <p:cBhvr>
                                        <p:cTn id="164" dur="1" fill="hold">
                                          <p:stCondLst>
                                            <p:cond delay="0"/>
                                          </p:stCondLst>
                                        </p:cTn>
                                        <p:tgtEl>
                                          <p:spTgt spid="32"/>
                                        </p:tgtEl>
                                        <p:attrNameLst>
                                          <p:attrName>style.visibility</p:attrName>
                                        </p:attrNameLst>
                                      </p:cBhvr>
                                      <p:to>
                                        <p:strVal val="visible"/>
                                      </p:to>
                                    </p:set>
                                    <p:animEffect transition="in" filter="fade">
                                      <p:cBhvr>
                                        <p:cTn id="165" dur="500"/>
                                        <p:tgtEl>
                                          <p:spTgt spid="32"/>
                                        </p:tgtEl>
                                      </p:cBhvr>
                                    </p:animEffect>
                                    <p:anim calcmode="lin" valueType="num">
                                      <p:cBhvr>
                                        <p:cTn id="166" dur="500" fill="hold"/>
                                        <p:tgtEl>
                                          <p:spTgt spid="32"/>
                                        </p:tgtEl>
                                        <p:attrNameLst>
                                          <p:attrName>ppt_x</p:attrName>
                                        </p:attrNameLst>
                                      </p:cBhvr>
                                      <p:tavLst>
                                        <p:tav tm="0">
                                          <p:val>
                                            <p:strVal val="#ppt_x"/>
                                          </p:val>
                                        </p:tav>
                                        <p:tav tm="100000">
                                          <p:val>
                                            <p:strVal val="#ppt_x"/>
                                          </p:val>
                                        </p:tav>
                                      </p:tavLst>
                                    </p:anim>
                                    <p:anim calcmode="lin" valueType="num">
                                      <p:cBhvr>
                                        <p:cTn id="167" dur="500" fill="hold"/>
                                        <p:tgtEl>
                                          <p:spTgt spid="32"/>
                                        </p:tgtEl>
                                        <p:attrNameLst>
                                          <p:attrName>ppt_y</p:attrName>
                                        </p:attrNameLst>
                                      </p:cBhvr>
                                      <p:tavLst>
                                        <p:tav tm="0">
                                          <p:val>
                                            <p:strVal val="#ppt_y+.1"/>
                                          </p:val>
                                        </p:tav>
                                        <p:tav tm="100000">
                                          <p:val>
                                            <p:strVal val="#ppt_y"/>
                                          </p:val>
                                        </p:tav>
                                      </p:tavLst>
                                    </p:anim>
                                  </p:childTnLst>
                                </p:cTn>
                              </p:par>
                            </p:childTnLst>
                          </p:cTn>
                        </p:par>
                        <p:par>
                          <p:cTn id="168" fill="hold">
                            <p:stCondLst>
                              <p:cond delay="11250"/>
                            </p:stCondLst>
                            <p:childTnLst>
                              <p:par>
                                <p:cTn id="169" presetID="42" presetClass="entr" presetSubtype="0" fill="hold" grpId="0" nodeType="afterEffect">
                                  <p:stCondLst>
                                    <p:cond delay="0"/>
                                  </p:stCondLst>
                                  <p:childTnLst>
                                    <p:set>
                                      <p:cBhvr>
                                        <p:cTn id="170" dur="1" fill="hold">
                                          <p:stCondLst>
                                            <p:cond delay="0"/>
                                          </p:stCondLst>
                                        </p:cTn>
                                        <p:tgtEl>
                                          <p:spTgt spid="33"/>
                                        </p:tgtEl>
                                        <p:attrNameLst>
                                          <p:attrName>style.visibility</p:attrName>
                                        </p:attrNameLst>
                                      </p:cBhvr>
                                      <p:to>
                                        <p:strVal val="visible"/>
                                      </p:to>
                                    </p:set>
                                    <p:animEffect transition="in" filter="fade">
                                      <p:cBhvr>
                                        <p:cTn id="171" dur="500"/>
                                        <p:tgtEl>
                                          <p:spTgt spid="33"/>
                                        </p:tgtEl>
                                      </p:cBhvr>
                                    </p:animEffect>
                                    <p:anim calcmode="lin" valueType="num">
                                      <p:cBhvr>
                                        <p:cTn id="172" dur="500" fill="hold"/>
                                        <p:tgtEl>
                                          <p:spTgt spid="33"/>
                                        </p:tgtEl>
                                        <p:attrNameLst>
                                          <p:attrName>ppt_x</p:attrName>
                                        </p:attrNameLst>
                                      </p:cBhvr>
                                      <p:tavLst>
                                        <p:tav tm="0">
                                          <p:val>
                                            <p:strVal val="#ppt_x"/>
                                          </p:val>
                                        </p:tav>
                                        <p:tav tm="100000">
                                          <p:val>
                                            <p:strVal val="#ppt_x"/>
                                          </p:val>
                                        </p:tav>
                                      </p:tavLst>
                                    </p:anim>
                                    <p:anim calcmode="lin" valueType="num">
                                      <p:cBhvr>
                                        <p:cTn id="173" dur="500" fill="hold"/>
                                        <p:tgtEl>
                                          <p:spTgt spid="33"/>
                                        </p:tgtEl>
                                        <p:attrNameLst>
                                          <p:attrName>ppt_y</p:attrName>
                                        </p:attrNameLst>
                                      </p:cBhvr>
                                      <p:tavLst>
                                        <p:tav tm="0">
                                          <p:val>
                                            <p:strVal val="#ppt_y+.1"/>
                                          </p:val>
                                        </p:tav>
                                        <p:tav tm="100000">
                                          <p:val>
                                            <p:strVal val="#ppt_y"/>
                                          </p:val>
                                        </p:tav>
                                      </p:tavLst>
                                    </p:anim>
                                  </p:childTnLst>
                                </p:cTn>
                              </p:par>
                            </p:childTnLst>
                          </p:cTn>
                        </p:par>
                        <p:par>
                          <p:cTn id="174" fill="hold">
                            <p:stCondLst>
                              <p:cond delay="11750"/>
                            </p:stCondLst>
                            <p:childTnLst>
                              <p:par>
                                <p:cTn id="175" presetID="42" presetClass="entr" presetSubtype="0" fill="hold" grpId="0" nodeType="afterEffect">
                                  <p:stCondLst>
                                    <p:cond delay="0"/>
                                  </p:stCondLst>
                                  <p:childTnLst>
                                    <p:set>
                                      <p:cBhvr>
                                        <p:cTn id="176" dur="1" fill="hold">
                                          <p:stCondLst>
                                            <p:cond delay="0"/>
                                          </p:stCondLst>
                                        </p:cTn>
                                        <p:tgtEl>
                                          <p:spTgt spid="34"/>
                                        </p:tgtEl>
                                        <p:attrNameLst>
                                          <p:attrName>style.visibility</p:attrName>
                                        </p:attrNameLst>
                                      </p:cBhvr>
                                      <p:to>
                                        <p:strVal val="visible"/>
                                      </p:to>
                                    </p:set>
                                    <p:animEffect transition="in" filter="fade">
                                      <p:cBhvr>
                                        <p:cTn id="177" dur="500"/>
                                        <p:tgtEl>
                                          <p:spTgt spid="34"/>
                                        </p:tgtEl>
                                      </p:cBhvr>
                                    </p:animEffect>
                                    <p:anim calcmode="lin" valueType="num">
                                      <p:cBhvr>
                                        <p:cTn id="178" dur="500" fill="hold"/>
                                        <p:tgtEl>
                                          <p:spTgt spid="34"/>
                                        </p:tgtEl>
                                        <p:attrNameLst>
                                          <p:attrName>ppt_x</p:attrName>
                                        </p:attrNameLst>
                                      </p:cBhvr>
                                      <p:tavLst>
                                        <p:tav tm="0">
                                          <p:val>
                                            <p:strVal val="#ppt_x"/>
                                          </p:val>
                                        </p:tav>
                                        <p:tav tm="100000">
                                          <p:val>
                                            <p:strVal val="#ppt_x"/>
                                          </p:val>
                                        </p:tav>
                                      </p:tavLst>
                                    </p:anim>
                                    <p:anim calcmode="lin" valueType="num">
                                      <p:cBhvr>
                                        <p:cTn id="179" dur="500" fill="hold"/>
                                        <p:tgtEl>
                                          <p:spTgt spid="34"/>
                                        </p:tgtEl>
                                        <p:attrNameLst>
                                          <p:attrName>ppt_y</p:attrName>
                                        </p:attrNameLst>
                                      </p:cBhvr>
                                      <p:tavLst>
                                        <p:tav tm="0">
                                          <p:val>
                                            <p:strVal val="#ppt_y+.1"/>
                                          </p:val>
                                        </p:tav>
                                        <p:tav tm="100000">
                                          <p:val>
                                            <p:strVal val="#ppt_y"/>
                                          </p:val>
                                        </p:tav>
                                      </p:tavLst>
                                    </p:anim>
                                  </p:childTnLst>
                                </p:cTn>
                              </p:par>
                            </p:childTnLst>
                          </p:cTn>
                        </p:par>
                        <p:par>
                          <p:cTn id="180" fill="hold">
                            <p:stCondLst>
                              <p:cond delay="12250"/>
                            </p:stCondLst>
                            <p:childTnLst>
                              <p:par>
                                <p:cTn id="181" presetID="42" presetClass="entr" presetSubtype="0" fill="hold" grpId="0" nodeType="afterEffect">
                                  <p:stCondLst>
                                    <p:cond delay="0"/>
                                  </p:stCondLst>
                                  <p:childTnLst>
                                    <p:set>
                                      <p:cBhvr>
                                        <p:cTn id="182" dur="1" fill="hold">
                                          <p:stCondLst>
                                            <p:cond delay="0"/>
                                          </p:stCondLst>
                                        </p:cTn>
                                        <p:tgtEl>
                                          <p:spTgt spid="35"/>
                                        </p:tgtEl>
                                        <p:attrNameLst>
                                          <p:attrName>style.visibility</p:attrName>
                                        </p:attrNameLst>
                                      </p:cBhvr>
                                      <p:to>
                                        <p:strVal val="visible"/>
                                      </p:to>
                                    </p:set>
                                    <p:animEffect transition="in" filter="fade">
                                      <p:cBhvr>
                                        <p:cTn id="183" dur="500"/>
                                        <p:tgtEl>
                                          <p:spTgt spid="35"/>
                                        </p:tgtEl>
                                      </p:cBhvr>
                                    </p:animEffect>
                                    <p:anim calcmode="lin" valueType="num">
                                      <p:cBhvr>
                                        <p:cTn id="184" dur="500" fill="hold"/>
                                        <p:tgtEl>
                                          <p:spTgt spid="35"/>
                                        </p:tgtEl>
                                        <p:attrNameLst>
                                          <p:attrName>ppt_x</p:attrName>
                                        </p:attrNameLst>
                                      </p:cBhvr>
                                      <p:tavLst>
                                        <p:tav tm="0">
                                          <p:val>
                                            <p:strVal val="#ppt_x"/>
                                          </p:val>
                                        </p:tav>
                                        <p:tav tm="100000">
                                          <p:val>
                                            <p:strVal val="#ppt_x"/>
                                          </p:val>
                                        </p:tav>
                                      </p:tavLst>
                                    </p:anim>
                                    <p:anim calcmode="lin" valueType="num">
                                      <p:cBhvr>
                                        <p:cTn id="185" dur="500" fill="hold"/>
                                        <p:tgtEl>
                                          <p:spTgt spid="35"/>
                                        </p:tgtEl>
                                        <p:attrNameLst>
                                          <p:attrName>ppt_y</p:attrName>
                                        </p:attrNameLst>
                                      </p:cBhvr>
                                      <p:tavLst>
                                        <p:tav tm="0">
                                          <p:val>
                                            <p:strVal val="#ppt_y+.1"/>
                                          </p:val>
                                        </p:tav>
                                        <p:tav tm="100000">
                                          <p:val>
                                            <p:strVal val="#ppt_y"/>
                                          </p:val>
                                        </p:tav>
                                      </p:tavLst>
                                    </p:anim>
                                  </p:childTnLst>
                                </p:cTn>
                              </p:par>
                            </p:childTnLst>
                          </p:cTn>
                        </p:par>
                        <p:par>
                          <p:cTn id="186" fill="hold">
                            <p:stCondLst>
                              <p:cond delay="12750"/>
                            </p:stCondLst>
                            <p:childTnLst>
                              <p:par>
                                <p:cTn id="187" presetID="42" presetClass="entr" presetSubtype="0" fill="hold" grpId="0" nodeType="afterEffect">
                                  <p:stCondLst>
                                    <p:cond delay="0"/>
                                  </p:stCondLst>
                                  <p:childTnLst>
                                    <p:set>
                                      <p:cBhvr>
                                        <p:cTn id="188" dur="1" fill="hold">
                                          <p:stCondLst>
                                            <p:cond delay="0"/>
                                          </p:stCondLst>
                                        </p:cTn>
                                        <p:tgtEl>
                                          <p:spTgt spid="36"/>
                                        </p:tgtEl>
                                        <p:attrNameLst>
                                          <p:attrName>style.visibility</p:attrName>
                                        </p:attrNameLst>
                                      </p:cBhvr>
                                      <p:to>
                                        <p:strVal val="visible"/>
                                      </p:to>
                                    </p:set>
                                    <p:animEffect transition="in" filter="fade">
                                      <p:cBhvr>
                                        <p:cTn id="189" dur="500"/>
                                        <p:tgtEl>
                                          <p:spTgt spid="36"/>
                                        </p:tgtEl>
                                      </p:cBhvr>
                                    </p:animEffect>
                                    <p:anim calcmode="lin" valueType="num">
                                      <p:cBhvr>
                                        <p:cTn id="190" dur="500" fill="hold"/>
                                        <p:tgtEl>
                                          <p:spTgt spid="36"/>
                                        </p:tgtEl>
                                        <p:attrNameLst>
                                          <p:attrName>ppt_x</p:attrName>
                                        </p:attrNameLst>
                                      </p:cBhvr>
                                      <p:tavLst>
                                        <p:tav tm="0">
                                          <p:val>
                                            <p:strVal val="#ppt_x"/>
                                          </p:val>
                                        </p:tav>
                                        <p:tav tm="100000">
                                          <p:val>
                                            <p:strVal val="#ppt_x"/>
                                          </p:val>
                                        </p:tav>
                                      </p:tavLst>
                                    </p:anim>
                                    <p:anim calcmode="lin" valueType="num">
                                      <p:cBhvr>
                                        <p:cTn id="191" dur="500" fill="hold"/>
                                        <p:tgtEl>
                                          <p:spTgt spid="36"/>
                                        </p:tgtEl>
                                        <p:attrNameLst>
                                          <p:attrName>ppt_y</p:attrName>
                                        </p:attrNameLst>
                                      </p:cBhvr>
                                      <p:tavLst>
                                        <p:tav tm="0">
                                          <p:val>
                                            <p:strVal val="#ppt_y+.1"/>
                                          </p:val>
                                        </p:tav>
                                        <p:tav tm="100000">
                                          <p:val>
                                            <p:strVal val="#ppt_y"/>
                                          </p:val>
                                        </p:tav>
                                      </p:tavLst>
                                    </p:anim>
                                  </p:childTnLst>
                                </p:cTn>
                              </p:par>
                            </p:childTnLst>
                          </p:cTn>
                        </p:par>
                        <p:par>
                          <p:cTn id="192" fill="hold">
                            <p:stCondLst>
                              <p:cond delay="13250"/>
                            </p:stCondLst>
                            <p:childTnLst>
                              <p:par>
                                <p:cTn id="193" presetID="42" presetClass="entr" presetSubtype="0" fill="hold" grpId="0" nodeType="afterEffect">
                                  <p:stCondLst>
                                    <p:cond delay="0"/>
                                  </p:stCondLst>
                                  <p:childTnLst>
                                    <p:set>
                                      <p:cBhvr>
                                        <p:cTn id="194" dur="1" fill="hold">
                                          <p:stCondLst>
                                            <p:cond delay="0"/>
                                          </p:stCondLst>
                                        </p:cTn>
                                        <p:tgtEl>
                                          <p:spTgt spid="37"/>
                                        </p:tgtEl>
                                        <p:attrNameLst>
                                          <p:attrName>style.visibility</p:attrName>
                                        </p:attrNameLst>
                                      </p:cBhvr>
                                      <p:to>
                                        <p:strVal val="visible"/>
                                      </p:to>
                                    </p:set>
                                    <p:animEffect transition="in" filter="fade">
                                      <p:cBhvr>
                                        <p:cTn id="195" dur="500"/>
                                        <p:tgtEl>
                                          <p:spTgt spid="37"/>
                                        </p:tgtEl>
                                      </p:cBhvr>
                                    </p:animEffect>
                                    <p:anim calcmode="lin" valueType="num">
                                      <p:cBhvr>
                                        <p:cTn id="196" dur="500" fill="hold"/>
                                        <p:tgtEl>
                                          <p:spTgt spid="37"/>
                                        </p:tgtEl>
                                        <p:attrNameLst>
                                          <p:attrName>ppt_x</p:attrName>
                                        </p:attrNameLst>
                                      </p:cBhvr>
                                      <p:tavLst>
                                        <p:tav tm="0">
                                          <p:val>
                                            <p:strVal val="#ppt_x"/>
                                          </p:val>
                                        </p:tav>
                                        <p:tav tm="100000">
                                          <p:val>
                                            <p:strVal val="#ppt_x"/>
                                          </p:val>
                                        </p:tav>
                                      </p:tavLst>
                                    </p:anim>
                                    <p:anim calcmode="lin" valueType="num">
                                      <p:cBhvr>
                                        <p:cTn id="197" dur="500" fill="hold"/>
                                        <p:tgtEl>
                                          <p:spTgt spid="37"/>
                                        </p:tgtEl>
                                        <p:attrNameLst>
                                          <p:attrName>ppt_y</p:attrName>
                                        </p:attrNameLst>
                                      </p:cBhvr>
                                      <p:tavLst>
                                        <p:tav tm="0">
                                          <p:val>
                                            <p:strVal val="#ppt_y+.1"/>
                                          </p:val>
                                        </p:tav>
                                        <p:tav tm="100000">
                                          <p:val>
                                            <p:strVal val="#ppt_y"/>
                                          </p:val>
                                        </p:tav>
                                      </p:tavLst>
                                    </p:anim>
                                  </p:childTnLst>
                                </p:cTn>
                              </p:par>
                            </p:childTnLst>
                          </p:cTn>
                        </p:par>
                        <p:par>
                          <p:cTn id="198" fill="hold">
                            <p:stCondLst>
                              <p:cond delay="13750"/>
                            </p:stCondLst>
                            <p:childTnLst>
                              <p:par>
                                <p:cTn id="199" presetID="42" presetClass="entr" presetSubtype="0" fill="hold" grpId="0" nodeType="afterEffect">
                                  <p:stCondLst>
                                    <p:cond delay="0"/>
                                  </p:stCondLst>
                                  <p:childTnLst>
                                    <p:set>
                                      <p:cBhvr>
                                        <p:cTn id="200" dur="1" fill="hold">
                                          <p:stCondLst>
                                            <p:cond delay="0"/>
                                          </p:stCondLst>
                                        </p:cTn>
                                        <p:tgtEl>
                                          <p:spTgt spid="38"/>
                                        </p:tgtEl>
                                        <p:attrNameLst>
                                          <p:attrName>style.visibility</p:attrName>
                                        </p:attrNameLst>
                                      </p:cBhvr>
                                      <p:to>
                                        <p:strVal val="visible"/>
                                      </p:to>
                                    </p:set>
                                    <p:animEffect transition="in" filter="fade">
                                      <p:cBhvr>
                                        <p:cTn id="201" dur="500"/>
                                        <p:tgtEl>
                                          <p:spTgt spid="38"/>
                                        </p:tgtEl>
                                      </p:cBhvr>
                                    </p:animEffect>
                                    <p:anim calcmode="lin" valueType="num">
                                      <p:cBhvr>
                                        <p:cTn id="202" dur="500" fill="hold"/>
                                        <p:tgtEl>
                                          <p:spTgt spid="38"/>
                                        </p:tgtEl>
                                        <p:attrNameLst>
                                          <p:attrName>ppt_x</p:attrName>
                                        </p:attrNameLst>
                                      </p:cBhvr>
                                      <p:tavLst>
                                        <p:tav tm="0">
                                          <p:val>
                                            <p:strVal val="#ppt_x"/>
                                          </p:val>
                                        </p:tav>
                                        <p:tav tm="100000">
                                          <p:val>
                                            <p:strVal val="#ppt_x"/>
                                          </p:val>
                                        </p:tav>
                                      </p:tavLst>
                                    </p:anim>
                                    <p:anim calcmode="lin" valueType="num">
                                      <p:cBhvr>
                                        <p:cTn id="203" dur="500" fill="hold"/>
                                        <p:tgtEl>
                                          <p:spTgt spid="38"/>
                                        </p:tgtEl>
                                        <p:attrNameLst>
                                          <p:attrName>ppt_y</p:attrName>
                                        </p:attrNameLst>
                                      </p:cBhvr>
                                      <p:tavLst>
                                        <p:tav tm="0">
                                          <p:val>
                                            <p:strVal val="#ppt_y+.1"/>
                                          </p:val>
                                        </p:tav>
                                        <p:tav tm="100000">
                                          <p:val>
                                            <p:strVal val="#ppt_y"/>
                                          </p:val>
                                        </p:tav>
                                      </p:tavLst>
                                    </p:anim>
                                  </p:childTnLst>
                                </p:cTn>
                              </p:par>
                            </p:childTnLst>
                          </p:cTn>
                        </p:par>
                        <p:par>
                          <p:cTn id="204" fill="hold">
                            <p:stCondLst>
                              <p:cond delay="14250"/>
                            </p:stCondLst>
                            <p:childTnLst>
                              <p:par>
                                <p:cTn id="205" presetID="42" presetClass="entr" presetSubtype="0" fill="hold" grpId="0" nodeType="afterEffect">
                                  <p:stCondLst>
                                    <p:cond delay="0"/>
                                  </p:stCondLst>
                                  <p:childTnLst>
                                    <p:set>
                                      <p:cBhvr>
                                        <p:cTn id="206" dur="1" fill="hold">
                                          <p:stCondLst>
                                            <p:cond delay="0"/>
                                          </p:stCondLst>
                                        </p:cTn>
                                        <p:tgtEl>
                                          <p:spTgt spid="39"/>
                                        </p:tgtEl>
                                        <p:attrNameLst>
                                          <p:attrName>style.visibility</p:attrName>
                                        </p:attrNameLst>
                                      </p:cBhvr>
                                      <p:to>
                                        <p:strVal val="visible"/>
                                      </p:to>
                                    </p:set>
                                    <p:animEffect transition="in" filter="fade">
                                      <p:cBhvr>
                                        <p:cTn id="207" dur="500"/>
                                        <p:tgtEl>
                                          <p:spTgt spid="39"/>
                                        </p:tgtEl>
                                      </p:cBhvr>
                                    </p:animEffect>
                                    <p:anim calcmode="lin" valueType="num">
                                      <p:cBhvr>
                                        <p:cTn id="208" dur="500" fill="hold"/>
                                        <p:tgtEl>
                                          <p:spTgt spid="39"/>
                                        </p:tgtEl>
                                        <p:attrNameLst>
                                          <p:attrName>ppt_x</p:attrName>
                                        </p:attrNameLst>
                                      </p:cBhvr>
                                      <p:tavLst>
                                        <p:tav tm="0">
                                          <p:val>
                                            <p:strVal val="#ppt_x"/>
                                          </p:val>
                                        </p:tav>
                                        <p:tav tm="100000">
                                          <p:val>
                                            <p:strVal val="#ppt_x"/>
                                          </p:val>
                                        </p:tav>
                                      </p:tavLst>
                                    </p:anim>
                                    <p:anim calcmode="lin" valueType="num">
                                      <p:cBhvr>
                                        <p:cTn id="209" dur="5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Bootstrap 5 &amp; CSS Avancé</a:t>
            </a:r>
            <a:endParaRPr lang="en-US" sz="2200" dirty="0"/>
          </a:p>
        </p:txBody>
      </p:sp>
      <p:sp>
        <p:nvSpPr>
          <p:cNvPr id="5" name="Shape 3"/>
          <p:cNvSpPr/>
          <p:nvPr/>
        </p:nvSpPr>
        <p:spPr>
          <a:xfrm>
            <a:off x="548640" y="1280160"/>
            <a:ext cx="5394960" cy="4663440"/>
          </a:xfrm>
          <a:prstGeom prst="roundRect">
            <a:avLst>
              <a:gd name="adj" fmla="val 1569"/>
            </a:avLst>
          </a:prstGeom>
          <a:solidFill>
            <a:srgbClr val="FFFFFF"/>
          </a:solidFill>
          <a:ln w="19050">
            <a:solidFill>
              <a:srgbClr val="0B5E63"/>
            </a:solidFill>
            <a:prstDash val="solid"/>
          </a:ln>
        </p:spPr>
        <p:txBody>
          <a:bodyPr/>
          <a:lstStyle/>
          <a:p>
            <a:endParaRPr lang="fr-FR"/>
          </a:p>
        </p:txBody>
      </p:sp>
      <p:sp>
        <p:nvSpPr>
          <p:cNvPr id="6" name="Text 4"/>
          <p:cNvSpPr/>
          <p:nvPr/>
        </p:nvSpPr>
        <p:spPr>
          <a:xfrm>
            <a:off x="868680" y="1463040"/>
            <a:ext cx="4754880" cy="365760"/>
          </a:xfrm>
          <a:prstGeom prst="rect">
            <a:avLst/>
          </a:prstGeom>
          <a:noFill/>
          <a:ln/>
        </p:spPr>
        <p:txBody>
          <a:bodyPr wrap="square" rtlCol="0" anchor="ctr"/>
          <a:lstStyle/>
          <a:p>
            <a:pPr marL="0" indent="0">
              <a:buNone/>
            </a:pPr>
            <a:r>
              <a:rPr lang="en-US" sz="1700" b="1" dirty="0">
                <a:solidFill>
                  <a:srgbClr val="0B5E63"/>
                </a:solidFill>
                <a:latin typeface="Cambria" pitchFamily="34" charset="0"/>
                <a:ea typeface="Cambria" pitchFamily="34" charset="-122"/>
                <a:cs typeface="Cambria" pitchFamily="34" charset="-120"/>
              </a:rPr>
              <a:t>Bootstrap 5</a:t>
            </a:r>
            <a:endParaRPr lang="en-US" sz="1700" dirty="0"/>
          </a:p>
        </p:txBody>
      </p:sp>
      <p:sp>
        <p:nvSpPr>
          <p:cNvPr id="7" name="Text 5"/>
          <p:cNvSpPr/>
          <p:nvPr/>
        </p:nvSpPr>
        <p:spPr>
          <a:xfrm>
            <a:off x="868680" y="196596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Navbar</a:t>
            </a:r>
            <a:endParaRPr lang="en-US" sz="1250" dirty="0"/>
          </a:p>
        </p:txBody>
      </p:sp>
      <p:sp>
        <p:nvSpPr>
          <p:cNvPr id="8" name="Text 6"/>
          <p:cNvSpPr/>
          <p:nvPr/>
        </p:nvSpPr>
        <p:spPr>
          <a:xfrm>
            <a:off x="2514600" y="196596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sticky + scrolled JS</a:t>
            </a:r>
            <a:endParaRPr lang="en-US" sz="1150" dirty="0"/>
          </a:p>
        </p:txBody>
      </p:sp>
      <p:sp>
        <p:nvSpPr>
          <p:cNvPr id="9" name="Text 7"/>
          <p:cNvSpPr/>
          <p:nvPr/>
        </p:nvSpPr>
        <p:spPr>
          <a:xfrm>
            <a:off x="868680" y="251460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Grille</a:t>
            </a:r>
            <a:endParaRPr lang="en-US" sz="1250" dirty="0"/>
          </a:p>
        </p:txBody>
      </p:sp>
      <p:sp>
        <p:nvSpPr>
          <p:cNvPr id="10" name="Text 8"/>
          <p:cNvSpPr/>
          <p:nvPr/>
        </p:nvSpPr>
        <p:spPr>
          <a:xfrm>
            <a:off x="2514600" y="251460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col-12 / col-md-6 / col-lg-4</a:t>
            </a:r>
            <a:endParaRPr lang="en-US" sz="1150" dirty="0"/>
          </a:p>
        </p:txBody>
      </p:sp>
      <p:sp>
        <p:nvSpPr>
          <p:cNvPr id="11" name="Text 9"/>
          <p:cNvSpPr/>
          <p:nvPr/>
        </p:nvSpPr>
        <p:spPr>
          <a:xfrm>
            <a:off x="868680" y="306324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Cards</a:t>
            </a:r>
            <a:endParaRPr lang="en-US" sz="1250" dirty="0"/>
          </a:p>
        </p:txBody>
      </p:sp>
      <p:sp>
        <p:nvSpPr>
          <p:cNvPr id="12" name="Text 10"/>
          <p:cNvSpPr/>
          <p:nvPr/>
        </p:nvSpPr>
        <p:spPr>
          <a:xfrm>
            <a:off x="2514600" y="306324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profils freelances + plans</a:t>
            </a:r>
            <a:endParaRPr lang="en-US" sz="1150" dirty="0"/>
          </a:p>
        </p:txBody>
      </p:sp>
      <p:sp>
        <p:nvSpPr>
          <p:cNvPr id="13" name="Text 11"/>
          <p:cNvSpPr/>
          <p:nvPr/>
        </p:nvSpPr>
        <p:spPr>
          <a:xfrm>
            <a:off x="868680" y="361188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Carousel</a:t>
            </a:r>
            <a:endParaRPr lang="en-US" sz="1250" dirty="0"/>
          </a:p>
        </p:txBody>
      </p:sp>
      <p:sp>
        <p:nvSpPr>
          <p:cNvPr id="14" name="Text 12"/>
          <p:cNvSpPr/>
          <p:nvPr/>
        </p:nvSpPr>
        <p:spPr>
          <a:xfrm>
            <a:off x="2514600" y="361188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témoignages, 3 slides auto</a:t>
            </a:r>
            <a:endParaRPr lang="en-US" sz="1150" dirty="0"/>
          </a:p>
        </p:txBody>
      </p:sp>
      <p:sp>
        <p:nvSpPr>
          <p:cNvPr id="15" name="Text 13"/>
          <p:cNvSpPr/>
          <p:nvPr/>
        </p:nvSpPr>
        <p:spPr>
          <a:xfrm>
            <a:off x="868680" y="416052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Accordion</a:t>
            </a:r>
            <a:endParaRPr lang="en-US" sz="1250" dirty="0"/>
          </a:p>
        </p:txBody>
      </p:sp>
      <p:sp>
        <p:nvSpPr>
          <p:cNvPr id="16" name="Text 14"/>
          <p:cNvSpPr/>
          <p:nvPr/>
        </p:nvSpPr>
        <p:spPr>
          <a:xfrm>
            <a:off x="2514600" y="416052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FAQ, 5 questions/réponses</a:t>
            </a:r>
            <a:endParaRPr lang="en-US" sz="1150" dirty="0"/>
          </a:p>
        </p:txBody>
      </p:sp>
      <p:sp>
        <p:nvSpPr>
          <p:cNvPr id="17" name="Text 15"/>
          <p:cNvSpPr/>
          <p:nvPr/>
        </p:nvSpPr>
        <p:spPr>
          <a:xfrm>
            <a:off x="868680" y="470916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Badge</a:t>
            </a:r>
            <a:endParaRPr lang="en-US" sz="1250" dirty="0"/>
          </a:p>
        </p:txBody>
      </p:sp>
      <p:sp>
        <p:nvSpPr>
          <p:cNvPr id="18" name="Text 16"/>
          <p:cNvSpPr/>
          <p:nvPr/>
        </p:nvSpPr>
        <p:spPr>
          <a:xfrm>
            <a:off x="2514600" y="470916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 Populaire » sur plan Pro</a:t>
            </a:r>
            <a:endParaRPr lang="en-US" sz="1150" dirty="0"/>
          </a:p>
        </p:txBody>
      </p:sp>
      <p:sp>
        <p:nvSpPr>
          <p:cNvPr id="19" name="Text 17"/>
          <p:cNvSpPr/>
          <p:nvPr/>
        </p:nvSpPr>
        <p:spPr>
          <a:xfrm>
            <a:off x="868680" y="525780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Utilitaires</a:t>
            </a:r>
            <a:endParaRPr lang="en-US" sz="1250" dirty="0"/>
          </a:p>
        </p:txBody>
      </p:sp>
      <p:sp>
        <p:nvSpPr>
          <p:cNvPr id="20" name="Text 18"/>
          <p:cNvSpPr/>
          <p:nvPr/>
        </p:nvSpPr>
        <p:spPr>
          <a:xfrm>
            <a:off x="2514600" y="525780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gap, d-flex, text-center…</a:t>
            </a:r>
            <a:endParaRPr lang="en-US" sz="1150" dirty="0"/>
          </a:p>
        </p:txBody>
      </p:sp>
      <p:sp>
        <p:nvSpPr>
          <p:cNvPr id="21" name="Shape 19"/>
          <p:cNvSpPr/>
          <p:nvPr/>
        </p:nvSpPr>
        <p:spPr>
          <a:xfrm>
            <a:off x="6217920" y="1280160"/>
            <a:ext cx="5394960" cy="4663440"/>
          </a:xfrm>
          <a:prstGeom prst="roundRect">
            <a:avLst>
              <a:gd name="adj" fmla="val 1569"/>
            </a:avLst>
          </a:prstGeom>
          <a:solidFill>
            <a:srgbClr val="F4F1EC"/>
          </a:solidFill>
          <a:ln/>
        </p:spPr>
        <p:txBody>
          <a:bodyPr/>
          <a:lstStyle/>
          <a:p>
            <a:endParaRPr lang="fr-FR"/>
          </a:p>
        </p:txBody>
      </p:sp>
      <p:sp>
        <p:nvSpPr>
          <p:cNvPr id="22" name="Text 20"/>
          <p:cNvSpPr/>
          <p:nvPr/>
        </p:nvSpPr>
        <p:spPr>
          <a:xfrm>
            <a:off x="6537960" y="1463040"/>
            <a:ext cx="4754880" cy="365760"/>
          </a:xfrm>
          <a:prstGeom prst="rect">
            <a:avLst/>
          </a:prstGeom>
          <a:noFill/>
          <a:ln/>
        </p:spPr>
        <p:txBody>
          <a:bodyPr wrap="square" rtlCol="0" anchor="ctr"/>
          <a:lstStyle/>
          <a:p>
            <a:pPr marL="0" indent="0">
              <a:buNone/>
            </a:pPr>
            <a:r>
              <a:rPr lang="en-US" sz="1700" b="1" dirty="0">
                <a:solidFill>
                  <a:srgbClr val="0B5E63"/>
                </a:solidFill>
                <a:latin typeface="Cambria" pitchFamily="34" charset="0"/>
                <a:ea typeface="Cambria" pitchFamily="34" charset="-122"/>
                <a:cs typeface="Cambria" pitchFamily="34" charset="-120"/>
              </a:rPr>
              <a:t>CSS Avancé</a:t>
            </a:r>
            <a:endParaRPr lang="en-US" sz="1700" dirty="0"/>
          </a:p>
        </p:txBody>
      </p:sp>
      <p:sp>
        <p:nvSpPr>
          <p:cNvPr id="23" name="Text 21"/>
          <p:cNvSpPr/>
          <p:nvPr/>
        </p:nvSpPr>
        <p:spPr>
          <a:xfrm>
            <a:off x="6537960" y="196596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Variables CSS</a:t>
            </a:r>
            <a:endParaRPr lang="en-US" sz="1250" dirty="0"/>
          </a:p>
        </p:txBody>
      </p:sp>
      <p:sp>
        <p:nvSpPr>
          <p:cNvPr id="24" name="Text 22"/>
          <p:cNvSpPr/>
          <p:nvPr/>
        </p:nvSpPr>
        <p:spPr>
          <a:xfrm>
            <a:off x="8183880" y="196596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:root → 6+ custom properties</a:t>
            </a:r>
            <a:endParaRPr lang="en-US" sz="1150" dirty="0"/>
          </a:p>
        </p:txBody>
      </p:sp>
      <p:sp>
        <p:nvSpPr>
          <p:cNvPr id="25" name="Text 23"/>
          <p:cNvSpPr/>
          <p:nvPr/>
        </p:nvSpPr>
        <p:spPr>
          <a:xfrm>
            <a:off x="6537960" y="251460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Bento Grid</a:t>
            </a:r>
            <a:endParaRPr lang="en-US" sz="1250" dirty="0"/>
          </a:p>
        </p:txBody>
      </p:sp>
      <p:sp>
        <p:nvSpPr>
          <p:cNvPr id="26" name="Text 24"/>
          <p:cNvSpPr/>
          <p:nvPr/>
        </p:nvSpPr>
        <p:spPr>
          <a:xfrm>
            <a:off x="8183880" y="251460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CSS Grid asymétrique</a:t>
            </a:r>
            <a:endParaRPr lang="en-US" sz="1150" dirty="0"/>
          </a:p>
        </p:txBody>
      </p:sp>
      <p:sp>
        <p:nvSpPr>
          <p:cNvPr id="27" name="Text 25"/>
          <p:cNvSpPr/>
          <p:nvPr/>
        </p:nvSpPr>
        <p:spPr>
          <a:xfrm>
            <a:off x="6537960" y="306324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Responsive</a:t>
            </a:r>
            <a:endParaRPr lang="en-US" sz="1250" dirty="0"/>
          </a:p>
        </p:txBody>
      </p:sp>
      <p:sp>
        <p:nvSpPr>
          <p:cNvPr id="28" name="Text 26"/>
          <p:cNvSpPr/>
          <p:nvPr/>
        </p:nvSpPr>
        <p:spPr>
          <a:xfrm>
            <a:off x="8183880" y="306324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375px · 768px · 1200px+</a:t>
            </a:r>
            <a:endParaRPr lang="en-US" sz="1150" dirty="0"/>
          </a:p>
        </p:txBody>
      </p:sp>
      <p:sp>
        <p:nvSpPr>
          <p:cNvPr id="29" name="Text 27"/>
          <p:cNvSpPr/>
          <p:nvPr/>
        </p:nvSpPr>
        <p:spPr>
          <a:xfrm>
            <a:off x="6537960" y="361188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Dark Mode</a:t>
            </a:r>
            <a:endParaRPr lang="en-US" sz="1250" dirty="0"/>
          </a:p>
        </p:txBody>
      </p:sp>
      <p:sp>
        <p:nvSpPr>
          <p:cNvPr id="30" name="Text 28"/>
          <p:cNvSpPr/>
          <p:nvPr/>
        </p:nvSpPr>
        <p:spPr>
          <a:xfrm>
            <a:off x="8183880" y="361188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variables via body.dark-mode</a:t>
            </a:r>
            <a:endParaRPr lang="en-US" sz="1150" dirty="0"/>
          </a:p>
        </p:txBody>
      </p:sp>
      <p:sp>
        <p:nvSpPr>
          <p:cNvPr id="31" name="Text 29"/>
          <p:cNvSpPr/>
          <p:nvPr/>
        </p:nvSpPr>
        <p:spPr>
          <a:xfrm>
            <a:off x="6537960" y="416052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Transitions</a:t>
            </a:r>
            <a:endParaRPr lang="en-US" sz="1250" dirty="0"/>
          </a:p>
        </p:txBody>
      </p:sp>
      <p:sp>
        <p:nvSpPr>
          <p:cNvPr id="32" name="Text 30"/>
          <p:cNvSpPr/>
          <p:nvPr/>
        </p:nvSpPr>
        <p:spPr>
          <a:xfrm>
            <a:off x="8183880" y="416052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translateY, border, 0.3s</a:t>
            </a:r>
            <a:endParaRPr lang="en-US" sz="1150" dirty="0"/>
          </a:p>
        </p:txBody>
      </p:sp>
      <p:sp>
        <p:nvSpPr>
          <p:cNvPr id="33" name="Text 31"/>
          <p:cNvSpPr/>
          <p:nvPr/>
        </p:nvSpPr>
        <p:spPr>
          <a:xfrm>
            <a:off x="6537960" y="470916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Fade-in</a:t>
            </a:r>
            <a:endParaRPr lang="en-US" sz="1250" dirty="0"/>
          </a:p>
        </p:txBody>
      </p:sp>
      <p:sp>
        <p:nvSpPr>
          <p:cNvPr id="34" name="Text 32"/>
          <p:cNvSpPr/>
          <p:nvPr/>
        </p:nvSpPr>
        <p:spPr>
          <a:xfrm>
            <a:off x="8183880" y="470916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classe .visible ajoutée par JS</a:t>
            </a:r>
            <a:endParaRPr lang="en-US" sz="1150" dirty="0"/>
          </a:p>
        </p:txBody>
      </p:sp>
      <p:sp>
        <p:nvSpPr>
          <p:cNvPr id="35" name="Text 33"/>
          <p:cNvSpPr/>
          <p:nvPr/>
        </p:nvSpPr>
        <p:spPr>
          <a:xfrm>
            <a:off x="6537960" y="5257800"/>
            <a:ext cx="1645920" cy="411480"/>
          </a:xfrm>
          <a:prstGeom prst="rect">
            <a:avLst/>
          </a:prstGeom>
          <a:noFill/>
          <a:ln/>
        </p:spPr>
        <p:txBody>
          <a:bodyPr wrap="square" rtlCol="0" anchor="ctr"/>
          <a:lstStyle/>
          <a:p>
            <a:pPr marL="0" indent="0">
              <a:buNone/>
            </a:pPr>
            <a:r>
              <a:rPr lang="en-US" sz="1250" b="1" dirty="0">
                <a:solidFill>
                  <a:srgbClr val="1F2937"/>
                </a:solidFill>
                <a:latin typeface="Calibri" pitchFamily="34" charset="0"/>
                <a:ea typeface="Calibri" pitchFamily="34" charset="-122"/>
                <a:cs typeface="Calibri" pitchFamily="34" charset="-120"/>
              </a:rPr>
              <a:t>Google Fonts</a:t>
            </a:r>
            <a:endParaRPr lang="en-US" sz="1250" dirty="0"/>
          </a:p>
        </p:txBody>
      </p:sp>
      <p:sp>
        <p:nvSpPr>
          <p:cNvPr id="36" name="Text 34"/>
          <p:cNvSpPr/>
          <p:nvPr/>
        </p:nvSpPr>
        <p:spPr>
          <a:xfrm>
            <a:off x="8183880" y="5257800"/>
            <a:ext cx="3291840" cy="411480"/>
          </a:xfrm>
          <a:prstGeom prst="rect">
            <a:avLst/>
          </a:prstGeom>
          <a:noFill/>
          <a:ln/>
        </p:spPr>
        <p:txBody>
          <a:bodyPr wrap="square" rtlCol="0" anchor="ctr"/>
          <a:lstStyle/>
          <a:p>
            <a:pPr marL="0" indent="0">
              <a:buNone/>
            </a:pPr>
            <a:r>
              <a:rPr lang="en-US" sz="1150" dirty="0">
                <a:solidFill>
                  <a:srgbClr val="6B7280"/>
                </a:solidFill>
                <a:latin typeface="Calibri" pitchFamily="34" charset="0"/>
                <a:ea typeface="Calibri" pitchFamily="34" charset="-122"/>
                <a:cs typeface="Calibri" pitchFamily="34" charset="-120"/>
              </a:rPr>
              <a:t>Orbitron + DM Sans + Space Mono</a:t>
            </a:r>
            <a:endParaRPr lang="en-US" sz="1150" dirty="0"/>
          </a:p>
        </p:txBody>
      </p:sp>
      <p:sp>
        <p:nvSpPr>
          <p:cNvPr id="37" name="Text 35"/>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38" name="Text 36"/>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heel(1)">
                                      <p:cBhvr>
                                        <p:cTn id="10" dur="2000"/>
                                        <p:tgtEl>
                                          <p:spTgt spid="3"/>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2000"/>
                                        <p:tgtEl>
                                          <p:spTgt spid="4"/>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heel(1)">
                                      <p:cBhvr>
                                        <p:cTn id="16" dur="2000"/>
                                        <p:tgtEl>
                                          <p:spTgt spid="5"/>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1)">
                                      <p:cBhvr>
                                        <p:cTn id="19" dur="2000"/>
                                        <p:tgtEl>
                                          <p:spTgt spid="6"/>
                                        </p:tgtEl>
                                      </p:cBhvr>
                                    </p:animEffect>
                                  </p:childTnLst>
                                </p:cTn>
                              </p:par>
                              <p:par>
                                <p:cTn id="20" presetID="21" presetClass="entr" presetSubtype="1"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par>
                                <p:cTn id="23" presetID="21" presetClass="entr" presetSubtype="1"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heel(1)">
                                      <p:cBhvr>
                                        <p:cTn id="25" dur="2000"/>
                                        <p:tgtEl>
                                          <p:spTgt spid="8"/>
                                        </p:tgtEl>
                                      </p:cBhvr>
                                    </p:animEffect>
                                  </p:childTnLst>
                                </p:cTn>
                              </p:par>
                              <p:par>
                                <p:cTn id="26" presetID="21" presetClass="entr" presetSubtype="1"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2000"/>
                                        <p:tgtEl>
                                          <p:spTgt spid="9"/>
                                        </p:tgtEl>
                                      </p:cBhvr>
                                    </p:animEffect>
                                  </p:childTnLst>
                                </p:cTn>
                              </p:par>
                              <p:par>
                                <p:cTn id="29" presetID="21" presetClass="entr" presetSubtype="1"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1)">
                                      <p:cBhvr>
                                        <p:cTn id="31" dur="2000"/>
                                        <p:tgtEl>
                                          <p:spTgt spid="10"/>
                                        </p:tgtEl>
                                      </p:cBhvr>
                                    </p:animEffect>
                                  </p:childTnLst>
                                </p:cTn>
                              </p:par>
                              <p:par>
                                <p:cTn id="32" presetID="21" presetClass="entr" presetSubtype="1"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wheel(1)">
                                      <p:cBhvr>
                                        <p:cTn id="34" dur="2000"/>
                                        <p:tgtEl>
                                          <p:spTgt spid="11"/>
                                        </p:tgtEl>
                                      </p:cBhvr>
                                    </p:animEffect>
                                  </p:childTnLst>
                                </p:cTn>
                              </p:par>
                              <p:par>
                                <p:cTn id="35" presetID="21" presetClass="entr" presetSubtype="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heel(1)">
                                      <p:cBhvr>
                                        <p:cTn id="37" dur="2000"/>
                                        <p:tgtEl>
                                          <p:spTgt spid="12"/>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heel(1)">
                                      <p:cBhvr>
                                        <p:cTn id="40" dur="2000"/>
                                        <p:tgtEl>
                                          <p:spTgt spid="13"/>
                                        </p:tgtEl>
                                      </p:cBhvr>
                                    </p:animEffect>
                                  </p:childTnLst>
                                </p:cTn>
                              </p:par>
                              <p:par>
                                <p:cTn id="41" presetID="21" presetClass="entr" presetSubtype="1"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heel(1)">
                                      <p:cBhvr>
                                        <p:cTn id="43" dur="2000"/>
                                        <p:tgtEl>
                                          <p:spTgt spid="14"/>
                                        </p:tgtEl>
                                      </p:cBhvr>
                                    </p:animEffect>
                                  </p:childTnLst>
                                </p:cTn>
                              </p:par>
                              <p:par>
                                <p:cTn id="44" presetID="21" presetClass="entr" presetSubtype="1"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heel(1)">
                                      <p:cBhvr>
                                        <p:cTn id="46" dur="2000"/>
                                        <p:tgtEl>
                                          <p:spTgt spid="15"/>
                                        </p:tgtEl>
                                      </p:cBhvr>
                                    </p:animEffect>
                                  </p:childTnLst>
                                </p:cTn>
                              </p:par>
                              <p:par>
                                <p:cTn id="47" presetID="21" presetClass="entr" presetSubtype="1"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heel(1)">
                                      <p:cBhvr>
                                        <p:cTn id="49" dur="2000"/>
                                        <p:tgtEl>
                                          <p:spTgt spid="16"/>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wheel(1)">
                                      <p:cBhvr>
                                        <p:cTn id="52" dur="2000"/>
                                        <p:tgtEl>
                                          <p:spTgt spid="17"/>
                                        </p:tgtEl>
                                      </p:cBhvr>
                                    </p:animEffect>
                                  </p:childTnLst>
                                </p:cTn>
                              </p:par>
                              <p:par>
                                <p:cTn id="53" presetID="21" presetClass="entr" presetSubtype="1"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heel(1)">
                                      <p:cBhvr>
                                        <p:cTn id="55" dur="2000"/>
                                        <p:tgtEl>
                                          <p:spTgt spid="18"/>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heel(1)">
                                      <p:cBhvr>
                                        <p:cTn id="58" dur="2000"/>
                                        <p:tgtEl>
                                          <p:spTgt spid="19"/>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heel(1)">
                                      <p:cBhvr>
                                        <p:cTn id="61" dur="2000"/>
                                        <p:tgtEl>
                                          <p:spTgt spid="20"/>
                                        </p:tgtEl>
                                      </p:cBhvr>
                                    </p:animEffect>
                                  </p:childTnLst>
                                </p:cTn>
                              </p:par>
                              <p:par>
                                <p:cTn id="62" presetID="21" presetClass="entr" presetSubtype="1" fill="hold" grpId="0" nodeType="withEffect">
                                  <p:stCondLst>
                                    <p:cond delay="0"/>
                                  </p:stCondLst>
                                  <p:childTnLst>
                                    <p:set>
                                      <p:cBhvr>
                                        <p:cTn id="63" dur="1" fill="hold">
                                          <p:stCondLst>
                                            <p:cond delay="0"/>
                                          </p:stCondLst>
                                        </p:cTn>
                                        <p:tgtEl>
                                          <p:spTgt spid="21"/>
                                        </p:tgtEl>
                                        <p:attrNameLst>
                                          <p:attrName>style.visibility</p:attrName>
                                        </p:attrNameLst>
                                      </p:cBhvr>
                                      <p:to>
                                        <p:strVal val="visible"/>
                                      </p:to>
                                    </p:set>
                                    <p:animEffect transition="in" filter="wheel(1)">
                                      <p:cBhvr>
                                        <p:cTn id="64" dur="2000"/>
                                        <p:tgtEl>
                                          <p:spTgt spid="21"/>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wheel(1)">
                                      <p:cBhvr>
                                        <p:cTn id="67" dur="2000"/>
                                        <p:tgtEl>
                                          <p:spTgt spid="22"/>
                                        </p:tgtEl>
                                      </p:cBhvr>
                                    </p:animEffect>
                                  </p:childTnLst>
                                </p:cTn>
                              </p:par>
                              <p:par>
                                <p:cTn id="68" presetID="21" presetClass="entr" presetSubtype="1"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heel(1)">
                                      <p:cBhvr>
                                        <p:cTn id="70" dur="2000"/>
                                        <p:tgtEl>
                                          <p:spTgt spid="23"/>
                                        </p:tgtEl>
                                      </p:cBhvr>
                                    </p:animEffect>
                                  </p:childTnLst>
                                </p:cTn>
                              </p:par>
                              <p:par>
                                <p:cTn id="71" presetID="21" presetClass="entr" presetSubtype="1"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wheel(1)">
                                      <p:cBhvr>
                                        <p:cTn id="73" dur="2000"/>
                                        <p:tgtEl>
                                          <p:spTgt spid="24"/>
                                        </p:tgtEl>
                                      </p:cBhvr>
                                    </p:animEffect>
                                  </p:childTnLst>
                                </p:cTn>
                              </p:par>
                              <p:par>
                                <p:cTn id="74" presetID="21" presetClass="entr" presetSubtype="1"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wheel(1)">
                                      <p:cBhvr>
                                        <p:cTn id="76" dur="2000"/>
                                        <p:tgtEl>
                                          <p:spTgt spid="25"/>
                                        </p:tgtEl>
                                      </p:cBhvr>
                                    </p:animEffect>
                                  </p:childTnLst>
                                </p:cTn>
                              </p:par>
                              <p:par>
                                <p:cTn id="77" presetID="21" presetClass="entr" presetSubtype="1"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wheel(1)">
                                      <p:cBhvr>
                                        <p:cTn id="79" dur="2000"/>
                                        <p:tgtEl>
                                          <p:spTgt spid="26"/>
                                        </p:tgtEl>
                                      </p:cBhvr>
                                    </p:animEffect>
                                  </p:childTnLst>
                                </p:cTn>
                              </p:par>
                              <p:par>
                                <p:cTn id="80" presetID="21" presetClass="entr" presetSubtype="1"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wheel(1)">
                                      <p:cBhvr>
                                        <p:cTn id="82" dur="2000"/>
                                        <p:tgtEl>
                                          <p:spTgt spid="27"/>
                                        </p:tgtEl>
                                      </p:cBhvr>
                                    </p:animEffect>
                                  </p:childTnLst>
                                </p:cTn>
                              </p:par>
                              <p:par>
                                <p:cTn id="83" presetID="21" presetClass="entr" presetSubtype="1"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wheel(1)">
                                      <p:cBhvr>
                                        <p:cTn id="85" dur="2000"/>
                                        <p:tgtEl>
                                          <p:spTgt spid="28"/>
                                        </p:tgtEl>
                                      </p:cBhvr>
                                    </p:animEffect>
                                  </p:childTnLst>
                                </p:cTn>
                              </p:par>
                              <p:par>
                                <p:cTn id="86" presetID="21" presetClass="entr" presetSubtype="1"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wheel(1)">
                                      <p:cBhvr>
                                        <p:cTn id="88" dur="2000"/>
                                        <p:tgtEl>
                                          <p:spTgt spid="29"/>
                                        </p:tgtEl>
                                      </p:cBhvr>
                                    </p:animEffect>
                                  </p:childTnLst>
                                </p:cTn>
                              </p:par>
                              <p:par>
                                <p:cTn id="89" presetID="21" presetClass="entr" presetSubtype="1"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wheel(1)">
                                      <p:cBhvr>
                                        <p:cTn id="91" dur="2000"/>
                                        <p:tgtEl>
                                          <p:spTgt spid="30"/>
                                        </p:tgtEl>
                                      </p:cBhvr>
                                    </p:animEffect>
                                  </p:childTnLst>
                                </p:cTn>
                              </p:par>
                              <p:par>
                                <p:cTn id="92" presetID="21"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wheel(1)">
                                      <p:cBhvr>
                                        <p:cTn id="94" dur="2000"/>
                                        <p:tgtEl>
                                          <p:spTgt spid="31"/>
                                        </p:tgtEl>
                                      </p:cBhvr>
                                    </p:animEffect>
                                  </p:childTnLst>
                                </p:cTn>
                              </p:par>
                              <p:par>
                                <p:cTn id="95" presetID="21" presetClass="entr" presetSubtype="1"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wheel(1)">
                                      <p:cBhvr>
                                        <p:cTn id="97" dur="2000"/>
                                        <p:tgtEl>
                                          <p:spTgt spid="32"/>
                                        </p:tgtEl>
                                      </p:cBhvr>
                                    </p:animEffect>
                                  </p:childTnLst>
                                </p:cTn>
                              </p:par>
                              <p:par>
                                <p:cTn id="98" presetID="21" presetClass="entr" presetSubtype="1"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wheel(1)">
                                      <p:cBhvr>
                                        <p:cTn id="100" dur="2000"/>
                                        <p:tgtEl>
                                          <p:spTgt spid="33"/>
                                        </p:tgtEl>
                                      </p:cBhvr>
                                    </p:animEffect>
                                  </p:childTnLst>
                                </p:cTn>
                              </p:par>
                              <p:par>
                                <p:cTn id="101" presetID="21" presetClass="entr" presetSubtype="1"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wheel(1)">
                                      <p:cBhvr>
                                        <p:cTn id="103" dur="2000"/>
                                        <p:tgtEl>
                                          <p:spTgt spid="34"/>
                                        </p:tgtEl>
                                      </p:cBhvr>
                                    </p:animEffect>
                                  </p:childTnLst>
                                </p:cTn>
                              </p:par>
                              <p:par>
                                <p:cTn id="104" presetID="21" presetClass="entr" presetSubtype="1"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wheel(1)">
                                      <p:cBhvr>
                                        <p:cTn id="106" dur="2000"/>
                                        <p:tgtEl>
                                          <p:spTgt spid="35"/>
                                        </p:tgtEl>
                                      </p:cBhvr>
                                    </p:animEffect>
                                  </p:childTnLst>
                                </p:cTn>
                              </p:par>
                              <p:par>
                                <p:cTn id="107" presetID="21" presetClass="entr" presetSubtype="1"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heel(1)">
                                      <p:cBhvr>
                                        <p:cTn id="109" dur="2000"/>
                                        <p:tgtEl>
                                          <p:spTgt spid="36"/>
                                        </p:tgtEl>
                                      </p:cBhvr>
                                    </p:animEffect>
                                  </p:childTnLst>
                                </p:cTn>
                              </p:par>
                              <p:par>
                                <p:cTn id="110" presetID="21" presetClass="entr" presetSubtype="1"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wheel(1)">
                                      <p:cBhvr>
                                        <p:cTn id="112" dur="2000"/>
                                        <p:tgtEl>
                                          <p:spTgt spid="37"/>
                                        </p:tgtEl>
                                      </p:cBhvr>
                                    </p:animEffect>
                                  </p:childTnLst>
                                </p:cTn>
                              </p:par>
                              <p:par>
                                <p:cTn id="113" presetID="21" presetClass="entr" presetSubtype="1" fill="hold" grpId="0" nodeType="withEffect">
                                  <p:stCondLst>
                                    <p:cond delay="0"/>
                                  </p:stCondLst>
                                  <p:childTnLst>
                                    <p:set>
                                      <p:cBhvr>
                                        <p:cTn id="114" dur="1" fill="hold">
                                          <p:stCondLst>
                                            <p:cond delay="0"/>
                                          </p:stCondLst>
                                        </p:cTn>
                                        <p:tgtEl>
                                          <p:spTgt spid="38"/>
                                        </p:tgtEl>
                                        <p:attrNameLst>
                                          <p:attrName>style.visibility</p:attrName>
                                        </p:attrNameLst>
                                      </p:cBhvr>
                                      <p:to>
                                        <p:strVal val="visible"/>
                                      </p:to>
                                    </p:set>
                                    <p:animEffect transition="in" filter="wheel(1)">
                                      <p:cBhvr>
                                        <p:cTn id="115" dur="2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3F42"/>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Extrait de code — Compteurs animés (JS)</a:t>
            </a:r>
            <a:endParaRPr lang="en-US" sz="2200" dirty="0"/>
          </a:p>
        </p:txBody>
      </p:sp>
      <p:sp>
        <p:nvSpPr>
          <p:cNvPr id="3" name="Shape 1"/>
          <p:cNvSpPr/>
          <p:nvPr/>
        </p:nvSpPr>
        <p:spPr>
          <a:xfrm>
            <a:off x="548640" y="1188720"/>
            <a:ext cx="11064240" cy="5120640"/>
          </a:xfrm>
          <a:prstGeom prst="roundRect">
            <a:avLst>
              <a:gd name="adj" fmla="val 1071"/>
            </a:avLst>
          </a:prstGeom>
          <a:solidFill>
            <a:srgbClr val="0A2E30"/>
          </a:solidFill>
          <a:ln/>
        </p:spPr>
        <p:txBody>
          <a:bodyPr/>
          <a:lstStyle/>
          <a:p>
            <a:endParaRPr lang="fr-FR"/>
          </a:p>
        </p:txBody>
      </p:sp>
      <p:sp>
        <p:nvSpPr>
          <p:cNvPr id="4" name="Text 2"/>
          <p:cNvSpPr/>
          <p:nvPr/>
        </p:nvSpPr>
        <p:spPr>
          <a:xfrm>
            <a:off x="868680" y="1417320"/>
            <a:ext cx="10424160" cy="4663440"/>
          </a:xfrm>
          <a:prstGeom prst="rect">
            <a:avLst/>
          </a:prstGeom>
          <a:noFill/>
          <a:ln/>
        </p:spPr>
        <p:txBody>
          <a:bodyPr wrap="square" rtlCol="0" anchor="ctr"/>
          <a:lstStyle/>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const compteurs = document.querySelectorAll('.compteur');</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const observerCompteur = new IntersectionObserver(function(entries)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entries.forEach(function(entry)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if (entry.isIntersecting)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const cible = parseInt(entry.target.getAttribute('data-target'));</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let valeur = 0;</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const increment = cible / 100;</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const timer = setInterval(function()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valeur += increment;</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if (valeur &gt;= cible)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entry.target.textContent = cible.toLocaleString();</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clearInterval(timer);</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 else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entry.target.textContent = Math.floor(valeur).toLocaleString();</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 20);</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observerCompteur.unobserve(entry.target);</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 { threshold: 0.5 });</a:t>
            </a:r>
            <a:endParaRPr lang="en-US" sz="1250" dirty="0"/>
          </a:p>
          <a:p>
            <a:pPr marL="0" indent="0">
              <a:lnSpc>
                <a:spcPts val="1600"/>
              </a:lnSpc>
              <a:buNone/>
            </a:pPr>
            <a:r>
              <a:rPr lang="en-US" sz="1250" dirty="0">
                <a:solidFill>
                  <a:srgbClr val="CFEAE7"/>
                </a:solidFill>
                <a:latin typeface="Courier New" pitchFamily="34" charset="0"/>
                <a:ea typeface="Courier New" pitchFamily="34" charset="-122"/>
                <a:cs typeface="Courier New" pitchFamily="34" charset="-120"/>
              </a:rPr>
              <a:t>compteurs.forEach(c =&gt; observerCompteur.observe(c));</a:t>
            </a:r>
            <a:endParaRPr lang="en-US" sz="125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Workflow GitHub &amp; 10 commits</a:t>
            </a:r>
            <a:endParaRPr lang="en-US" sz="2200" dirty="0"/>
          </a:p>
        </p:txBody>
      </p:sp>
      <p:sp>
        <p:nvSpPr>
          <p:cNvPr id="5" name="Shape 3"/>
          <p:cNvSpPr/>
          <p:nvPr/>
        </p:nvSpPr>
        <p:spPr>
          <a:xfrm>
            <a:off x="548640" y="1417320"/>
            <a:ext cx="384048" cy="384048"/>
          </a:xfrm>
          <a:prstGeom prst="ellipse">
            <a:avLst/>
          </a:prstGeom>
          <a:solidFill>
            <a:srgbClr val="0B5E63"/>
          </a:solidFill>
          <a:ln/>
        </p:spPr>
        <p:txBody>
          <a:bodyPr/>
          <a:lstStyle/>
          <a:p>
            <a:endParaRPr lang="fr-FR"/>
          </a:p>
        </p:txBody>
      </p:sp>
      <p:sp>
        <p:nvSpPr>
          <p:cNvPr id="6" name="Text 4"/>
          <p:cNvSpPr/>
          <p:nvPr/>
        </p:nvSpPr>
        <p:spPr>
          <a:xfrm>
            <a:off x="548640" y="14173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01</a:t>
            </a:r>
            <a:endParaRPr lang="en-US" sz="1100" dirty="0"/>
          </a:p>
        </p:txBody>
      </p:sp>
      <p:sp>
        <p:nvSpPr>
          <p:cNvPr id="7" name="Text 5"/>
          <p:cNvSpPr/>
          <p:nvPr/>
        </p:nvSpPr>
        <p:spPr>
          <a:xfrm>
            <a:off x="1051560" y="13441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Init : dépôt, arborescence et structure HTML de base</a:t>
            </a:r>
            <a:endParaRPr lang="en-US" sz="1200" dirty="0"/>
          </a:p>
        </p:txBody>
      </p:sp>
      <p:sp>
        <p:nvSpPr>
          <p:cNvPr id="8" name="Shape 6"/>
          <p:cNvSpPr/>
          <p:nvPr/>
        </p:nvSpPr>
        <p:spPr>
          <a:xfrm>
            <a:off x="6126480" y="1417320"/>
            <a:ext cx="384048" cy="384048"/>
          </a:xfrm>
          <a:prstGeom prst="ellipse">
            <a:avLst/>
          </a:prstGeom>
          <a:solidFill>
            <a:srgbClr val="0B5E63"/>
          </a:solidFill>
          <a:ln/>
        </p:spPr>
        <p:txBody>
          <a:bodyPr/>
          <a:lstStyle/>
          <a:p>
            <a:endParaRPr lang="fr-FR"/>
          </a:p>
        </p:txBody>
      </p:sp>
      <p:sp>
        <p:nvSpPr>
          <p:cNvPr id="9" name="Text 7"/>
          <p:cNvSpPr/>
          <p:nvPr/>
        </p:nvSpPr>
        <p:spPr>
          <a:xfrm>
            <a:off x="6126480" y="14173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02</a:t>
            </a:r>
            <a:endParaRPr lang="en-US" sz="1100" dirty="0"/>
          </a:p>
        </p:txBody>
      </p:sp>
      <p:sp>
        <p:nvSpPr>
          <p:cNvPr id="10" name="Text 8"/>
          <p:cNvSpPr/>
          <p:nvPr/>
        </p:nvSpPr>
        <p:spPr>
          <a:xfrm>
            <a:off x="6629400" y="13441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HTML : structure complète des 5 pages</a:t>
            </a:r>
            <a:endParaRPr lang="en-US" sz="1200" dirty="0"/>
          </a:p>
        </p:txBody>
      </p:sp>
      <p:sp>
        <p:nvSpPr>
          <p:cNvPr id="11" name="Shape 9"/>
          <p:cNvSpPr/>
          <p:nvPr/>
        </p:nvSpPr>
        <p:spPr>
          <a:xfrm>
            <a:off x="548640" y="2331720"/>
            <a:ext cx="384048" cy="384048"/>
          </a:xfrm>
          <a:prstGeom prst="ellipse">
            <a:avLst/>
          </a:prstGeom>
          <a:solidFill>
            <a:srgbClr val="0B5E63"/>
          </a:solidFill>
          <a:ln/>
        </p:spPr>
        <p:txBody>
          <a:bodyPr/>
          <a:lstStyle/>
          <a:p>
            <a:endParaRPr lang="fr-FR"/>
          </a:p>
        </p:txBody>
      </p:sp>
      <p:sp>
        <p:nvSpPr>
          <p:cNvPr id="12" name="Text 10"/>
          <p:cNvSpPr/>
          <p:nvPr/>
        </p:nvSpPr>
        <p:spPr>
          <a:xfrm>
            <a:off x="548640" y="23317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03</a:t>
            </a:r>
            <a:endParaRPr lang="en-US" sz="1100" dirty="0"/>
          </a:p>
        </p:txBody>
      </p:sp>
      <p:sp>
        <p:nvSpPr>
          <p:cNvPr id="13" name="Text 11"/>
          <p:cNvSpPr/>
          <p:nvPr/>
        </p:nvSpPr>
        <p:spPr>
          <a:xfrm>
            <a:off x="1051560" y="22585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CSS : variables, typographie, layout général</a:t>
            </a:r>
            <a:endParaRPr lang="en-US" sz="1200" dirty="0"/>
          </a:p>
        </p:txBody>
      </p:sp>
      <p:sp>
        <p:nvSpPr>
          <p:cNvPr id="14" name="Shape 12"/>
          <p:cNvSpPr/>
          <p:nvPr/>
        </p:nvSpPr>
        <p:spPr>
          <a:xfrm>
            <a:off x="6126480" y="2331720"/>
            <a:ext cx="384048" cy="384048"/>
          </a:xfrm>
          <a:prstGeom prst="ellipse">
            <a:avLst/>
          </a:prstGeom>
          <a:solidFill>
            <a:srgbClr val="0B5E63"/>
          </a:solidFill>
          <a:ln/>
        </p:spPr>
        <p:txBody>
          <a:bodyPr/>
          <a:lstStyle/>
          <a:p>
            <a:endParaRPr lang="fr-FR"/>
          </a:p>
        </p:txBody>
      </p:sp>
      <p:sp>
        <p:nvSpPr>
          <p:cNvPr id="15" name="Text 13"/>
          <p:cNvSpPr/>
          <p:nvPr/>
        </p:nvSpPr>
        <p:spPr>
          <a:xfrm>
            <a:off x="6126480" y="23317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04</a:t>
            </a:r>
            <a:endParaRPr lang="en-US" sz="1100" dirty="0"/>
          </a:p>
        </p:txBody>
      </p:sp>
      <p:sp>
        <p:nvSpPr>
          <p:cNvPr id="16" name="Text 14"/>
          <p:cNvSpPr/>
          <p:nvPr/>
        </p:nvSpPr>
        <p:spPr>
          <a:xfrm>
            <a:off x="6629400" y="22585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CSS : Bento Grid, hero, effets hover</a:t>
            </a:r>
            <a:endParaRPr lang="en-US" sz="1200" dirty="0"/>
          </a:p>
        </p:txBody>
      </p:sp>
      <p:sp>
        <p:nvSpPr>
          <p:cNvPr id="17" name="Shape 15"/>
          <p:cNvSpPr/>
          <p:nvPr/>
        </p:nvSpPr>
        <p:spPr>
          <a:xfrm>
            <a:off x="548640" y="3246120"/>
            <a:ext cx="384048" cy="384048"/>
          </a:xfrm>
          <a:prstGeom prst="ellipse">
            <a:avLst/>
          </a:prstGeom>
          <a:solidFill>
            <a:srgbClr val="0B5E63"/>
          </a:solidFill>
          <a:ln/>
        </p:spPr>
        <p:txBody>
          <a:bodyPr/>
          <a:lstStyle/>
          <a:p>
            <a:endParaRPr lang="fr-FR"/>
          </a:p>
        </p:txBody>
      </p:sp>
      <p:sp>
        <p:nvSpPr>
          <p:cNvPr id="18" name="Text 16"/>
          <p:cNvSpPr/>
          <p:nvPr/>
        </p:nvSpPr>
        <p:spPr>
          <a:xfrm>
            <a:off x="548640" y="32461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05</a:t>
            </a:r>
            <a:endParaRPr lang="en-US" sz="1100" dirty="0"/>
          </a:p>
        </p:txBody>
      </p:sp>
      <p:sp>
        <p:nvSpPr>
          <p:cNvPr id="19" name="Text 17"/>
          <p:cNvSpPr/>
          <p:nvPr/>
        </p:nvSpPr>
        <p:spPr>
          <a:xfrm>
            <a:off x="1051560" y="31729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CSS : responsive mobile et tablette</a:t>
            </a:r>
            <a:endParaRPr lang="en-US" sz="1200" dirty="0"/>
          </a:p>
        </p:txBody>
      </p:sp>
      <p:sp>
        <p:nvSpPr>
          <p:cNvPr id="20" name="Shape 18"/>
          <p:cNvSpPr/>
          <p:nvPr/>
        </p:nvSpPr>
        <p:spPr>
          <a:xfrm>
            <a:off x="6126480" y="3246120"/>
            <a:ext cx="384048" cy="384048"/>
          </a:xfrm>
          <a:prstGeom prst="ellipse">
            <a:avLst/>
          </a:prstGeom>
          <a:solidFill>
            <a:srgbClr val="0B5E63"/>
          </a:solidFill>
          <a:ln/>
        </p:spPr>
        <p:txBody>
          <a:bodyPr/>
          <a:lstStyle/>
          <a:p>
            <a:endParaRPr lang="fr-FR"/>
          </a:p>
        </p:txBody>
      </p:sp>
      <p:sp>
        <p:nvSpPr>
          <p:cNvPr id="21" name="Text 19"/>
          <p:cNvSpPr/>
          <p:nvPr/>
        </p:nvSpPr>
        <p:spPr>
          <a:xfrm>
            <a:off x="6126480" y="32461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06</a:t>
            </a:r>
            <a:endParaRPr lang="en-US" sz="1100" dirty="0"/>
          </a:p>
        </p:txBody>
      </p:sp>
      <p:sp>
        <p:nvSpPr>
          <p:cNvPr id="22" name="Text 20"/>
          <p:cNvSpPr/>
          <p:nvPr/>
        </p:nvSpPr>
        <p:spPr>
          <a:xfrm>
            <a:off x="6629400" y="31729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JS : dark mode + navbar dynamique</a:t>
            </a:r>
            <a:endParaRPr lang="en-US" sz="1200" dirty="0"/>
          </a:p>
        </p:txBody>
      </p:sp>
      <p:sp>
        <p:nvSpPr>
          <p:cNvPr id="23" name="Shape 21"/>
          <p:cNvSpPr/>
          <p:nvPr/>
        </p:nvSpPr>
        <p:spPr>
          <a:xfrm>
            <a:off x="548640" y="4160520"/>
            <a:ext cx="384048" cy="384048"/>
          </a:xfrm>
          <a:prstGeom prst="ellipse">
            <a:avLst/>
          </a:prstGeom>
          <a:solidFill>
            <a:srgbClr val="0B5E63"/>
          </a:solidFill>
          <a:ln/>
        </p:spPr>
        <p:txBody>
          <a:bodyPr/>
          <a:lstStyle/>
          <a:p>
            <a:endParaRPr lang="fr-FR"/>
          </a:p>
        </p:txBody>
      </p:sp>
      <p:sp>
        <p:nvSpPr>
          <p:cNvPr id="24" name="Text 22"/>
          <p:cNvSpPr/>
          <p:nvPr/>
        </p:nvSpPr>
        <p:spPr>
          <a:xfrm>
            <a:off x="548640" y="41605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07</a:t>
            </a:r>
            <a:endParaRPr lang="en-US" sz="1100" dirty="0"/>
          </a:p>
        </p:txBody>
      </p:sp>
      <p:sp>
        <p:nvSpPr>
          <p:cNvPr id="25" name="Text 23"/>
          <p:cNvSpPr/>
          <p:nvPr/>
        </p:nvSpPr>
        <p:spPr>
          <a:xfrm>
            <a:off x="1051560" y="40873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JS : compteurs animés + fade-in</a:t>
            </a:r>
            <a:endParaRPr lang="en-US" sz="1200" dirty="0"/>
          </a:p>
        </p:txBody>
      </p:sp>
      <p:sp>
        <p:nvSpPr>
          <p:cNvPr id="26" name="Shape 24"/>
          <p:cNvSpPr/>
          <p:nvPr/>
        </p:nvSpPr>
        <p:spPr>
          <a:xfrm>
            <a:off x="6126480" y="4160520"/>
            <a:ext cx="384048" cy="384048"/>
          </a:xfrm>
          <a:prstGeom prst="ellipse">
            <a:avLst/>
          </a:prstGeom>
          <a:solidFill>
            <a:srgbClr val="0B5E63"/>
          </a:solidFill>
          <a:ln/>
        </p:spPr>
        <p:txBody>
          <a:bodyPr/>
          <a:lstStyle/>
          <a:p>
            <a:endParaRPr lang="fr-FR"/>
          </a:p>
        </p:txBody>
      </p:sp>
      <p:sp>
        <p:nvSpPr>
          <p:cNvPr id="27" name="Text 25"/>
          <p:cNvSpPr/>
          <p:nvPr/>
        </p:nvSpPr>
        <p:spPr>
          <a:xfrm>
            <a:off x="6126480" y="41605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08</a:t>
            </a:r>
            <a:endParaRPr lang="en-US" sz="1100" dirty="0"/>
          </a:p>
        </p:txBody>
      </p:sp>
      <p:sp>
        <p:nvSpPr>
          <p:cNvPr id="28" name="Text 26"/>
          <p:cNvSpPr/>
          <p:nvPr/>
        </p:nvSpPr>
        <p:spPr>
          <a:xfrm>
            <a:off x="6629400" y="40873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JS : filtrage + validation formulaire</a:t>
            </a:r>
            <a:endParaRPr lang="en-US" sz="1200" dirty="0"/>
          </a:p>
        </p:txBody>
      </p:sp>
      <p:sp>
        <p:nvSpPr>
          <p:cNvPr id="29" name="Shape 27"/>
          <p:cNvSpPr/>
          <p:nvPr/>
        </p:nvSpPr>
        <p:spPr>
          <a:xfrm>
            <a:off x="548640" y="5074920"/>
            <a:ext cx="384048" cy="384048"/>
          </a:xfrm>
          <a:prstGeom prst="ellipse">
            <a:avLst/>
          </a:prstGeom>
          <a:solidFill>
            <a:srgbClr val="0B5E63"/>
          </a:solidFill>
          <a:ln/>
        </p:spPr>
        <p:txBody>
          <a:bodyPr/>
          <a:lstStyle/>
          <a:p>
            <a:endParaRPr lang="fr-FR"/>
          </a:p>
        </p:txBody>
      </p:sp>
      <p:sp>
        <p:nvSpPr>
          <p:cNvPr id="30" name="Text 28"/>
          <p:cNvSpPr/>
          <p:nvPr/>
        </p:nvSpPr>
        <p:spPr>
          <a:xfrm>
            <a:off x="548640" y="50749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09</a:t>
            </a:r>
            <a:endParaRPr lang="en-US" sz="1100" dirty="0"/>
          </a:p>
        </p:txBody>
      </p:sp>
      <p:sp>
        <p:nvSpPr>
          <p:cNvPr id="31" name="Text 29"/>
          <p:cNvSpPr/>
          <p:nvPr/>
        </p:nvSpPr>
        <p:spPr>
          <a:xfrm>
            <a:off x="1051560" y="50017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Finalisation : corrections &amp; optimisation</a:t>
            </a:r>
            <a:endParaRPr lang="en-US" sz="1200" dirty="0"/>
          </a:p>
        </p:txBody>
      </p:sp>
      <p:sp>
        <p:nvSpPr>
          <p:cNvPr id="32" name="Shape 30"/>
          <p:cNvSpPr/>
          <p:nvPr/>
        </p:nvSpPr>
        <p:spPr>
          <a:xfrm>
            <a:off x="6126480" y="5074920"/>
            <a:ext cx="384048" cy="384048"/>
          </a:xfrm>
          <a:prstGeom prst="ellipse">
            <a:avLst/>
          </a:prstGeom>
          <a:solidFill>
            <a:srgbClr val="E2703A"/>
          </a:solidFill>
          <a:ln/>
        </p:spPr>
        <p:txBody>
          <a:bodyPr/>
          <a:lstStyle/>
          <a:p>
            <a:endParaRPr lang="fr-FR"/>
          </a:p>
        </p:txBody>
      </p:sp>
      <p:sp>
        <p:nvSpPr>
          <p:cNvPr id="33" name="Text 31"/>
          <p:cNvSpPr/>
          <p:nvPr/>
        </p:nvSpPr>
        <p:spPr>
          <a:xfrm>
            <a:off x="6126480" y="5074920"/>
            <a:ext cx="384048" cy="384048"/>
          </a:xfrm>
          <a:prstGeom prst="rect">
            <a:avLst/>
          </a:prstGeom>
          <a:noFill/>
          <a:ln/>
        </p:spPr>
        <p:txBody>
          <a:bodyPr wrap="square" rtlCol="0" anchor="ctr"/>
          <a:lstStyle/>
          <a:p>
            <a:pPr marL="0" indent="0" algn="ctr">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34" name="Text 32"/>
          <p:cNvSpPr/>
          <p:nvPr/>
        </p:nvSpPr>
        <p:spPr>
          <a:xfrm>
            <a:off x="6629400" y="5001768"/>
            <a:ext cx="4937760" cy="548640"/>
          </a:xfrm>
          <a:prstGeom prst="rect">
            <a:avLst/>
          </a:prstGeom>
          <a:noFill/>
          <a:ln/>
        </p:spPr>
        <p:txBody>
          <a:bodyPr wrap="square" rtlCol="0" anchor="ctr"/>
          <a:lstStyle/>
          <a:p>
            <a:pPr marL="0" indent="0">
              <a:buNone/>
            </a:pPr>
            <a:r>
              <a:rPr lang="en-US" sz="1200" dirty="0">
                <a:solidFill>
                  <a:srgbClr val="1F2937"/>
                </a:solidFill>
                <a:latin typeface="Calibri" pitchFamily="34" charset="0"/>
                <a:ea typeface="Calibri" pitchFamily="34" charset="-122"/>
                <a:cs typeface="Calibri" pitchFamily="34" charset="-120"/>
              </a:rPr>
              <a:t>Déploiement : GitHub Pages + README</a:t>
            </a:r>
            <a:endParaRPr lang="en-US" sz="1200" dirty="0"/>
          </a:p>
        </p:txBody>
      </p:sp>
      <p:sp>
        <p:nvSpPr>
          <p:cNvPr id="35" name="Text 33"/>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36" name="Text 34"/>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1000"/>
                                        <p:tgtEl>
                                          <p:spTgt spid="25"/>
                                        </p:tgtEl>
                                      </p:cBhvr>
                                    </p:animEffect>
                                    <p:anim calcmode="lin" valueType="num">
                                      <p:cBhvr>
                                        <p:cTn id="44" dur="1000" fill="hold"/>
                                        <p:tgtEl>
                                          <p:spTgt spid="25"/>
                                        </p:tgtEl>
                                        <p:attrNameLst>
                                          <p:attrName>ppt_x</p:attrName>
                                        </p:attrNameLst>
                                      </p:cBhvr>
                                      <p:tavLst>
                                        <p:tav tm="0">
                                          <p:val>
                                            <p:strVal val="#ppt_x"/>
                                          </p:val>
                                        </p:tav>
                                        <p:tav tm="100000">
                                          <p:val>
                                            <p:strVal val="#ppt_x"/>
                                          </p:val>
                                        </p:tav>
                                      </p:tavLst>
                                    </p:anim>
                                    <p:anim calcmode="lin" valueType="num">
                                      <p:cBhvr>
                                        <p:cTn id="45" dur="1000" fill="hold"/>
                                        <p:tgtEl>
                                          <p:spTgt spid="25"/>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1000"/>
                                        <p:tgtEl>
                                          <p:spTgt spid="28"/>
                                        </p:tgtEl>
                                      </p:cBhvr>
                                    </p:animEffect>
                                    <p:anim calcmode="lin" valueType="num">
                                      <p:cBhvr>
                                        <p:cTn id="50" dur="1000" fill="hold"/>
                                        <p:tgtEl>
                                          <p:spTgt spid="28"/>
                                        </p:tgtEl>
                                        <p:attrNameLst>
                                          <p:attrName>ppt_x</p:attrName>
                                        </p:attrNameLst>
                                      </p:cBhvr>
                                      <p:tavLst>
                                        <p:tav tm="0">
                                          <p:val>
                                            <p:strVal val="#ppt_x"/>
                                          </p:val>
                                        </p:tav>
                                        <p:tav tm="100000">
                                          <p:val>
                                            <p:strVal val="#ppt_x"/>
                                          </p:val>
                                        </p:tav>
                                      </p:tavLst>
                                    </p:anim>
                                    <p:anim calcmode="lin" valueType="num">
                                      <p:cBhvr>
                                        <p:cTn id="51" dur="1000" fill="hold"/>
                                        <p:tgtEl>
                                          <p:spTgt spid="28"/>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1000"/>
                                        <p:tgtEl>
                                          <p:spTgt spid="31"/>
                                        </p:tgtEl>
                                      </p:cBhvr>
                                    </p:animEffect>
                                    <p:anim calcmode="lin" valueType="num">
                                      <p:cBhvr>
                                        <p:cTn id="56" dur="1000" fill="hold"/>
                                        <p:tgtEl>
                                          <p:spTgt spid="31"/>
                                        </p:tgtEl>
                                        <p:attrNameLst>
                                          <p:attrName>ppt_x</p:attrName>
                                        </p:attrNameLst>
                                      </p:cBhvr>
                                      <p:tavLst>
                                        <p:tav tm="0">
                                          <p:val>
                                            <p:strVal val="#ppt_x"/>
                                          </p:val>
                                        </p:tav>
                                        <p:tav tm="100000">
                                          <p:val>
                                            <p:strVal val="#ppt_x"/>
                                          </p:val>
                                        </p:tav>
                                      </p:tavLst>
                                    </p:anim>
                                    <p:anim calcmode="lin" valueType="num">
                                      <p:cBhvr>
                                        <p:cTn id="57" dur="1000" fill="hold"/>
                                        <p:tgtEl>
                                          <p:spTgt spid="31"/>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1000"/>
                                        <p:tgtEl>
                                          <p:spTgt spid="34"/>
                                        </p:tgtEl>
                                      </p:cBhvr>
                                    </p:animEffect>
                                    <p:anim calcmode="lin" valueType="num">
                                      <p:cBhvr>
                                        <p:cTn id="62" dur="1000" fill="hold"/>
                                        <p:tgtEl>
                                          <p:spTgt spid="34"/>
                                        </p:tgtEl>
                                        <p:attrNameLst>
                                          <p:attrName>ppt_x</p:attrName>
                                        </p:attrNameLst>
                                      </p:cBhvr>
                                      <p:tavLst>
                                        <p:tav tm="0">
                                          <p:val>
                                            <p:strVal val="#ppt_x"/>
                                          </p:val>
                                        </p:tav>
                                        <p:tav tm="100000">
                                          <p:val>
                                            <p:strVal val="#ppt_x"/>
                                          </p:val>
                                        </p:tav>
                                      </p:tavLst>
                                    </p:anim>
                                    <p:anim calcmode="lin" valueType="num">
                                      <p:cBhvr>
                                        <p:cTn id="6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6" grpId="0" animBg="1"/>
      <p:bldP spid="19" grpId="0" animBg="1"/>
      <p:bldP spid="22" grpId="0" animBg="1"/>
      <p:bldP spid="25" grpId="0" animBg="1"/>
      <p:bldP spid="28" grpId="0" animBg="1"/>
      <p:bldP spid="31"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Difficultés rencontrées &amp; Solutions</a:t>
            </a:r>
            <a:endParaRPr lang="en-US" sz="2200" dirty="0"/>
          </a:p>
        </p:txBody>
      </p:sp>
      <p:sp>
        <p:nvSpPr>
          <p:cNvPr id="5" name="Shape 3"/>
          <p:cNvSpPr/>
          <p:nvPr/>
        </p:nvSpPr>
        <p:spPr>
          <a:xfrm>
            <a:off x="548640" y="1325880"/>
            <a:ext cx="5394960" cy="2331720"/>
          </a:xfrm>
          <a:prstGeom prst="roundRect">
            <a:avLst>
              <a:gd name="adj" fmla="val 3137"/>
            </a:avLst>
          </a:prstGeom>
          <a:solidFill>
            <a:srgbClr val="F4F1EC"/>
          </a:solidFill>
          <a:ln/>
        </p:spPr>
        <p:txBody>
          <a:bodyPr/>
          <a:lstStyle/>
          <a:p>
            <a:endParaRPr lang="fr-FR"/>
          </a:p>
        </p:txBody>
      </p:sp>
      <p:sp>
        <p:nvSpPr>
          <p:cNvPr id="6" name="Text 4"/>
          <p:cNvSpPr/>
          <p:nvPr/>
        </p:nvSpPr>
        <p:spPr>
          <a:xfrm>
            <a:off x="777240" y="1490472"/>
            <a:ext cx="4937760" cy="365760"/>
          </a:xfrm>
          <a:prstGeom prst="rect">
            <a:avLst/>
          </a:prstGeom>
          <a:noFill/>
          <a:ln/>
        </p:spPr>
        <p:txBody>
          <a:bodyPr wrap="square" rtlCol="0" anchor="ctr"/>
          <a:lstStyle/>
          <a:p>
            <a:pPr marL="0" indent="0">
              <a:buNone/>
            </a:pPr>
            <a:r>
              <a:rPr lang="en-US" sz="1350" b="1" dirty="0">
                <a:solidFill>
                  <a:srgbClr val="0B5E63"/>
                </a:solidFill>
                <a:latin typeface="Cambria" pitchFamily="34" charset="0"/>
                <a:ea typeface="Cambria" pitchFamily="34" charset="-122"/>
                <a:cs typeface="Cambria" pitchFamily="34" charset="-120"/>
              </a:rPr>
              <a:t>Bento Grid CSS asymétrique</a:t>
            </a:r>
            <a:endParaRPr lang="en-US" sz="1350" dirty="0"/>
          </a:p>
        </p:txBody>
      </p:sp>
      <p:sp>
        <p:nvSpPr>
          <p:cNvPr id="7" name="Text 5"/>
          <p:cNvSpPr/>
          <p:nvPr/>
        </p:nvSpPr>
        <p:spPr>
          <a:xfrm>
            <a:off x="777240" y="1892808"/>
            <a:ext cx="4937760" cy="731520"/>
          </a:xfrm>
          <a:prstGeom prst="rect">
            <a:avLst/>
          </a:prstGeom>
          <a:noFill/>
          <a:ln/>
        </p:spPr>
        <p:txBody>
          <a:bodyPr wrap="square"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Créer une grille où les cartes n'ont pas toutes la même taille, sans framework externe.</a:t>
            </a:r>
            <a:endParaRPr lang="en-US" sz="1050" dirty="0"/>
          </a:p>
        </p:txBody>
      </p:sp>
      <p:sp>
        <p:nvSpPr>
          <p:cNvPr id="8" name="Text 6"/>
          <p:cNvSpPr/>
          <p:nvPr/>
        </p:nvSpPr>
        <p:spPr>
          <a:xfrm>
            <a:off x="777240" y="2697480"/>
            <a:ext cx="4937760" cy="868680"/>
          </a:xfrm>
          <a:prstGeom prst="rect">
            <a:avLst/>
          </a:prstGeom>
          <a:noFill/>
          <a:ln/>
        </p:spPr>
        <p:txBody>
          <a:bodyPr wrap="square" rtlCol="0" anchor="ctr"/>
          <a:lstStyle/>
          <a:p>
            <a:pPr marL="0" indent="0">
              <a:buNone/>
            </a:pPr>
            <a:r>
              <a:rPr lang="en-US" sz="1050" b="1" dirty="0">
                <a:solidFill>
                  <a:srgbClr val="E2703A"/>
                </a:solidFill>
                <a:latin typeface="Calibri" pitchFamily="34" charset="0"/>
                <a:ea typeface="Calibri" pitchFamily="34" charset="-122"/>
                <a:cs typeface="Calibri" pitchFamily="34" charset="-120"/>
              </a:rPr>
              <a:t>Solution : </a:t>
            </a:r>
            <a:r>
              <a:rPr lang="en-US" sz="1050" dirty="0">
                <a:solidFill>
                  <a:srgbClr val="1F2937"/>
                </a:solidFill>
                <a:latin typeface="Calibri" pitchFamily="34" charset="0"/>
                <a:ea typeface="Calibri" pitchFamily="34" charset="-122"/>
                <a:cs typeface="Calibri" pitchFamily="34" charset="-120"/>
              </a:rPr>
              <a:t>grid-column: span 2 et grid-template-columns: 2fr 1fr 1fr selon les breakpoints.</a:t>
            </a:r>
            <a:endParaRPr lang="en-US" sz="1050" dirty="0"/>
          </a:p>
        </p:txBody>
      </p:sp>
      <p:sp>
        <p:nvSpPr>
          <p:cNvPr id="9" name="Shape 7"/>
          <p:cNvSpPr/>
          <p:nvPr/>
        </p:nvSpPr>
        <p:spPr>
          <a:xfrm>
            <a:off x="6126480" y="1325880"/>
            <a:ext cx="5394960" cy="2331720"/>
          </a:xfrm>
          <a:prstGeom prst="roundRect">
            <a:avLst>
              <a:gd name="adj" fmla="val 3137"/>
            </a:avLst>
          </a:prstGeom>
          <a:solidFill>
            <a:srgbClr val="F4F1EC"/>
          </a:solidFill>
          <a:ln/>
        </p:spPr>
        <p:txBody>
          <a:bodyPr/>
          <a:lstStyle/>
          <a:p>
            <a:endParaRPr lang="fr-FR"/>
          </a:p>
        </p:txBody>
      </p:sp>
      <p:sp>
        <p:nvSpPr>
          <p:cNvPr id="10" name="Text 8"/>
          <p:cNvSpPr/>
          <p:nvPr/>
        </p:nvSpPr>
        <p:spPr>
          <a:xfrm>
            <a:off x="6355080" y="1490472"/>
            <a:ext cx="4937760" cy="365760"/>
          </a:xfrm>
          <a:prstGeom prst="rect">
            <a:avLst/>
          </a:prstGeom>
          <a:noFill/>
          <a:ln/>
        </p:spPr>
        <p:txBody>
          <a:bodyPr wrap="square" rtlCol="0" anchor="ctr"/>
          <a:lstStyle/>
          <a:p>
            <a:pPr marL="0" indent="0">
              <a:buNone/>
            </a:pPr>
            <a:r>
              <a:rPr lang="en-US" sz="1350" b="1" dirty="0">
                <a:solidFill>
                  <a:srgbClr val="0B5E63"/>
                </a:solidFill>
                <a:latin typeface="Cambria" pitchFamily="34" charset="0"/>
                <a:ea typeface="Cambria" pitchFamily="34" charset="-122"/>
                <a:cs typeface="Cambria" pitchFamily="34" charset="-120"/>
              </a:rPr>
              <a:t>Dark Mode persistant</a:t>
            </a:r>
            <a:endParaRPr lang="en-US" sz="1350" dirty="0"/>
          </a:p>
        </p:txBody>
      </p:sp>
      <p:sp>
        <p:nvSpPr>
          <p:cNvPr id="11" name="Text 9"/>
          <p:cNvSpPr/>
          <p:nvPr/>
        </p:nvSpPr>
        <p:spPr>
          <a:xfrm>
            <a:off x="6355080" y="1892808"/>
            <a:ext cx="4937760" cy="731520"/>
          </a:xfrm>
          <a:prstGeom prst="rect">
            <a:avLst/>
          </a:prstGeom>
          <a:noFill/>
          <a:ln/>
        </p:spPr>
        <p:txBody>
          <a:bodyPr wrap="square"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Le thème se réinitialisait à chaque changement de page (flash désagréable).</a:t>
            </a:r>
            <a:endParaRPr lang="en-US" sz="1050" dirty="0"/>
          </a:p>
        </p:txBody>
      </p:sp>
      <p:sp>
        <p:nvSpPr>
          <p:cNvPr id="12" name="Text 10"/>
          <p:cNvSpPr/>
          <p:nvPr/>
        </p:nvSpPr>
        <p:spPr>
          <a:xfrm>
            <a:off x="6355080" y="2697480"/>
            <a:ext cx="4937760" cy="868680"/>
          </a:xfrm>
          <a:prstGeom prst="rect">
            <a:avLst/>
          </a:prstGeom>
          <a:noFill/>
          <a:ln/>
        </p:spPr>
        <p:txBody>
          <a:bodyPr wrap="square" rtlCol="0" anchor="ctr"/>
          <a:lstStyle/>
          <a:p>
            <a:pPr marL="0" indent="0">
              <a:buNone/>
            </a:pPr>
            <a:r>
              <a:rPr lang="en-US" sz="1050" b="1" dirty="0">
                <a:solidFill>
                  <a:srgbClr val="E2703A"/>
                </a:solidFill>
                <a:latin typeface="Calibri" pitchFamily="34" charset="0"/>
                <a:ea typeface="Calibri" pitchFamily="34" charset="-122"/>
                <a:cs typeface="Calibri" pitchFamily="34" charset="-120"/>
              </a:rPr>
              <a:t>Solution : </a:t>
            </a:r>
            <a:r>
              <a:rPr lang="en-US" sz="1050" dirty="0">
                <a:solidFill>
                  <a:srgbClr val="1F2937"/>
                </a:solidFill>
                <a:latin typeface="Calibri" pitchFamily="34" charset="0"/>
                <a:ea typeface="Calibri" pitchFamily="34" charset="-122"/>
                <a:cs typeface="Calibri" pitchFamily="34" charset="-120"/>
              </a:rPr>
              <a:t>Lecture du localStorage au chargement pour appliquer la classe dark-mode avant le rendu.</a:t>
            </a:r>
            <a:endParaRPr lang="en-US" sz="1050" dirty="0"/>
          </a:p>
        </p:txBody>
      </p:sp>
      <p:sp>
        <p:nvSpPr>
          <p:cNvPr id="13" name="Shape 11"/>
          <p:cNvSpPr/>
          <p:nvPr/>
        </p:nvSpPr>
        <p:spPr>
          <a:xfrm>
            <a:off x="548640" y="3840480"/>
            <a:ext cx="5394960" cy="2331720"/>
          </a:xfrm>
          <a:prstGeom prst="roundRect">
            <a:avLst>
              <a:gd name="adj" fmla="val 3137"/>
            </a:avLst>
          </a:prstGeom>
          <a:solidFill>
            <a:srgbClr val="F4F1EC"/>
          </a:solidFill>
          <a:ln/>
        </p:spPr>
        <p:txBody>
          <a:bodyPr/>
          <a:lstStyle/>
          <a:p>
            <a:endParaRPr lang="fr-FR"/>
          </a:p>
        </p:txBody>
      </p:sp>
      <p:sp>
        <p:nvSpPr>
          <p:cNvPr id="14" name="Text 12"/>
          <p:cNvSpPr/>
          <p:nvPr/>
        </p:nvSpPr>
        <p:spPr>
          <a:xfrm>
            <a:off x="777240" y="4005072"/>
            <a:ext cx="4937760" cy="365760"/>
          </a:xfrm>
          <a:prstGeom prst="rect">
            <a:avLst/>
          </a:prstGeom>
          <a:noFill/>
          <a:ln/>
        </p:spPr>
        <p:txBody>
          <a:bodyPr wrap="square" rtlCol="0" anchor="ctr"/>
          <a:lstStyle/>
          <a:p>
            <a:pPr marL="0" indent="0">
              <a:buNone/>
            </a:pPr>
            <a:r>
              <a:rPr lang="en-US" sz="1350" b="1" dirty="0">
                <a:solidFill>
                  <a:srgbClr val="0B5E63"/>
                </a:solidFill>
                <a:latin typeface="Cambria" pitchFamily="34" charset="0"/>
                <a:ea typeface="Cambria" pitchFamily="34" charset="-122"/>
                <a:cs typeface="Cambria" pitchFamily="34" charset="-120"/>
              </a:rPr>
              <a:t>Validation regex email</a:t>
            </a:r>
            <a:endParaRPr lang="en-US" sz="1350" dirty="0"/>
          </a:p>
        </p:txBody>
      </p:sp>
      <p:sp>
        <p:nvSpPr>
          <p:cNvPr id="15" name="Text 13"/>
          <p:cNvSpPr/>
          <p:nvPr/>
        </p:nvSpPr>
        <p:spPr>
          <a:xfrm>
            <a:off x="777240" y="4407408"/>
            <a:ext cx="4937760" cy="731520"/>
          </a:xfrm>
          <a:prstGeom prst="rect">
            <a:avLst/>
          </a:prstGeom>
          <a:noFill/>
          <a:ln/>
        </p:spPr>
        <p:txBody>
          <a:bodyPr wrap="square"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Gérer tous les cas limites (points multiples, sous-domaines).</a:t>
            </a:r>
            <a:endParaRPr lang="en-US" sz="1050" dirty="0"/>
          </a:p>
        </p:txBody>
      </p:sp>
      <p:sp>
        <p:nvSpPr>
          <p:cNvPr id="16" name="Text 14"/>
          <p:cNvSpPr/>
          <p:nvPr/>
        </p:nvSpPr>
        <p:spPr>
          <a:xfrm>
            <a:off x="777240" y="5212080"/>
            <a:ext cx="4937760" cy="868680"/>
          </a:xfrm>
          <a:prstGeom prst="rect">
            <a:avLst/>
          </a:prstGeom>
          <a:noFill/>
          <a:ln/>
        </p:spPr>
        <p:txBody>
          <a:bodyPr wrap="square" rtlCol="0" anchor="ctr"/>
          <a:lstStyle/>
          <a:p>
            <a:pPr marL="0" indent="0">
              <a:buNone/>
            </a:pPr>
            <a:r>
              <a:rPr lang="en-US" sz="1050" b="1" dirty="0">
                <a:solidFill>
                  <a:srgbClr val="E2703A"/>
                </a:solidFill>
                <a:latin typeface="Calibri" pitchFamily="34" charset="0"/>
                <a:ea typeface="Calibri" pitchFamily="34" charset="-122"/>
                <a:cs typeface="Calibri" pitchFamily="34" charset="-120"/>
              </a:rPr>
              <a:t>Solution : </a:t>
            </a:r>
            <a:r>
              <a:rPr lang="en-US" sz="1050" dirty="0">
                <a:solidFill>
                  <a:srgbClr val="1F2937"/>
                </a:solidFill>
                <a:latin typeface="Calibri" pitchFamily="34" charset="0"/>
                <a:ea typeface="Calibri" pitchFamily="34" charset="-122"/>
                <a:cs typeface="Calibri" pitchFamily="34" charset="-120"/>
              </a:rPr>
              <a:t>Regex /^[^\s@]+@[^\s@]+\.[^\s@]+$/ qui couvre les formats standards.</a:t>
            </a:r>
            <a:endParaRPr lang="en-US" sz="1050" dirty="0"/>
          </a:p>
        </p:txBody>
      </p:sp>
      <p:sp>
        <p:nvSpPr>
          <p:cNvPr id="17" name="Shape 15"/>
          <p:cNvSpPr/>
          <p:nvPr/>
        </p:nvSpPr>
        <p:spPr>
          <a:xfrm>
            <a:off x="6126480" y="3840480"/>
            <a:ext cx="5394960" cy="2331720"/>
          </a:xfrm>
          <a:prstGeom prst="roundRect">
            <a:avLst>
              <a:gd name="adj" fmla="val 3137"/>
            </a:avLst>
          </a:prstGeom>
          <a:solidFill>
            <a:srgbClr val="F4F1EC"/>
          </a:solidFill>
          <a:ln/>
        </p:spPr>
        <p:txBody>
          <a:bodyPr/>
          <a:lstStyle/>
          <a:p>
            <a:endParaRPr lang="fr-FR"/>
          </a:p>
        </p:txBody>
      </p:sp>
      <p:sp>
        <p:nvSpPr>
          <p:cNvPr id="18" name="Text 16"/>
          <p:cNvSpPr/>
          <p:nvPr/>
        </p:nvSpPr>
        <p:spPr>
          <a:xfrm>
            <a:off x="6355080" y="4005072"/>
            <a:ext cx="4937760" cy="365760"/>
          </a:xfrm>
          <a:prstGeom prst="rect">
            <a:avLst/>
          </a:prstGeom>
          <a:noFill/>
          <a:ln/>
        </p:spPr>
        <p:txBody>
          <a:bodyPr wrap="square" rtlCol="0" anchor="ctr"/>
          <a:lstStyle/>
          <a:p>
            <a:pPr marL="0" indent="0">
              <a:buNone/>
            </a:pPr>
            <a:r>
              <a:rPr lang="en-US" sz="1350" b="1" dirty="0">
                <a:solidFill>
                  <a:srgbClr val="0B5E63"/>
                </a:solidFill>
                <a:latin typeface="Cambria" pitchFamily="34" charset="0"/>
                <a:ea typeface="Cambria" pitchFamily="34" charset="-122"/>
                <a:cs typeface="Cambria" pitchFamily="34" charset="-120"/>
              </a:rPr>
              <a:t>Responsive du Bento Grid</a:t>
            </a:r>
            <a:endParaRPr lang="en-US" sz="1350" dirty="0"/>
          </a:p>
        </p:txBody>
      </p:sp>
      <p:sp>
        <p:nvSpPr>
          <p:cNvPr id="19" name="Text 17"/>
          <p:cNvSpPr/>
          <p:nvPr/>
        </p:nvSpPr>
        <p:spPr>
          <a:xfrm>
            <a:off x="6355080" y="4407408"/>
            <a:ext cx="4937760" cy="731520"/>
          </a:xfrm>
          <a:prstGeom prst="rect">
            <a:avLst/>
          </a:prstGeom>
          <a:noFill/>
          <a:ln/>
        </p:spPr>
        <p:txBody>
          <a:bodyPr wrap="square" rtlCol="0" anchor="ctr"/>
          <a:lstStyle/>
          <a:p>
            <a:pPr marL="0" indent="0">
              <a:buNone/>
            </a:pPr>
            <a:r>
              <a:rPr lang="en-US" sz="1050" i="1" dirty="0">
                <a:solidFill>
                  <a:srgbClr val="1F2937"/>
                </a:solidFill>
                <a:latin typeface="Calibri" pitchFamily="34" charset="0"/>
                <a:ea typeface="Calibri" pitchFamily="34" charset="-122"/>
                <a:cs typeface="Calibri" pitchFamily="34" charset="-120"/>
              </a:rPr>
              <a:t>La grille asymétrique s'effondrait mal sur petits écrans.</a:t>
            </a:r>
            <a:endParaRPr lang="en-US" sz="1050" dirty="0"/>
          </a:p>
        </p:txBody>
      </p:sp>
      <p:sp>
        <p:nvSpPr>
          <p:cNvPr id="20" name="Text 18"/>
          <p:cNvSpPr/>
          <p:nvPr/>
        </p:nvSpPr>
        <p:spPr>
          <a:xfrm>
            <a:off x="6355080" y="5212080"/>
            <a:ext cx="4937760" cy="868680"/>
          </a:xfrm>
          <a:prstGeom prst="rect">
            <a:avLst/>
          </a:prstGeom>
          <a:noFill/>
          <a:ln/>
        </p:spPr>
        <p:txBody>
          <a:bodyPr wrap="square" rtlCol="0" anchor="ctr"/>
          <a:lstStyle/>
          <a:p>
            <a:pPr marL="0" indent="0">
              <a:buNone/>
            </a:pPr>
            <a:r>
              <a:rPr lang="en-US" sz="1050" b="1" dirty="0">
                <a:solidFill>
                  <a:srgbClr val="E2703A"/>
                </a:solidFill>
                <a:latin typeface="Calibri" pitchFamily="34" charset="0"/>
                <a:ea typeface="Calibri" pitchFamily="34" charset="-122"/>
                <a:cs typeface="Calibri" pitchFamily="34" charset="-120"/>
              </a:rPr>
              <a:t>Solution : </a:t>
            </a:r>
            <a:r>
              <a:rPr lang="en-US" sz="1050" dirty="0">
                <a:solidFill>
                  <a:srgbClr val="1F2937"/>
                </a:solidFill>
                <a:latin typeface="Calibri" pitchFamily="34" charset="0"/>
                <a:ea typeface="Calibri" pitchFamily="34" charset="-122"/>
                <a:cs typeface="Calibri" pitchFamily="34" charset="-120"/>
              </a:rPr>
              <a:t>Media queries ciblées : grid-template-columns: 1fr et span 1 forcé sur mobile.</a:t>
            </a:r>
            <a:endParaRPr lang="en-US" sz="1050" dirty="0"/>
          </a:p>
        </p:txBody>
      </p:sp>
      <p:sp>
        <p:nvSpPr>
          <p:cNvPr id="21" name="Text 19"/>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22" name="Text 20"/>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457200" cy="457200"/>
          </a:xfrm>
          <a:prstGeom prst="ellipse">
            <a:avLst/>
          </a:prstGeom>
          <a:solidFill>
            <a:srgbClr val="0B5E63"/>
          </a:solidFill>
          <a:ln/>
        </p:spPr>
        <p:txBody>
          <a:bodyPr/>
          <a:lstStyle/>
          <a:p>
            <a:endParaRPr lang="fr-FR"/>
          </a:p>
        </p:txBody>
      </p:sp>
      <p:sp>
        <p:nvSpPr>
          <p:cNvPr id="3" name="Text 1"/>
          <p:cNvSpPr/>
          <p:nvPr/>
        </p:nvSpPr>
        <p:spPr>
          <a:xfrm>
            <a:off x="457200" y="411480"/>
            <a:ext cx="457200" cy="457200"/>
          </a:xfrm>
          <a:prstGeom prst="rect">
            <a:avLst/>
          </a:prstGeom>
          <a:noFill/>
          <a:ln/>
        </p:spPr>
        <p:txBody>
          <a:bodyPr wrap="square"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08</a:t>
            </a:r>
            <a:endParaRPr lang="en-US" sz="1600" dirty="0"/>
          </a:p>
        </p:txBody>
      </p:sp>
      <p:sp>
        <p:nvSpPr>
          <p:cNvPr id="4" name="Text 2"/>
          <p:cNvSpPr/>
          <p:nvPr/>
        </p:nvSpPr>
        <p:spPr>
          <a:xfrm>
            <a:off x="1051560" y="411480"/>
            <a:ext cx="9601200" cy="457200"/>
          </a:xfrm>
          <a:prstGeom prst="rect">
            <a:avLst/>
          </a:prstGeom>
          <a:noFill/>
          <a:ln/>
        </p:spPr>
        <p:txBody>
          <a:bodyPr wrap="square" rtlCol="0" anchor="ctr"/>
          <a:lstStyle/>
          <a:p>
            <a:pPr marL="0" indent="0">
              <a:buNone/>
            </a:pPr>
            <a:r>
              <a:rPr lang="en-US" sz="2200" b="1" dirty="0">
                <a:solidFill>
                  <a:srgbClr val="1F2937"/>
                </a:solidFill>
                <a:latin typeface="Cambria" pitchFamily="34" charset="0"/>
                <a:ea typeface="Cambria" pitchFamily="34" charset="-122"/>
                <a:cs typeface="Cambria" pitchFamily="34" charset="-120"/>
              </a:rPr>
              <a:t>Ressources &amp; Documentation utilisées</a:t>
            </a:r>
            <a:endParaRPr lang="en-US" sz="2200" dirty="0"/>
          </a:p>
        </p:txBody>
      </p:sp>
      <p:sp>
        <p:nvSpPr>
          <p:cNvPr id="5" name="Text 3"/>
          <p:cNvSpPr/>
          <p:nvPr/>
        </p:nvSpPr>
        <p:spPr>
          <a:xfrm>
            <a:off x="548640" y="1371600"/>
            <a:ext cx="2606040" cy="411480"/>
          </a:xfrm>
          <a:prstGeom prst="rect">
            <a:avLst/>
          </a:prstGeom>
          <a:noFill/>
          <a:ln/>
        </p:spPr>
        <p:txBody>
          <a:bodyPr wrap="square" rtlCol="0" anchor="ctr"/>
          <a:lstStyle/>
          <a:p>
            <a:pPr marL="0" indent="0">
              <a:buNone/>
            </a:pPr>
            <a:r>
              <a:rPr lang="en-US" sz="1400" b="1" dirty="0">
                <a:solidFill>
                  <a:srgbClr val="0B5E63"/>
                </a:solidFill>
                <a:latin typeface="Cambria" pitchFamily="34" charset="0"/>
                <a:ea typeface="Cambria" pitchFamily="34" charset="-122"/>
                <a:cs typeface="Cambria" pitchFamily="34" charset="-120"/>
              </a:rPr>
              <a:t>Référence</a:t>
            </a:r>
            <a:endParaRPr lang="en-US" sz="1400" dirty="0"/>
          </a:p>
        </p:txBody>
      </p:sp>
      <p:sp>
        <p:nvSpPr>
          <p:cNvPr id="6" name="Shape 4"/>
          <p:cNvSpPr/>
          <p:nvPr/>
        </p:nvSpPr>
        <p:spPr>
          <a:xfrm>
            <a:off x="548640" y="1810512"/>
            <a:ext cx="731520" cy="0"/>
          </a:xfrm>
          <a:prstGeom prst="line">
            <a:avLst/>
          </a:prstGeom>
          <a:noFill/>
          <a:ln w="25400">
            <a:solidFill>
              <a:srgbClr val="E2703A"/>
            </a:solidFill>
            <a:prstDash val="solid"/>
          </a:ln>
        </p:spPr>
        <p:txBody>
          <a:bodyPr/>
          <a:lstStyle/>
          <a:p>
            <a:endParaRPr lang="fr-FR"/>
          </a:p>
        </p:txBody>
      </p:sp>
      <p:sp>
        <p:nvSpPr>
          <p:cNvPr id="7" name="Text 5"/>
          <p:cNvSpPr/>
          <p:nvPr/>
        </p:nvSpPr>
        <p:spPr>
          <a:xfrm>
            <a:off x="548640" y="201168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MDN Web Docs (HTML, CSS, JS)</a:t>
            </a:r>
            <a:endParaRPr lang="en-US" sz="1050" dirty="0"/>
          </a:p>
        </p:txBody>
      </p:sp>
      <p:sp>
        <p:nvSpPr>
          <p:cNvPr id="8" name="Text 6"/>
          <p:cNvSpPr/>
          <p:nvPr/>
        </p:nvSpPr>
        <p:spPr>
          <a:xfrm>
            <a:off x="548640" y="256032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W3Schools — exemples pratiques</a:t>
            </a:r>
            <a:endParaRPr lang="en-US" sz="1050" dirty="0"/>
          </a:p>
        </p:txBody>
      </p:sp>
      <p:sp>
        <p:nvSpPr>
          <p:cNvPr id="9" name="Text 7"/>
          <p:cNvSpPr/>
          <p:nvPr/>
        </p:nvSpPr>
        <p:spPr>
          <a:xfrm>
            <a:off x="548640" y="310896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W3C Validator — validation HTML</a:t>
            </a:r>
            <a:endParaRPr lang="en-US" sz="1050" dirty="0"/>
          </a:p>
        </p:txBody>
      </p:sp>
      <p:sp>
        <p:nvSpPr>
          <p:cNvPr id="10" name="Text 8"/>
          <p:cNvSpPr/>
          <p:nvPr/>
        </p:nvSpPr>
        <p:spPr>
          <a:xfrm>
            <a:off x="3337560" y="1371600"/>
            <a:ext cx="2606040" cy="411480"/>
          </a:xfrm>
          <a:prstGeom prst="rect">
            <a:avLst/>
          </a:prstGeom>
          <a:noFill/>
          <a:ln/>
        </p:spPr>
        <p:txBody>
          <a:bodyPr wrap="square" rtlCol="0" anchor="ctr"/>
          <a:lstStyle/>
          <a:p>
            <a:pPr marL="0" indent="0">
              <a:buNone/>
            </a:pPr>
            <a:r>
              <a:rPr lang="en-US" sz="1400" b="1" dirty="0">
                <a:solidFill>
                  <a:srgbClr val="0B5E63"/>
                </a:solidFill>
                <a:latin typeface="Cambria" pitchFamily="34" charset="0"/>
                <a:ea typeface="Cambria" pitchFamily="34" charset="-122"/>
                <a:cs typeface="Cambria" pitchFamily="34" charset="-120"/>
              </a:rPr>
              <a:t>Design &amp; Polices</a:t>
            </a:r>
            <a:endParaRPr lang="en-US" sz="1400" dirty="0"/>
          </a:p>
        </p:txBody>
      </p:sp>
      <p:sp>
        <p:nvSpPr>
          <p:cNvPr id="11" name="Shape 9"/>
          <p:cNvSpPr/>
          <p:nvPr/>
        </p:nvSpPr>
        <p:spPr>
          <a:xfrm>
            <a:off x="3337560" y="1810512"/>
            <a:ext cx="731520" cy="0"/>
          </a:xfrm>
          <a:prstGeom prst="line">
            <a:avLst/>
          </a:prstGeom>
          <a:noFill/>
          <a:ln w="25400">
            <a:solidFill>
              <a:srgbClr val="E2703A"/>
            </a:solidFill>
            <a:prstDash val="solid"/>
          </a:ln>
        </p:spPr>
        <p:txBody>
          <a:bodyPr/>
          <a:lstStyle/>
          <a:p>
            <a:endParaRPr lang="fr-FR"/>
          </a:p>
        </p:txBody>
      </p:sp>
      <p:sp>
        <p:nvSpPr>
          <p:cNvPr id="12" name="Text 10"/>
          <p:cNvSpPr/>
          <p:nvPr/>
        </p:nvSpPr>
        <p:spPr>
          <a:xfrm>
            <a:off x="3337560" y="201168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Google Fonts</a:t>
            </a:r>
            <a:endParaRPr lang="en-US" sz="1050" dirty="0"/>
          </a:p>
        </p:txBody>
      </p:sp>
      <p:sp>
        <p:nvSpPr>
          <p:cNvPr id="13" name="Text 11"/>
          <p:cNvSpPr/>
          <p:nvPr/>
        </p:nvSpPr>
        <p:spPr>
          <a:xfrm>
            <a:off x="3337560" y="256032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Bootstrap Icons</a:t>
            </a:r>
            <a:endParaRPr lang="en-US" sz="1050" dirty="0"/>
          </a:p>
        </p:txBody>
      </p:sp>
      <p:sp>
        <p:nvSpPr>
          <p:cNvPr id="14" name="Text 12"/>
          <p:cNvSpPr/>
          <p:nvPr/>
        </p:nvSpPr>
        <p:spPr>
          <a:xfrm>
            <a:off x="3337560" y="310896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Awwwards — inspiration dark UI</a:t>
            </a:r>
            <a:endParaRPr lang="en-US" sz="1050" dirty="0"/>
          </a:p>
        </p:txBody>
      </p:sp>
      <p:sp>
        <p:nvSpPr>
          <p:cNvPr id="15" name="Text 13"/>
          <p:cNvSpPr/>
          <p:nvPr/>
        </p:nvSpPr>
        <p:spPr>
          <a:xfrm>
            <a:off x="6126480" y="1371600"/>
            <a:ext cx="2606040" cy="411480"/>
          </a:xfrm>
          <a:prstGeom prst="rect">
            <a:avLst/>
          </a:prstGeom>
          <a:noFill/>
          <a:ln/>
        </p:spPr>
        <p:txBody>
          <a:bodyPr wrap="square" rtlCol="0" anchor="ctr"/>
          <a:lstStyle/>
          <a:p>
            <a:pPr marL="0" indent="0">
              <a:buNone/>
            </a:pPr>
            <a:r>
              <a:rPr lang="en-US" sz="1400" b="1" dirty="0">
                <a:solidFill>
                  <a:srgbClr val="0B5E63"/>
                </a:solidFill>
                <a:latin typeface="Cambria" pitchFamily="34" charset="0"/>
                <a:ea typeface="Cambria" pitchFamily="34" charset="-122"/>
                <a:cs typeface="Cambria" pitchFamily="34" charset="-120"/>
              </a:rPr>
              <a:t>Framework &amp; Outils</a:t>
            </a:r>
            <a:endParaRPr lang="en-US" sz="1400" dirty="0"/>
          </a:p>
        </p:txBody>
      </p:sp>
      <p:sp>
        <p:nvSpPr>
          <p:cNvPr id="16" name="Shape 14"/>
          <p:cNvSpPr/>
          <p:nvPr/>
        </p:nvSpPr>
        <p:spPr>
          <a:xfrm>
            <a:off x="6126480" y="1810512"/>
            <a:ext cx="731520" cy="0"/>
          </a:xfrm>
          <a:prstGeom prst="line">
            <a:avLst/>
          </a:prstGeom>
          <a:noFill/>
          <a:ln w="25400">
            <a:solidFill>
              <a:srgbClr val="E2703A"/>
            </a:solidFill>
            <a:prstDash val="solid"/>
          </a:ln>
        </p:spPr>
        <p:txBody>
          <a:bodyPr/>
          <a:lstStyle/>
          <a:p>
            <a:endParaRPr lang="fr-FR"/>
          </a:p>
        </p:txBody>
      </p:sp>
      <p:sp>
        <p:nvSpPr>
          <p:cNvPr id="17" name="Text 15"/>
          <p:cNvSpPr/>
          <p:nvPr/>
        </p:nvSpPr>
        <p:spPr>
          <a:xfrm>
            <a:off x="6126480" y="201168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Bootstrap 5.3 Docs</a:t>
            </a:r>
            <a:endParaRPr lang="en-US" sz="1050" dirty="0"/>
          </a:p>
        </p:txBody>
      </p:sp>
      <p:sp>
        <p:nvSpPr>
          <p:cNvPr id="18" name="Text 16"/>
          <p:cNvSpPr/>
          <p:nvPr/>
        </p:nvSpPr>
        <p:spPr>
          <a:xfrm>
            <a:off x="6126480" y="256032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CSS-Tricks — Flexbox &amp; Grid</a:t>
            </a:r>
            <a:endParaRPr lang="en-US" sz="1050" dirty="0"/>
          </a:p>
        </p:txBody>
      </p:sp>
      <p:sp>
        <p:nvSpPr>
          <p:cNvPr id="19" name="Text 17"/>
          <p:cNvSpPr/>
          <p:nvPr/>
        </p:nvSpPr>
        <p:spPr>
          <a:xfrm>
            <a:off x="6126480" y="310896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Coolors — génération palette</a:t>
            </a:r>
            <a:endParaRPr lang="en-US" sz="1050" dirty="0"/>
          </a:p>
        </p:txBody>
      </p:sp>
      <p:sp>
        <p:nvSpPr>
          <p:cNvPr id="20" name="Text 18"/>
          <p:cNvSpPr/>
          <p:nvPr/>
        </p:nvSpPr>
        <p:spPr>
          <a:xfrm>
            <a:off x="8915400" y="1371600"/>
            <a:ext cx="2606040" cy="411480"/>
          </a:xfrm>
          <a:prstGeom prst="rect">
            <a:avLst/>
          </a:prstGeom>
          <a:noFill/>
          <a:ln/>
        </p:spPr>
        <p:txBody>
          <a:bodyPr wrap="square" rtlCol="0" anchor="ctr"/>
          <a:lstStyle/>
          <a:p>
            <a:pPr marL="0" indent="0">
              <a:buNone/>
            </a:pPr>
            <a:r>
              <a:rPr lang="en-US" sz="1400" b="1" dirty="0">
                <a:solidFill>
                  <a:srgbClr val="0B5E63"/>
                </a:solidFill>
                <a:latin typeface="Cambria" pitchFamily="34" charset="0"/>
                <a:ea typeface="Cambria" pitchFamily="34" charset="-122"/>
                <a:cs typeface="Cambria" pitchFamily="34" charset="-120"/>
              </a:rPr>
              <a:t>Images &amp; Git</a:t>
            </a:r>
            <a:endParaRPr lang="en-US" sz="1400" dirty="0"/>
          </a:p>
        </p:txBody>
      </p:sp>
      <p:sp>
        <p:nvSpPr>
          <p:cNvPr id="21" name="Shape 19"/>
          <p:cNvSpPr/>
          <p:nvPr/>
        </p:nvSpPr>
        <p:spPr>
          <a:xfrm>
            <a:off x="8915400" y="1810512"/>
            <a:ext cx="731520" cy="0"/>
          </a:xfrm>
          <a:prstGeom prst="line">
            <a:avLst/>
          </a:prstGeom>
          <a:noFill/>
          <a:ln w="25400">
            <a:solidFill>
              <a:srgbClr val="E2703A"/>
            </a:solidFill>
            <a:prstDash val="solid"/>
          </a:ln>
        </p:spPr>
        <p:txBody>
          <a:bodyPr/>
          <a:lstStyle/>
          <a:p>
            <a:endParaRPr lang="fr-FR"/>
          </a:p>
        </p:txBody>
      </p:sp>
      <p:sp>
        <p:nvSpPr>
          <p:cNvPr id="22" name="Text 20"/>
          <p:cNvSpPr/>
          <p:nvPr/>
        </p:nvSpPr>
        <p:spPr>
          <a:xfrm>
            <a:off x="8915400" y="201168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Unsplash / Pexels</a:t>
            </a:r>
            <a:endParaRPr lang="en-US" sz="1050" dirty="0"/>
          </a:p>
        </p:txBody>
      </p:sp>
      <p:sp>
        <p:nvSpPr>
          <p:cNvPr id="23" name="Text 21"/>
          <p:cNvSpPr/>
          <p:nvPr/>
        </p:nvSpPr>
        <p:spPr>
          <a:xfrm>
            <a:off x="8915400" y="256032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Git Documentation</a:t>
            </a:r>
            <a:endParaRPr lang="en-US" sz="1050" dirty="0"/>
          </a:p>
        </p:txBody>
      </p:sp>
      <p:sp>
        <p:nvSpPr>
          <p:cNvPr id="24" name="Text 22"/>
          <p:cNvSpPr/>
          <p:nvPr/>
        </p:nvSpPr>
        <p:spPr>
          <a:xfrm>
            <a:off x="8915400" y="3108960"/>
            <a:ext cx="2606040" cy="502920"/>
          </a:xfrm>
          <a:prstGeom prst="rect">
            <a:avLst/>
          </a:prstGeom>
          <a:noFill/>
          <a:ln/>
        </p:spPr>
        <p:txBody>
          <a:bodyPr wrap="square" rtlCol="0" anchor="ctr"/>
          <a:lstStyle/>
          <a:p>
            <a:pPr marL="342900" indent="-342900">
              <a:buSzPct val="100000"/>
              <a:buChar char="•"/>
            </a:pPr>
            <a:r>
              <a:rPr lang="en-US" sz="1050" dirty="0">
                <a:solidFill>
                  <a:srgbClr val="1F2937"/>
                </a:solidFill>
                <a:latin typeface="Calibri" pitchFamily="34" charset="0"/>
                <a:ea typeface="Calibri" pitchFamily="34" charset="-122"/>
                <a:cs typeface="Calibri" pitchFamily="34" charset="-120"/>
              </a:rPr>
              <a:t>GitHub Docs — Pages &amp; README</a:t>
            </a:r>
            <a:endParaRPr lang="en-US" sz="1050" dirty="0"/>
          </a:p>
        </p:txBody>
      </p:sp>
      <p:sp>
        <p:nvSpPr>
          <p:cNvPr id="25" name="Text 23"/>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26" name="Text 24"/>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0"/>
                                        <p:tgtEl>
                                          <p:spTgt spid="8"/>
                                        </p:tgtEl>
                                      </p:cBhvr>
                                    </p:animEffect>
                                    <p:anim calcmode="lin" valueType="num">
                                      <p:cBhvr>
                                        <p:cTn id="38" dur="1000" fill="hold"/>
                                        <p:tgtEl>
                                          <p:spTgt spid="8"/>
                                        </p:tgtEl>
                                        <p:attrNameLst>
                                          <p:attrName>ppt_x</p:attrName>
                                        </p:attrNameLst>
                                      </p:cBhvr>
                                      <p:tavLst>
                                        <p:tav tm="0">
                                          <p:val>
                                            <p:strVal val="#ppt_x"/>
                                          </p:val>
                                        </p:tav>
                                        <p:tav tm="100000">
                                          <p:val>
                                            <p:strVal val="#ppt_x"/>
                                          </p:val>
                                        </p:tav>
                                      </p:tavLst>
                                    </p:anim>
                                    <p:anim calcmode="lin" valueType="num">
                                      <p:cBhvr>
                                        <p:cTn id="39" dur="1000" fill="hold"/>
                                        <p:tgtEl>
                                          <p:spTgt spid="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1000" fill="hold"/>
                                        <p:tgtEl>
                                          <p:spTgt spid="1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1000"/>
                                        <p:tgtEl>
                                          <p:spTgt spid="11"/>
                                        </p:tgtEl>
                                      </p:cBhvr>
                                    </p:animEffect>
                                    <p:anim calcmode="lin" valueType="num">
                                      <p:cBhvr>
                                        <p:cTn id="53" dur="1000" fill="hold"/>
                                        <p:tgtEl>
                                          <p:spTgt spid="11"/>
                                        </p:tgtEl>
                                        <p:attrNameLst>
                                          <p:attrName>ppt_x</p:attrName>
                                        </p:attrNameLst>
                                      </p:cBhvr>
                                      <p:tavLst>
                                        <p:tav tm="0">
                                          <p:val>
                                            <p:strVal val="#ppt_x"/>
                                          </p:val>
                                        </p:tav>
                                        <p:tav tm="100000">
                                          <p:val>
                                            <p:strVal val="#ppt_x"/>
                                          </p:val>
                                        </p:tav>
                                      </p:tavLst>
                                    </p:anim>
                                    <p:anim calcmode="lin" valueType="num">
                                      <p:cBhvr>
                                        <p:cTn id="54" dur="1000" fill="hold"/>
                                        <p:tgtEl>
                                          <p:spTgt spid="11"/>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anim calcmode="lin" valueType="num">
                                      <p:cBhvr>
                                        <p:cTn id="58" dur="1000" fill="hold"/>
                                        <p:tgtEl>
                                          <p:spTgt spid="12"/>
                                        </p:tgtEl>
                                        <p:attrNameLst>
                                          <p:attrName>ppt_x</p:attrName>
                                        </p:attrNameLst>
                                      </p:cBhvr>
                                      <p:tavLst>
                                        <p:tav tm="0">
                                          <p:val>
                                            <p:strVal val="#ppt_x"/>
                                          </p:val>
                                        </p:tav>
                                        <p:tav tm="100000">
                                          <p:val>
                                            <p:strVal val="#ppt_x"/>
                                          </p:val>
                                        </p:tav>
                                      </p:tavLst>
                                    </p:anim>
                                    <p:anim calcmode="lin" valueType="num">
                                      <p:cBhvr>
                                        <p:cTn id="59" dur="1000" fill="hold"/>
                                        <p:tgtEl>
                                          <p:spTgt spid="12"/>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1000"/>
                                        <p:tgtEl>
                                          <p:spTgt spid="13"/>
                                        </p:tgtEl>
                                      </p:cBhvr>
                                    </p:animEffect>
                                    <p:anim calcmode="lin" valueType="num">
                                      <p:cBhvr>
                                        <p:cTn id="63" dur="1000" fill="hold"/>
                                        <p:tgtEl>
                                          <p:spTgt spid="13"/>
                                        </p:tgtEl>
                                        <p:attrNameLst>
                                          <p:attrName>ppt_x</p:attrName>
                                        </p:attrNameLst>
                                      </p:cBhvr>
                                      <p:tavLst>
                                        <p:tav tm="0">
                                          <p:val>
                                            <p:strVal val="#ppt_x"/>
                                          </p:val>
                                        </p:tav>
                                        <p:tav tm="100000">
                                          <p:val>
                                            <p:strVal val="#ppt_x"/>
                                          </p:val>
                                        </p:tav>
                                      </p:tavLst>
                                    </p:anim>
                                    <p:anim calcmode="lin" valueType="num">
                                      <p:cBhvr>
                                        <p:cTn id="64" dur="1000" fill="hold"/>
                                        <p:tgtEl>
                                          <p:spTgt spid="13"/>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anim calcmode="lin" valueType="num">
                                      <p:cBhvr>
                                        <p:cTn id="68" dur="1000" fill="hold"/>
                                        <p:tgtEl>
                                          <p:spTgt spid="14"/>
                                        </p:tgtEl>
                                        <p:attrNameLst>
                                          <p:attrName>ppt_x</p:attrName>
                                        </p:attrNameLst>
                                      </p:cBhvr>
                                      <p:tavLst>
                                        <p:tav tm="0">
                                          <p:val>
                                            <p:strVal val="#ppt_x"/>
                                          </p:val>
                                        </p:tav>
                                        <p:tav tm="100000">
                                          <p:val>
                                            <p:strVal val="#ppt_x"/>
                                          </p:val>
                                        </p:tav>
                                      </p:tavLst>
                                    </p:anim>
                                    <p:anim calcmode="lin" valueType="num">
                                      <p:cBhvr>
                                        <p:cTn id="69" dur="1000" fill="hold"/>
                                        <p:tgtEl>
                                          <p:spTgt spid="14"/>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fade">
                                      <p:cBhvr>
                                        <p:cTn id="72" dur="1000"/>
                                        <p:tgtEl>
                                          <p:spTgt spid="15"/>
                                        </p:tgtEl>
                                      </p:cBhvr>
                                    </p:animEffect>
                                    <p:anim calcmode="lin" valueType="num">
                                      <p:cBhvr>
                                        <p:cTn id="73" dur="1000" fill="hold"/>
                                        <p:tgtEl>
                                          <p:spTgt spid="15"/>
                                        </p:tgtEl>
                                        <p:attrNameLst>
                                          <p:attrName>ppt_x</p:attrName>
                                        </p:attrNameLst>
                                      </p:cBhvr>
                                      <p:tavLst>
                                        <p:tav tm="0">
                                          <p:val>
                                            <p:strVal val="#ppt_x"/>
                                          </p:val>
                                        </p:tav>
                                        <p:tav tm="100000">
                                          <p:val>
                                            <p:strVal val="#ppt_x"/>
                                          </p:val>
                                        </p:tav>
                                      </p:tavLst>
                                    </p:anim>
                                    <p:anim calcmode="lin" valueType="num">
                                      <p:cBhvr>
                                        <p:cTn id="74" dur="1000" fill="hold"/>
                                        <p:tgtEl>
                                          <p:spTgt spid="15"/>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1000"/>
                                        <p:tgtEl>
                                          <p:spTgt spid="16"/>
                                        </p:tgtEl>
                                      </p:cBhvr>
                                    </p:animEffect>
                                    <p:anim calcmode="lin" valueType="num">
                                      <p:cBhvr>
                                        <p:cTn id="78" dur="1000" fill="hold"/>
                                        <p:tgtEl>
                                          <p:spTgt spid="16"/>
                                        </p:tgtEl>
                                        <p:attrNameLst>
                                          <p:attrName>ppt_x</p:attrName>
                                        </p:attrNameLst>
                                      </p:cBhvr>
                                      <p:tavLst>
                                        <p:tav tm="0">
                                          <p:val>
                                            <p:strVal val="#ppt_x"/>
                                          </p:val>
                                        </p:tav>
                                        <p:tav tm="100000">
                                          <p:val>
                                            <p:strVal val="#ppt_x"/>
                                          </p:val>
                                        </p:tav>
                                      </p:tavLst>
                                    </p:anim>
                                    <p:anim calcmode="lin" valueType="num">
                                      <p:cBhvr>
                                        <p:cTn id="79" dur="1000" fill="hold"/>
                                        <p:tgtEl>
                                          <p:spTgt spid="16"/>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fade">
                                      <p:cBhvr>
                                        <p:cTn id="82" dur="1000"/>
                                        <p:tgtEl>
                                          <p:spTgt spid="17"/>
                                        </p:tgtEl>
                                      </p:cBhvr>
                                    </p:animEffect>
                                    <p:anim calcmode="lin" valueType="num">
                                      <p:cBhvr>
                                        <p:cTn id="83" dur="1000" fill="hold"/>
                                        <p:tgtEl>
                                          <p:spTgt spid="17"/>
                                        </p:tgtEl>
                                        <p:attrNameLst>
                                          <p:attrName>ppt_x</p:attrName>
                                        </p:attrNameLst>
                                      </p:cBhvr>
                                      <p:tavLst>
                                        <p:tav tm="0">
                                          <p:val>
                                            <p:strVal val="#ppt_x"/>
                                          </p:val>
                                        </p:tav>
                                        <p:tav tm="100000">
                                          <p:val>
                                            <p:strVal val="#ppt_x"/>
                                          </p:val>
                                        </p:tav>
                                      </p:tavLst>
                                    </p:anim>
                                    <p:anim calcmode="lin" valueType="num">
                                      <p:cBhvr>
                                        <p:cTn id="84" dur="1000" fill="hold"/>
                                        <p:tgtEl>
                                          <p:spTgt spid="17"/>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fade">
                                      <p:cBhvr>
                                        <p:cTn id="87" dur="1000"/>
                                        <p:tgtEl>
                                          <p:spTgt spid="18"/>
                                        </p:tgtEl>
                                      </p:cBhvr>
                                    </p:animEffect>
                                    <p:anim calcmode="lin" valueType="num">
                                      <p:cBhvr>
                                        <p:cTn id="88" dur="1000" fill="hold"/>
                                        <p:tgtEl>
                                          <p:spTgt spid="18"/>
                                        </p:tgtEl>
                                        <p:attrNameLst>
                                          <p:attrName>ppt_x</p:attrName>
                                        </p:attrNameLst>
                                      </p:cBhvr>
                                      <p:tavLst>
                                        <p:tav tm="0">
                                          <p:val>
                                            <p:strVal val="#ppt_x"/>
                                          </p:val>
                                        </p:tav>
                                        <p:tav tm="100000">
                                          <p:val>
                                            <p:strVal val="#ppt_x"/>
                                          </p:val>
                                        </p:tav>
                                      </p:tavLst>
                                    </p:anim>
                                    <p:anim calcmode="lin" valueType="num">
                                      <p:cBhvr>
                                        <p:cTn id="89" dur="1000" fill="hold"/>
                                        <p:tgtEl>
                                          <p:spTgt spid="18"/>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fade">
                                      <p:cBhvr>
                                        <p:cTn id="92" dur="1000"/>
                                        <p:tgtEl>
                                          <p:spTgt spid="19"/>
                                        </p:tgtEl>
                                      </p:cBhvr>
                                    </p:animEffect>
                                    <p:anim calcmode="lin" valueType="num">
                                      <p:cBhvr>
                                        <p:cTn id="93" dur="1000" fill="hold"/>
                                        <p:tgtEl>
                                          <p:spTgt spid="19"/>
                                        </p:tgtEl>
                                        <p:attrNameLst>
                                          <p:attrName>ppt_x</p:attrName>
                                        </p:attrNameLst>
                                      </p:cBhvr>
                                      <p:tavLst>
                                        <p:tav tm="0">
                                          <p:val>
                                            <p:strVal val="#ppt_x"/>
                                          </p:val>
                                        </p:tav>
                                        <p:tav tm="100000">
                                          <p:val>
                                            <p:strVal val="#ppt_x"/>
                                          </p:val>
                                        </p:tav>
                                      </p:tavLst>
                                    </p:anim>
                                    <p:anim calcmode="lin" valueType="num">
                                      <p:cBhvr>
                                        <p:cTn id="94" dur="1000" fill="hold"/>
                                        <p:tgtEl>
                                          <p:spTgt spid="19"/>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fade">
                                      <p:cBhvr>
                                        <p:cTn id="97" dur="1000"/>
                                        <p:tgtEl>
                                          <p:spTgt spid="20"/>
                                        </p:tgtEl>
                                      </p:cBhvr>
                                    </p:animEffect>
                                    <p:anim calcmode="lin" valueType="num">
                                      <p:cBhvr>
                                        <p:cTn id="98" dur="1000" fill="hold"/>
                                        <p:tgtEl>
                                          <p:spTgt spid="20"/>
                                        </p:tgtEl>
                                        <p:attrNameLst>
                                          <p:attrName>ppt_x</p:attrName>
                                        </p:attrNameLst>
                                      </p:cBhvr>
                                      <p:tavLst>
                                        <p:tav tm="0">
                                          <p:val>
                                            <p:strVal val="#ppt_x"/>
                                          </p:val>
                                        </p:tav>
                                        <p:tav tm="100000">
                                          <p:val>
                                            <p:strVal val="#ppt_x"/>
                                          </p:val>
                                        </p:tav>
                                      </p:tavLst>
                                    </p:anim>
                                    <p:anim calcmode="lin" valueType="num">
                                      <p:cBhvr>
                                        <p:cTn id="99" dur="1000" fill="hold"/>
                                        <p:tgtEl>
                                          <p:spTgt spid="20"/>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1"/>
                                        </p:tgtEl>
                                        <p:attrNameLst>
                                          <p:attrName>style.visibility</p:attrName>
                                        </p:attrNameLst>
                                      </p:cBhvr>
                                      <p:to>
                                        <p:strVal val="visible"/>
                                      </p:to>
                                    </p:set>
                                    <p:animEffect transition="in" filter="fade">
                                      <p:cBhvr>
                                        <p:cTn id="102" dur="1000"/>
                                        <p:tgtEl>
                                          <p:spTgt spid="21"/>
                                        </p:tgtEl>
                                      </p:cBhvr>
                                    </p:animEffect>
                                    <p:anim calcmode="lin" valueType="num">
                                      <p:cBhvr>
                                        <p:cTn id="103" dur="1000" fill="hold"/>
                                        <p:tgtEl>
                                          <p:spTgt spid="21"/>
                                        </p:tgtEl>
                                        <p:attrNameLst>
                                          <p:attrName>ppt_x</p:attrName>
                                        </p:attrNameLst>
                                      </p:cBhvr>
                                      <p:tavLst>
                                        <p:tav tm="0">
                                          <p:val>
                                            <p:strVal val="#ppt_x"/>
                                          </p:val>
                                        </p:tav>
                                        <p:tav tm="100000">
                                          <p:val>
                                            <p:strVal val="#ppt_x"/>
                                          </p:val>
                                        </p:tav>
                                      </p:tavLst>
                                    </p:anim>
                                    <p:anim calcmode="lin" valueType="num">
                                      <p:cBhvr>
                                        <p:cTn id="104" dur="1000" fill="hold"/>
                                        <p:tgtEl>
                                          <p:spTgt spid="21"/>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22"/>
                                        </p:tgtEl>
                                        <p:attrNameLst>
                                          <p:attrName>style.visibility</p:attrName>
                                        </p:attrNameLst>
                                      </p:cBhvr>
                                      <p:to>
                                        <p:strVal val="visible"/>
                                      </p:to>
                                    </p:set>
                                    <p:animEffect transition="in" filter="fade">
                                      <p:cBhvr>
                                        <p:cTn id="107" dur="1000"/>
                                        <p:tgtEl>
                                          <p:spTgt spid="22"/>
                                        </p:tgtEl>
                                      </p:cBhvr>
                                    </p:animEffect>
                                    <p:anim calcmode="lin" valueType="num">
                                      <p:cBhvr>
                                        <p:cTn id="108" dur="1000" fill="hold"/>
                                        <p:tgtEl>
                                          <p:spTgt spid="22"/>
                                        </p:tgtEl>
                                        <p:attrNameLst>
                                          <p:attrName>ppt_x</p:attrName>
                                        </p:attrNameLst>
                                      </p:cBhvr>
                                      <p:tavLst>
                                        <p:tav tm="0">
                                          <p:val>
                                            <p:strVal val="#ppt_x"/>
                                          </p:val>
                                        </p:tav>
                                        <p:tav tm="100000">
                                          <p:val>
                                            <p:strVal val="#ppt_x"/>
                                          </p:val>
                                        </p:tav>
                                      </p:tavLst>
                                    </p:anim>
                                    <p:anim calcmode="lin" valueType="num">
                                      <p:cBhvr>
                                        <p:cTn id="109" dur="1000" fill="hold"/>
                                        <p:tgtEl>
                                          <p:spTgt spid="22"/>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23"/>
                                        </p:tgtEl>
                                        <p:attrNameLst>
                                          <p:attrName>style.visibility</p:attrName>
                                        </p:attrNameLst>
                                      </p:cBhvr>
                                      <p:to>
                                        <p:strVal val="visible"/>
                                      </p:to>
                                    </p:set>
                                    <p:animEffect transition="in" filter="fade">
                                      <p:cBhvr>
                                        <p:cTn id="112" dur="1000"/>
                                        <p:tgtEl>
                                          <p:spTgt spid="23"/>
                                        </p:tgtEl>
                                      </p:cBhvr>
                                    </p:animEffect>
                                    <p:anim calcmode="lin" valueType="num">
                                      <p:cBhvr>
                                        <p:cTn id="113" dur="1000" fill="hold"/>
                                        <p:tgtEl>
                                          <p:spTgt spid="23"/>
                                        </p:tgtEl>
                                        <p:attrNameLst>
                                          <p:attrName>ppt_x</p:attrName>
                                        </p:attrNameLst>
                                      </p:cBhvr>
                                      <p:tavLst>
                                        <p:tav tm="0">
                                          <p:val>
                                            <p:strVal val="#ppt_x"/>
                                          </p:val>
                                        </p:tav>
                                        <p:tav tm="100000">
                                          <p:val>
                                            <p:strVal val="#ppt_x"/>
                                          </p:val>
                                        </p:tav>
                                      </p:tavLst>
                                    </p:anim>
                                    <p:anim calcmode="lin" valueType="num">
                                      <p:cBhvr>
                                        <p:cTn id="114" dur="1000" fill="hold"/>
                                        <p:tgtEl>
                                          <p:spTgt spid="23"/>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fade">
                                      <p:cBhvr>
                                        <p:cTn id="117" dur="1000"/>
                                        <p:tgtEl>
                                          <p:spTgt spid="24"/>
                                        </p:tgtEl>
                                      </p:cBhvr>
                                    </p:animEffect>
                                    <p:anim calcmode="lin" valueType="num">
                                      <p:cBhvr>
                                        <p:cTn id="118" dur="1000" fill="hold"/>
                                        <p:tgtEl>
                                          <p:spTgt spid="24"/>
                                        </p:tgtEl>
                                        <p:attrNameLst>
                                          <p:attrName>ppt_x</p:attrName>
                                        </p:attrNameLst>
                                      </p:cBhvr>
                                      <p:tavLst>
                                        <p:tav tm="0">
                                          <p:val>
                                            <p:strVal val="#ppt_x"/>
                                          </p:val>
                                        </p:tav>
                                        <p:tav tm="100000">
                                          <p:val>
                                            <p:strVal val="#ppt_x"/>
                                          </p:val>
                                        </p:tav>
                                      </p:tavLst>
                                    </p:anim>
                                    <p:anim calcmode="lin" valueType="num">
                                      <p:cBhvr>
                                        <p:cTn id="119" dur="1000" fill="hold"/>
                                        <p:tgtEl>
                                          <p:spTgt spid="24"/>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fade">
                                      <p:cBhvr>
                                        <p:cTn id="122" dur="1000"/>
                                        <p:tgtEl>
                                          <p:spTgt spid="25"/>
                                        </p:tgtEl>
                                      </p:cBhvr>
                                    </p:animEffect>
                                    <p:anim calcmode="lin" valueType="num">
                                      <p:cBhvr>
                                        <p:cTn id="123" dur="1000" fill="hold"/>
                                        <p:tgtEl>
                                          <p:spTgt spid="25"/>
                                        </p:tgtEl>
                                        <p:attrNameLst>
                                          <p:attrName>ppt_x</p:attrName>
                                        </p:attrNameLst>
                                      </p:cBhvr>
                                      <p:tavLst>
                                        <p:tav tm="0">
                                          <p:val>
                                            <p:strVal val="#ppt_x"/>
                                          </p:val>
                                        </p:tav>
                                        <p:tav tm="100000">
                                          <p:val>
                                            <p:strVal val="#ppt_x"/>
                                          </p:val>
                                        </p:tav>
                                      </p:tavLst>
                                    </p:anim>
                                    <p:anim calcmode="lin" valueType="num">
                                      <p:cBhvr>
                                        <p:cTn id="124" dur="1000" fill="hold"/>
                                        <p:tgtEl>
                                          <p:spTgt spid="25"/>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fade">
                                      <p:cBhvr>
                                        <p:cTn id="127" dur="1000"/>
                                        <p:tgtEl>
                                          <p:spTgt spid="26"/>
                                        </p:tgtEl>
                                      </p:cBhvr>
                                    </p:animEffect>
                                    <p:anim calcmode="lin" valueType="num">
                                      <p:cBhvr>
                                        <p:cTn id="128" dur="1000" fill="hold"/>
                                        <p:tgtEl>
                                          <p:spTgt spid="26"/>
                                        </p:tgtEl>
                                        <p:attrNameLst>
                                          <p:attrName>ppt_x</p:attrName>
                                        </p:attrNameLst>
                                      </p:cBhvr>
                                      <p:tavLst>
                                        <p:tav tm="0">
                                          <p:val>
                                            <p:strVal val="#ppt_x"/>
                                          </p:val>
                                        </p:tav>
                                        <p:tav tm="100000">
                                          <p:val>
                                            <p:strVal val="#ppt_x"/>
                                          </p:val>
                                        </p:tav>
                                      </p:tavLst>
                                    </p:anim>
                                    <p:anim calcmode="lin" valueType="num">
                                      <p:cBhvr>
                                        <p:cTn id="12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tx1">
            <a:lumMod val="95000"/>
            <a:lumOff val="5000"/>
          </a:schemeClr>
        </a:solidFill>
        <a:effectLst/>
      </p:bgPr>
    </p:bg>
    <p:spTree>
      <p:nvGrpSpPr>
        <p:cNvPr id="1" name=""/>
        <p:cNvGrpSpPr/>
        <p:nvPr/>
      </p:nvGrpSpPr>
      <p:grpSpPr>
        <a:xfrm>
          <a:off x="0" y="0"/>
          <a:ext cx="0" cy="0"/>
          <a:chOff x="0" y="0"/>
          <a:chExt cx="0" cy="0"/>
        </a:xfrm>
      </p:grpSpPr>
      <p:sp>
        <p:nvSpPr>
          <p:cNvPr id="2" name="Shape 0"/>
          <p:cNvSpPr/>
          <p:nvPr/>
        </p:nvSpPr>
        <p:spPr>
          <a:xfrm>
            <a:off x="9445752" y="-1097280"/>
            <a:ext cx="4114800" cy="4114800"/>
          </a:xfrm>
          <a:prstGeom prst="ellipse">
            <a:avLst/>
          </a:prstGeom>
          <a:solidFill>
            <a:srgbClr val="0B5E63">
              <a:alpha val="45000"/>
            </a:srgbClr>
          </a:solidFill>
          <a:ln/>
        </p:spPr>
        <p:txBody>
          <a:bodyPr/>
          <a:lstStyle/>
          <a:p>
            <a:endParaRPr lang="fr-FR"/>
          </a:p>
        </p:txBody>
      </p:sp>
      <p:sp>
        <p:nvSpPr>
          <p:cNvPr id="3" name="Text 1"/>
          <p:cNvSpPr/>
          <p:nvPr/>
        </p:nvSpPr>
        <p:spPr>
          <a:xfrm>
            <a:off x="245444" y="269509"/>
            <a:ext cx="5250581" cy="91440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Démonstration Live</a:t>
            </a:r>
            <a:endParaRPr lang="en-US" sz="4200" dirty="0"/>
          </a:p>
        </p:txBody>
      </p:sp>
      <p:sp>
        <p:nvSpPr>
          <p:cNvPr id="4" name="Text 2"/>
          <p:cNvSpPr/>
          <p:nvPr/>
        </p:nvSpPr>
        <p:spPr>
          <a:xfrm>
            <a:off x="611204" y="1065998"/>
            <a:ext cx="1949116" cy="369263"/>
          </a:xfrm>
          <a:prstGeom prst="rect">
            <a:avLst/>
          </a:prstGeom>
          <a:noFill/>
          <a:ln/>
        </p:spPr>
        <p:txBody>
          <a:bodyPr wrap="square" rtlCol="0" anchor="ctr"/>
          <a:lstStyle/>
          <a:p>
            <a:pPr marL="0" indent="0">
              <a:buNone/>
            </a:pPr>
            <a:r>
              <a:rPr lang="en-US" sz="1800" dirty="0">
                <a:solidFill>
                  <a:srgbClr val="C7DAD8"/>
                </a:solidFill>
                <a:latin typeface="Calibri" pitchFamily="34" charset="0"/>
                <a:ea typeface="Calibri" pitchFamily="34" charset="-122"/>
                <a:cs typeface="Calibri" pitchFamily="34" charset="-120"/>
              </a:rPr>
              <a:t>du site AfriTalent</a:t>
            </a:r>
            <a:endParaRPr lang="en-US" sz="1800" dirty="0"/>
          </a:p>
        </p:txBody>
      </p:sp>
      <p:sp>
        <p:nvSpPr>
          <p:cNvPr id="5" name="Shape 3"/>
          <p:cNvSpPr/>
          <p:nvPr/>
        </p:nvSpPr>
        <p:spPr>
          <a:xfrm>
            <a:off x="625094" y="1435261"/>
            <a:ext cx="2286000" cy="0"/>
          </a:xfrm>
          <a:prstGeom prst="line">
            <a:avLst/>
          </a:prstGeom>
          <a:noFill/>
          <a:ln w="25400">
            <a:solidFill>
              <a:srgbClr val="E2703A"/>
            </a:solidFill>
            <a:prstDash val="solid"/>
          </a:ln>
        </p:spPr>
        <p:txBody>
          <a:bodyPr/>
          <a:lstStyle/>
          <a:p>
            <a:endParaRPr lang="fr-FR" dirty="0"/>
          </a:p>
        </p:txBody>
      </p:sp>
      <p:sp>
        <p:nvSpPr>
          <p:cNvPr id="6" name="Text 4"/>
          <p:cNvSpPr/>
          <p:nvPr/>
        </p:nvSpPr>
        <p:spPr>
          <a:xfrm>
            <a:off x="437949" y="1614638"/>
            <a:ext cx="10048714" cy="541421"/>
          </a:xfrm>
          <a:prstGeom prst="rect">
            <a:avLst/>
          </a:prstGeom>
          <a:noFill/>
          <a:ln/>
        </p:spPr>
        <p:txBody>
          <a:bodyPr wrap="square" rtlCol="0" anchor="ctr"/>
          <a:lstStyle/>
          <a:p>
            <a:r>
              <a:rPr lang="en-US" sz="1300" b="1" dirty="0">
                <a:solidFill>
                  <a:srgbClr val="FFFFFF"/>
                </a:solidFill>
                <a:latin typeface="Calibri" pitchFamily="34" charset="0"/>
                <a:ea typeface="Calibri" pitchFamily="34" charset="-122"/>
                <a:cs typeface="Calibri" pitchFamily="34" charset="-120"/>
              </a:rPr>
              <a:t>Lien GitHub Pages : </a:t>
            </a:r>
            <a:r>
              <a:rPr lang="fr-FR" b="1" u="sng" dirty="0">
                <a:hlinkClick r:id="rId3"/>
              </a:rPr>
              <a:t>https://mouhamadoucissokho.github.io/Cissokho-MouhamadouMoustapha-AfriTalent/</a:t>
            </a:r>
            <a:endParaRPr lang="en-US" sz="1300" dirty="0"/>
          </a:p>
        </p:txBody>
      </p:sp>
      <p:sp>
        <p:nvSpPr>
          <p:cNvPr id="7" name="Text 5"/>
          <p:cNvSpPr/>
          <p:nvPr/>
        </p:nvSpPr>
        <p:spPr>
          <a:xfrm>
            <a:off x="437949" y="2156059"/>
            <a:ext cx="9601200" cy="365760"/>
          </a:xfrm>
          <a:prstGeom prst="rect">
            <a:avLst/>
          </a:prstGeom>
          <a:noFill/>
          <a:ln/>
        </p:spPr>
        <p:txBody>
          <a:bodyPr wrap="square" rtlCol="0" anchor="ctr"/>
          <a:lstStyle/>
          <a:p>
            <a:r>
              <a:rPr lang="en-US" sz="1300" b="1" dirty="0">
                <a:solidFill>
                  <a:srgbClr val="FFFFFF"/>
                </a:solidFill>
                <a:latin typeface="Calibri" pitchFamily="34" charset="0"/>
                <a:ea typeface="Calibri" pitchFamily="34" charset="-122"/>
                <a:cs typeface="Calibri" pitchFamily="34" charset="-120"/>
              </a:rPr>
              <a:t>Dépôt GitHub : https://github.com/mouhamadoucissokho/Cissokho-MouhamadouMoustapha-AfriTalent</a:t>
            </a:r>
            <a:endParaRPr lang="en-US" sz="1300" dirty="0"/>
          </a:p>
        </p:txBody>
      </p:sp>
      <p:pic>
        <p:nvPicPr>
          <p:cNvPr id="9" name="Image 8">
            <a:extLst>
              <a:ext uri="{FF2B5EF4-FFF2-40B4-BE49-F238E27FC236}">
                <a16:creationId xmlns:a16="http://schemas.microsoft.com/office/drawing/2014/main" id="{E5E57809-5387-E811-B8EB-9243363C71B1}"/>
              </a:ext>
            </a:extLst>
          </p:cNvPr>
          <p:cNvPicPr>
            <a:picLocks noChangeAspect="1"/>
          </p:cNvPicPr>
          <p:nvPr/>
        </p:nvPicPr>
        <p:blipFill>
          <a:blip r:embed="rId4"/>
          <a:stretch>
            <a:fillRect/>
          </a:stretch>
        </p:blipFill>
        <p:spPr>
          <a:xfrm>
            <a:off x="72189" y="2713516"/>
            <a:ext cx="4094760" cy="1882548"/>
          </a:xfrm>
          <a:prstGeom prst="rect">
            <a:avLst/>
          </a:prstGeom>
        </p:spPr>
      </p:pic>
      <p:pic>
        <p:nvPicPr>
          <p:cNvPr id="11" name="Image 10">
            <a:extLst>
              <a:ext uri="{FF2B5EF4-FFF2-40B4-BE49-F238E27FC236}">
                <a16:creationId xmlns:a16="http://schemas.microsoft.com/office/drawing/2014/main" id="{4F0B8EAF-31BD-AE87-9CCC-32C79D294880}"/>
              </a:ext>
            </a:extLst>
          </p:cNvPr>
          <p:cNvPicPr>
            <a:picLocks noChangeAspect="1"/>
          </p:cNvPicPr>
          <p:nvPr/>
        </p:nvPicPr>
        <p:blipFill>
          <a:blip r:embed="rId5"/>
          <a:stretch>
            <a:fillRect/>
          </a:stretch>
        </p:blipFill>
        <p:spPr>
          <a:xfrm>
            <a:off x="4239928" y="2720887"/>
            <a:ext cx="4081901" cy="1875177"/>
          </a:xfrm>
          <a:prstGeom prst="rect">
            <a:avLst/>
          </a:prstGeom>
        </p:spPr>
      </p:pic>
      <p:pic>
        <p:nvPicPr>
          <p:cNvPr id="13" name="Image 12">
            <a:extLst>
              <a:ext uri="{FF2B5EF4-FFF2-40B4-BE49-F238E27FC236}">
                <a16:creationId xmlns:a16="http://schemas.microsoft.com/office/drawing/2014/main" id="{65AAD789-5935-1244-3AAB-07C7CC07C5FF}"/>
              </a:ext>
            </a:extLst>
          </p:cNvPr>
          <p:cNvPicPr>
            <a:picLocks noChangeAspect="1"/>
          </p:cNvPicPr>
          <p:nvPr/>
        </p:nvPicPr>
        <p:blipFill>
          <a:blip r:embed="rId6"/>
          <a:stretch>
            <a:fillRect/>
          </a:stretch>
        </p:blipFill>
        <p:spPr>
          <a:xfrm>
            <a:off x="87378" y="4675877"/>
            <a:ext cx="4079571" cy="1882548"/>
          </a:xfrm>
          <a:prstGeom prst="rect">
            <a:avLst/>
          </a:prstGeom>
        </p:spPr>
      </p:pic>
      <p:pic>
        <p:nvPicPr>
          <p:cNvPr id="15" name="Image 14">
            <a:extLst>
              <a:ext uri="{FF2B5EF4-FFF2-40B4-BE49-F238E27FC236}">
                <a16:creationId xmlns:a16="http://schemas.microsoft.com/office/drawing/2014/main" id="{6C44FF20-F660-3C19-EFE6-149D6925B2BC}"/>
              </a:ext>
            </a:extLst>
          </p:cNvPr>
          <p:cNvPicPr>
            <a:picLocks noChangeAspect="1"/>
          </p:cNvPicPr>
          <p:nvPr/>
        </p:nvPicPr>
        <p:blipFill>
          <a:blip r:embed="rId7"/>
          <a:stretch>
            <a:fillRect/>
          </a:stretch>
        </p:blipFill>
        <p:spPr>
          <a:xfrm>
            <a:off x="4239928" y="4679307"/>
            <a:ext cx="4081901" cy="1871501"/>
          </a:xfrm>
          <a:prstGeom prst="rect">
            <a:avLst/>
          </a:prstGeom>
        </p:spPr>
      </p:pic>
      <p:pic>
        <p:nvPicPr>
          <p:cNvPr id="17" name="Image 16">
            <a:extLst>
              <a:ext uri="{FF2B5EF4-FFF2-40B4-BE49-F238E27FC236}">
                <a16:creationId xmlns:a16="http://schemas.microsoft.com/office/drawing/2014/main" id="{4466B1B2-B4BC-E5E9-E4AE-564E0D65DE31}"/>
              </a:ext>
            </a:extLst>
          </p:cNvPr>
          <p:cNvPicPr>
            <a:picLocks noChangeAspect="1"/>
          </p:cNvPicPr>
          <p:nvPr/>
        </p:nvPicPr>
        <p:blipFill>
          <a:blip r:embed="rId8"/>
          <a:stretch>
            <a:fillRect/>
          </a:stretch>
        </p:blipFill>
        <p:spPr>
          <a:xfrm>
            <a:off x="8506150" y="3619500"/>
            <a:ext cx="3684425" cy="1695573"/>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1000"/>
                                        <p:tgtEl>
                                          <p:spTgt spid="7"/>
                                        </p:tgtEl>
                                      </p:cBhvr>
                                    </p:animEffect>
                                    <p:anim calcmode="lin" valueType="num">
                                      <p:cBhvr>
                                        <p:cTn id="33" dur="1000" fill="hold"/>
                                        <p:tgtEl>
                                          <p:spTgt spid="7"/>
                                        </p:tgtEl>
                                        <p:attrNameLst>
                                          <p:attrName>ppt_x</p:attrName>
                                        </p:attrNameLst>
                                      </p:cBhvr>
                                      <p:tavLst>
                                        <p:tav tm="0">
                                          <p:val>
                                            <p:strVal val="#ppt_x"/>
                                          </p:val>
                                        </p:tav>
                                        <p:tav tm="100000">
                                          <p:val>
                                            <p:strVal val="#ppt_x"/>
                                          </p:val>
                                        </p:tav>
                                      </p:tavLst>
                                    </p:anim>
                                    <p:anim calcmode="lin" valueType="num">
                                      <p:cBhvr>
                                        <p:cTn id="3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200" b="1" dirty="0">
                <a:solidFill>
                  <a:srgbClr val="1F2937"/>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66928" y="1143000"/>
            <a:ext cx="1280160" cy="0"/>
          </a:xfrm>
          <a:prstGeom prst="line">
            <a:avLst/>
          </a:prstGeom>
          <a:noFill/>
          <a:ln w="38100">
            <a:solidFill>
              <a:srgbClr val="E2703A"/>
            </a:solidFill>
            <a:prstDash val="solid"/>
          </a:ln>
        </p:spPr>
        <p:txBody>
          <a:bodyPr/>
          <a:lstStyle/>
          <a:p>
            <a:endParaRPr lang="fr-FR"/>
          </a:p>
        </p:txBody>
      </p:sp>
      <p:sp>
        <p:nvSpPr>
          <p:cNvPr id="4" name="Shape 2"/>
          <p:cNvSpPr/>
          <p:nvPr/>
        </p:nvSpPr>
        <p:spPr>
          <a:xfrm>
            <a:off x="548640" y="1463040"/>
            <a:ext cx="5394960" cy="4480560"/>
          </a:xfrm>
          <a:prstGeom prst="roundRect">
            <a:avLst>
              <a:gd name="adj" fmla="val 1633"/>
            </a:avLst>
          </a:prstGeom>
          <a:solidFill>
            <a:srgbClr val="F4F1EC"/>
          </a:solidFill>
          <a:ln/>
        </p:spPr>
        <p:txBody>
          <a:bodyPr/>
          <a:lstStyle/>
          <a:p>
            <a:endParaRPr lang="fr-FR"/>
          </a:p>
        </p:txBody>
      </p:sp>
      <p:sp>
        <p:nvSpPr>
          <p:cNvPr id="5" name="Text 3"/>
          <p:cNvSpPr/>
          <p:nvPr/>
        </p:nvSpPr>
        <p:spPr>
          <a:xfrm>
            <a:off x="868680" y="1645920"/>
            <a:ext cx="4754880" cy="365760"/>
          </a:xfrm>
          <a:prstGeom prst="rect">
            <a:avLst/>
          </a:prstGeom>
          <a:noFill/>
          <a:ln/>
        </p:spPr>
        <p:txBody>
          <a:bodyPr wrap="square" rtlCol="0" anchor="ctr"/>
          <a:lstStyle/>
          <a:p>
            <a:pPr marL="0" indent="0">
              <a:buNone/>
            </a:pPr>
            <a:r>
              <a:rPr lang="en-US" sz="1600" b="1" dirty="0">
                <a:solidFill>
                  <a:srgbClr val="0B5E63"/>
                </a:solidFill>
                <a:latin typeface="Cambria" pitchFamily="34" charset="0"/>
                <a:ea typeface="Cambria" pitchFamily="34" charset="-122"/>
                <a:cs typeface="Cambria" pitchFamily="34" charset="-120"/>
              </a:rPr>
              <a:t>Ce que j'ai acquis</a:t>
            </a:r>
            <a:endParaRPr lang="en-US" sz="1600" dirty="0"/>
          </a:p>
        </p:txBody>
      </p:sp>
      <p:sp>
        <p:nvSpPr>
          <p:cNvPr id="6" name="Text 4"/>
          <p:cNvSpPr/>
          <p:nvPr/>
        </p:nvSpPr>
        <p:spPr>
          <a:xfrm>
            <a:off x="868680" y="2103120"/>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Maîtrise de CSS Grid &amp; Bento Grid</a:t>
            </a:r>
            <a:endParaRPr lang="en-US" sz="1150" dirty="0"/>
          </a:p>
        </p:txBody>
      </p:sp>
      <p:sp>
        <p:nvSpPr>
          <p:cNvPr id="7" name="Text 5"/>
          <p:cNvSpPr/>
          <p:nvPr/>
        </p:nvSpPr>
        <p:spPr>
          <a:xfrm>
            <a:off x="868680" y="2523744"/>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JavaScript vanilla sans dépendance</a:t>
            </a:r>
            <a:endParaRPr lang="en-US" sz="1150" dirty="0"/>
          </a:p>
        </p:txBody>
      </p:sp>
      <p:sp>
        <p:nvSpPr>
          <p:cNvPr id="8" name="Text 6"/>
          <p:cNvSpPr/>
          <p:nvPr/>
        </p:nvSpPr>
        <p:spPr>
          <a:xfrm>
            <a:off x="868680" y="2944368"/>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Gestion complète du DOM et des événements</a:t>
            </a:r>
            <a:endParaRPr lang="en-US" sz="1150" dirty="0"/>
          </a:p>
        </p:txBody>
      </p:sp>
      <p:sp>
        <p:nvSpPr>
          <p:cNvPr id="9" name="Text 7"/>
          <p:cNvSpPr/>
          <p:nvPr/>
        </p:nvSpPr>
        <p:spPr>
          <a:xfrm>
            <a:off x="868680" y="3364992"/>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Versioning Git avec commits clairs</a:t>
            </a:r>
            <a:endParaRPr lang="en-US" sz="1150" dirty="0"/>
          </a:p>
        </p:txBody>
      </p:sp>
      <p:sp>
        <p:nvSpPr>
          <p:cNvPr id="10" name="Text 8"/>
          <p:cNvSpPr/>
          <p:nvPr/>
        </p:nvSpPr>
        <p:spPr>
          <a:xfrm>
            <a:off x="868680" y="3785616"/>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Déploiement d'un site en production</a:t>
            </a:r>
            <a:endParaRPr lang="en-US" sz="1150" dirty="0"/>
          </a:p>
        </p:txBody>
      </p:sp>
      <p:sp>
        <p:nvSpPr>
          <p:cNvPr id="11" name="Text 9"/>
          <p:cNvSpPr/>
          <p:nvPr/>
        </p:nvSpPr>
        <p:spPr>
          <a:xfrm>
            <a:off x="868680" y="4206240"/>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Accessibilité web (ARIA, alt)</a:t>
            </a:r>
            <a:endParaRPr lang="en-US" sz="1150" dirty="0"/>
          </a:p>
        </p:txBody>
      </p:sp>
      <p:sp>
        <p:nvSpPr>
          <p:cNvPr id="12" name="Text 10"/>
          <p:cNvSpPr/>
          <p:nvPr/>
        </p:nvSpPr>
        <p:spPr>
          <a:xfrm>
            <a:off x="868680" y="4626864"/>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Conception responsive multi-device</a:t>
            </a:r>
            <a:endParaRPr lang="en-US" sz="1150" dirty="0"/>
          </a:p>
        </p:txBody>
      </p:sp>
      <p:sp>
        <p:nvSpPr>
          <p:cNvPr id="13" name="Shape 11"/>
          <p:cNvSpPr/>
          <p:nvPr/>
        </p:nvSpPr>
        <p:spPr>
          <a:xfrm>
            <a:off x="6217920" y="1463040"/>
            <a:ext cx="5394960" cy="4480560"/>
          </a:xfrm>
          <a:prstGeom prst="roundRect">
            <a:avLst>
              <a:gd name="adj" fmla="val 1633"/>
            </a:avLst>
          </a:prstGeom>
          <a:solidFill>
            <a:srgbClr val="FFFFFF"/>
          </a:solidFill>
          <a:ln w="19050">
            <a:solidFill>
              <a:srgbClr val="0B5E63"/>
            </a:solidFill>
            <a:prstDash val="solid"/>
          </a:ln>
        </p:spPr>
        <p:txBody>
          <a:bodyPr/>
          <a:lstStyle/>
          <a:p>
            <a:endParaRPr lang="fr-FR"/>
          </a:p>
        </p:txBody>
      </p:sp>
      <p:sp>
        <p:nvSpPr>
          <p:cNvPr id="14" name="Text 12"/>
          <p:cNvSpPr/>
          <p:nvPr/>
        </p:nvSpPr>
        <p:spPr>
          <a:xfrm>
            <a:off x="6537960" y="1645920"/>
            <a:ext cx="4754880" cy="365760"/>
          </a:xfrm>
          <a:prstGeom prst="rect">
            <a:avLst/>
          </a:prstGeom>
          <a:noFill/>
          <a:ln/>
        </p:spPr>
        <p:txBody>
          <a:bodyPr wrap="square" rtlCol="0" anchor="ctr"/>
          <a:lstStyle/>
          <a:p>
            <a:pPr marL="0" indent="0">
              <a:buNone/>
            </a:pPr>
            <a:r>
              <a:rPr lang="en-US" sz="1600" b="1" dirty="0">
                <a:solidFill>
                  <a:srgbClr val="0B5E63"/>
                </a:solidFill>
                <a:latin typeface="Cambria" pitchFamily="34" charset="0"/>
                <a:ea typeface="Cambria" pitchFamily="34" charset="-122"/>
                <a:cs typeface="Cambria" pitchFamily="34" charset="-120"/>
              </a:rPr>
              <a:t>Perspectives d'amélioration</a:t>
            </a:r>
            <a:endParaRPr lang="en-US" sz="1600" dirty="0"/>
          </a:p>
        </p:txBody>
      </p:sp>
      <p:sp>
        <p:nvSpPr>
          <p:cNvPr id="15" name="Text 13"/>
          <p:cNvSpPr/>
          <p:nvPr/>
        </p:nvSpPr>
        <p:spPr>
          <a:xfrm>
            <a:off x="6537960" y="2103120"/>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Back-end Node.js / API REST</a:t>
            </a:r>
            <a:endParaRPr lang="en-US" sz="1150" dirty="0"/>
          </a:p>
        </p:txBody>
      </p:sp>
      <p:sp>
        <p:nvSpPr>
          <p:cNvPr id="16" name="Text 14"/>
          <p:cNvSpPr/>
          <p:nvPr/>
        </p:nvSpPr>
        <p:spPr>
          <a:xfrm>
            <a:off x="6537960" y="2523744"/>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Authentification et inscription réelles</a:t>
            </a:r>
            <a:endParaRPr lang="en-US" sz="1150" dirty="0"/>
          </a:p>
        </p:txBody>
      </p:sp>
      <p:sp>
        <p:nvSpPr>
          <p:cNvPr id="17" name="Text 15"/>
          <p:cNvSpPr/>
          <p:nvPr/>
        </p:nvSpPr>
        <p:spPr>
          <a:xfrm>
            <a:off x="6537960" y="2944368"/>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Système de messagerie entre users</a:t>
            </a:r>
            <a:endParaRPr lang="en-US" sz="1150" dirty="0"/>
          </a:p>
        </p:txBody>
      </p:sp>
      <p:sp>
        <p:nvSpPr>
          <p:cNvPr id="18" name="Text 16"/>
          <p:cNvSpPr/>
          <p:nvPr/>
        </p:nvSpPr>
        <p:spPr>
          <a:xfrm>
            <a:off x="6537960" y="3364992"/>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Paiement Mobile Money (Wave, Orange)</a:t>
            </a:r>
            <a:endParaRPr lang="en-US" sz="1150" dirty="0"/>
          </a:p>
        </p:txBody>
      </p:sp>
      <p:sp>
        <p:nvSpPr>
          <p:cNvPr id="19" name="Text 17"/>
          <p:cNvSpPr/>
          <p:nvPr/>
        </p:nvSpPr>
        <p:spPr>
          <a:xfrm>
            <a:off x="6537960" y="3785616"/>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Application mobile React Native</a:t>
            </a:r>
            <a:endParaRPr lang="en-US" sz="1150" dirty="0"/>
          </a:p>
        </p:txBody>
      </p:sp>
      <p:sp>
        <p:nvSpPr>
          <p:cNvPr id="20" name="Text 18"/>
          <p:cNvSpPr/>
          <p:nvPr/>
        </p:nvSpPr>
        <p:spPr>
          <a:xfrm>
            <a:off x="6537960" y="4206240"/>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Internationalisation (FR / EN / Wolof)</a:t>
            </a:r>
            <a:endParaRPr lang="en-US" sz="1150" dirty="0"/>
          </a:p>
        </p:txBody>
      </p:sp>
      <p:sp>
        <p:nvSpPr>
          <p:cNvPr id="21" name="Text 19"/>
          <p:cNvSpPr/>
          <p:nvPr/>
        </p:nvSpPr>
        <p:spPr>
          <a:xfrm>
            <a:off x="6537960" y="4626864"/>
            <a:ext cx="4754880" cy="365760"/>
          </a:xfrm>
          <a:prstGeom prst="rect">
            <a:avLst/>
          </a:prstGeom>
          <a:noFill/>
          <a:ln/>
        </p:spPr>
        <p:txBody>
          <a:bodyPr wrap="square" rtlCol="0" anchor="ctr"/>
          <a:lstStyle/>
          <a:p>
            <a:pPr marL="342900" indent="-342900">
              <a:buSzPct val="100000"/>
              <a:buChar char="•"/>
            </a:pPr>
            <a:r>
              <a:rPr lang="en-US" sz="1150" dirty="0">
                <a:solidFill>
                  <a:srgbClr val="1F2937"/>
                </a:solidFill>
                <a:latin typeface="Calibri" pitchFamily="34" charset="0"/>
                <a:ea typeface="Calibri" pitchFamily="34" charset="-122"/>
                <a:cs typeface="Calibri" pitchFamily="34" charset="-120"/>
              </a:rPr>
              <a:t>Tableau de bord freelance personnalisé</a:t>
            </a:r>
            <a:endParaRPr lang="en-US" sz="1150" dirty="0"/>
          </a:p>
        </p:txBody>
      </p:sp>
      <p:sp>
        <p:nvSpPr>
          <p:cNvPr id="22" name="Text 20"/>
          <p:cNvSpPr/>
          <p:nvPr/>
        </p:nvSpPr>
        <p:spPr>
          <a:xfrm>
            <a:off x="457200" y="6446520"/>
            <a:ext cx="548640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AfriTalent — Projet S2 · ISI Dakar</a:t>
            </a:r>
            <a:endParaRPr lang="en-US" sz="900" dirty="0"/>
          </a:p>
        </p:txBody>
      </p:sp>
      <p:sp>
        <p:nvSpPr>
          <p:cNvPr id="23" name="Text 21"/>
          <p:cNvSpPr/>
          <p:nvPr/>
        </p:nvSpPr>
        <p:spPr>
          <a:xfrm>
            <a:off x="11274552" y="6446520"/>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randombar(horizontal)">
                                      <p:cBhvr>
                                        <p:cTn id="10" dur="500"/>
                                        <p:tgtEl>
                                          <p:spTgt spid="4"/>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randombar(horizontal)">
                                      <p:cBhvr>
                                        <p:cTn id="13" dur="500"/>
                                        <p:tgtEl>
                                          <p:spTgt spid="5"/>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randombar(horizontal)">
                                      <p:cBhvr>
                                        <p:cTn id="16" dur="500"/>
                                        <p:tgtEl>
                                          <p:spTgt spid="6"/>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randombar(horizontal)">
                                      <p:cBhvr>
                                        <p:cTn id="25" dur="500"/>
                                        <p:tgtEl>
                                          <p:spTgt spid="9"/>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randombar(horizontal)">
                                      <p:cBhvr>
                                        <p:cTn id="28" dur="500"/>
                                        <p:tgtEl>
                                          <p:spTgt spid="10"/>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randombar(horizontal)">
                                      <p:cBhvr>
                                        <p:cTn id="31" dur="500"/>
                                        <p:tgtEl>
                                          <p:spTgt spid="11"/>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randombar(horizontal)">
                                      <p:cBhvr>
                                        <p:cTn id="34" dur="500"/>
                                        <p:tgtEl>
                                          <p:spTgt spid="12"/>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randombar(horizontal)">
                                      <p:cBhvr>
                                        <p:cTn id="37" dur="500"/>
                                        <p:tgtEl>
                                          <p:spTgt spid="13"/>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randombar(horizontal)">
                                      <p:cBhvr>
                                        <p:cTn id="40" dur="500"/>
                                        <p:tgtEl>
                                          <p:spTgt spid="14"/>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randombar(horizontal)">
                                      <p:cBhvr>
                                        <p:cTn id="43" dur="500"/>
                                        <p:tgtEl>
                                          <p:spTgt spid="15"/>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randombar(horizontal)">
                                      <p:cBhvr>
                                        <p:cTn id="46" dur="500"/>
                                        <p:tgtEl>
                                          <p:spTgt spid="16"/>
                                        </p:tgtEl>
                                      </p:cBhvr>
                                    </p:animEffect>
                                  </p:childTnLst>
                                </p:cTn>
                              </p:par>
                              <p:par>
                                <p:cTn id="47" presetID="14" presetClass="entr" presetSubtype="1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randombar(horizontal)">
                                      <p:cBhvr>
                                        <p:cTn id="49" dur="500"/>
                                        <p:tgtEl>
                                          <p:spTgt spid="17"/>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randombar(horizontal)">
                                      <p:cBhvr>
                                        <p:cTn id="52" dur="500"/>
                                        <p:tgtEl>
                                          <p:spTgt spid="18"/>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randombar(horizontal)">
                                      <p:cBhvr>
                                        <p:cTn id="55" dur="500"/>
                                        <p:tgtEl>
                                          <p:spTgt spid="19"/>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randombar(horizontal)">
                                      <p:cBhvr>
                                        <p:cTn id="58" dur="500"/>
                                        <p:tgtEl>
                                          <p:spTgt spid="20"/>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randombar(horizontal)">
                                      <p:cBhvr>
                                        <p:cTn id="61" dur="500"/>
                                        <p:tgtEl>
                                          <p:spTgt spid="21"/>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randombar(horizontal)">
                                      <p:cBhvr>
                                        <p:cTn id="64" dur="500"/>
                                        <p:tgtEl>
                                          <p:spTgt spid="22"/>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randombar(horizontal)">
                                      <p:cBhvr>
                                        <p:cTn id="6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3F42"/>
        </a:solidFill>
        <a:effectLst/>
      </p:bgPr>
    </p:bg>
    <p:spTree>
      <p:nvGrpSpPr>
        <p:cNvPr id="1" name=""/>
        <p:cNvGrpSpPr/>
        <p:nvPr/>
      </p:nvGrpSpPr>
      <p:grpSpPr>
        <a:xfrm>
          <a:off x="0" y="0"/>
          <a:ext cx="0" cy="0"/>
          <a:chOff x="0" y="0"/>
          <a:chExt cx="0" cy="0"/>
        </a:xfrm>
      </p:grpSpPr>
      <p:sp>
        <p:nvSpPr>
          <p:cNvPr id="2" name="Shape 0"/>
          <p:cNvSpPr/>
          <p:nvPr/>
        </p:nvSpPr>
        <p:spPr>
          <a:xfrm>
            <a:off x="-1371600" y="4297680"/>
            <a:ext cx="4114800" cy="4114800"/>
          </a:xfrm>
          <a:prstGeom prst="ellipse">
            <a:avLst/>
          </a:prstGeom>
          <a:solidFill>
            <a:srgbClr val="E2703A">
              <a:alpha val="35000"/>
            </a:srgbClr>
          </a:solidFill>
          <a:ln/>
        </p:spPr>
        <p:txBody>
          <a:bodyPr/>
          <a:lstStyle/>
          <a:p>
            <a:endParaRPr lang="fr-FR"/>
          </a:p>
        </p:txBody>
      </p:sp>
      <p:sp>
        <p:nvSpPr>
          <p:cNvPr id="3" name="Text 1"/>
          <p:cNvSpPr/>
          <p:nvPr/>
        </p:nvSpPr>
        <p:spPr>
          <a:xfrm>
            <a:off x="800100" y="2057400"/>
            <a:ext cx="7315200" cy="100584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Merci !</a:t>
            </a:r>
            <a:endParaRPr lang="en-US" sz="4800" dirty="0"/>
          </a:p>
        </p:txBody>
      </p:sp>
      <p:sp>
        <p:nvSpPr>
          <p:cNvPr id="4" name="Text 2"/>
          <p:cNvSpPr/>
          <p:nvPr/>
        </p:nvSpPr>
        <p:spPr>
          <a:xfrm>
            <a:off x="822960" y="3063240"/>
            <a:ext cx="7315200" cy="548640"/>
          </a:xfrm>
          <a:prstGeom prst="rect">
            <a:avLst/>
          </a:prstGeom>
          <a:noFill/>
          <a:ln/>
        </p:spPr>
        <p:txBody>
          <a:bodyPr wrap="square" rtlCol="0" anchor="ctr"/>
          <a:lstStyle/>
          <a:p>
            <a:pPr marL="0" indent="0">
              <a:buNone/>
            </a:pPr>
            <a:r>
              <a:rPr lang="en-US" sz="2000" dirty="0">
                <a:solidFill>
                  <a:srgbClr val="C7DAD8"/>
                </a:solidFill>
                <a:latin typeface="Calibri" pitchFamily="34" charset="0"/>
                <a:ea typeface="Calibri" pitchFamily="34" charset="-122"/>
                <a:cs typeface="Calibri" pitchFamily="34" charset="-120"/>
              </a:rPr>
              <a:t>Questions ?</a:t>
            </a:r>
            <a:endParaRPr lang="en-US" sz="2000" dirty="0"/>
          </a:p>
        </p:txBody>
      </p:sp>
      <p:sp>
        <p:nvSpPr>
          <p:cNvPr id="5" name="Shape 3"/>
          <p:cNvSpPr/>
          <p:nvPr/>
        </p:nvSpPr>
        <p:spPr>
          <a:xfrm>
            <a:off x="822960" y="3840480"/>
            <a:ext cx="1828800" cy="0"/>
          </a:xfrm>
          <a:prstGeom prst="line">
            <a:avLst/>
          </a:prstGeom>
          <a:noFill/>
          <a:ln w="25400">
            <a:solidFill>
              <a:srgbClr val="E2703A"/>
            </a:solidFill>
            <a:prstDash val="solid"/>
          </a:ln>
        </p:spPr>
        <p:txBody>
          <a:bodyPr/>
          <a:lstStyle/>
          <a:p>
            <a:endParaRPr lang="fr-FR"/>
          </a:p>
        </p:txBody>
      </p:sp>
      <p:sp>
        <p:nvSpPr>
          <p:cNvPr id="6" name="Text 4"/>
          <p:cNvSpPr/>
          <p:nvPr/>
        </p:nvSpPr>
        <p:spPr>
          <a:xfrm>
            <a:off x="822960" y="4069080"/>
            <a:ext cx="7315200" cy="32004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Mouhamadou Moustapha CISSOKHO</a:t>
            </a:r>
            <a:endParaRPr lang="en-US" sz="1300" dirty="0"/>
          </a:p>
        </p:txBody>
      </p:sp>
      <p:sp>
        <p:nvSpPr>
          <p:cNvPr id="7" name="Text 5"/>
          <p:cNvSpPr/>
          <p:nvPr/>
        </p:nvSpPr>
        <p:spPr>
          <a:xfrm>
            <a:off x="822960" y="4370832"/>
            <a:ext cx="7315200" cy="320040"/>
          </a:xfrm>
          <a:prstGeom prst="rect">
            <a:avLst/>
          </a:prstGeom>
          <a:noFill/>
          <a:ln/>
        </p:spPr>
        <p:txBody>
          <a:bodyPr wrap="square" rtlCol="0" anchor="ctr"/>
          <a:lstStyle/>
          <a:p>
            <a:pPr marL="0" indent="0">
              <a:buNone/>
            </a:pPr>
            <a:r>
              <a:rPr lang="en-US" sz="1200" dirty="0">
                <a:solidFill>
                  <a:srgbClr val="AFC9C6"/>
                </a:solidFill>
                <a:latin typeface="Calibri" pitchFamily="34" charset="0"/>
                <a:ea typeface="Calibri" pitchFamily="34" charset="-122"/>
                <a:cs typeface="Calibri" pitchFamily="34" charset="-120"/>
              </a:rPr>
              <a:t>L1CS · ISI Dakar · 2025–2026</a:t>
            </a:r>
            <a:endParaRPr lang="en-US" sz="1200" dirty="0"/>
          </a:p>
        </p:txBody>
      </p:sp>
      <p:sp>
        <p:nvSpPr>
          <p:cNvPr id="8" name="Text 6"/>
          <p:cNvSpPr/>
          <p:nvPr/>
        </p:nvSpPr>
        <p:spPr>
          <a:xfrm>
            <a:off x="822960" y="4663440"/>
            <a:ext cx="7315200" cy="320040"/>
          </a:xfrm>
          <a:prstGeom prst="rect">
            <a:avLst/>
          </a:prstGeom>
          <a:noFill/>
          <a:ln/>
        </p:spPr>
        <p:txBody>
          <a:bodyPr wrap="square" rtlCol="0" anchor="ctr"/>
          <a:lstStyle/>
          <a:p>
            <a:pPr marL="0" indent="0">
              <a:buNone/>
            </a:pPr>
            <a:r>
              <a:rPr lang="en-US" sz="1200" dirty="0">
                <a:solidFill>
                  <a:srgbClr val="AFC9C6"/>
                </a:solidFill>
                <a:latin typeface="Calibri" pitchFamily="34" charset="0"/>
                <a:ea typeface="Calibri" pitchFamily="34" charset="-122"/>
                <a:cs typeface="Calibri" pitchFamily="34" charset="-120"/>
              </a:rPr>
              <a:t>mouhamedcsk11@gmail.com</a:t>
            </a:r>
            <a:endParaRPr lang="en-US" sz="1200" dirty="0"/>
          </a:p>
        </p:txBody>
      </p:sp>
      <p:pic>
        <p:nvPicPr>
          <p:cNvPr id="10" name="Image 9">
            <a:extLst>
              <a:ext uri="{FF2B5EF4-FFF2-40B4-BE49-F238E27FC236}">
                <a16:creationId xmlns:a16="http://schemas.microsoft.com/office/drawing/2014/main" id="{23CEFB35-C4BE-2917-F208-AD76B2C64D50}"/>
              </a:ext>
            </a:extLst>
          </p:cNvPr>
          <p:cNvPicPr>
            <a:picLocks noChangeAspect="1"/>
          </p:cNvPicPr>
          <p:nvPr/>
        </p:nvPicPr>
        <p:blipFill>
          <a:blip r:embed="rId3"/>
          <a:stretch>
            <a:fillRect/>
          </a:stretch>
        </p:blipFill>
        <p:spPr>
          <a:xfrm>
            <a:off x="4775834" y="535214"/>
            <a:ext cx="5990303" cy="4126653"/>
          </a:xfrm>
          <a:prstGeom prst="rect">
            <a:avLst/>
          </a:prstGeom>
        </p:spPr>
      </p:pic>
      <p:pic>
        <p:nvPicPr>
          <p:cNvPr id="11" name="Image 10">
            <a:extLst>
              <a:ext uri="{FF2B5EF4-FFF2-40B4-BE49-F238E27FC236}">
                <a16:creationId xmlns:a16="http://schemas.microsoft.com/office/drawing/2014/main" id="{4E09D79B-5D11-77C1-3EBF-D36B89C66F35}"/>
              </a:ext>
            </a:extLst>
          </p:cNvPr>
          <p:cNvPicPr>
            <a:picLocks noChangeAspect="1"/>
          </p:cNvPicPr>
          <p:nvPr/>
        </p:nvPicPr>
        <p:blipFill>
          <a:blip r:embed="rId4"/>
          <a:stretch>
            <a:fillRect/>
          </a:stretch>
        </p:blipFill>
        <p:spPr>
          <a:xfrm>
            <a:off x="10096665" y="5532724"/>
            <a:ext cx="1338944" cy="10675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80">
                                          <p:stCondLst>
                                            <p:cond delay="0"/>
                                          </p:stCondLst>
                                        </p:cTn>
                                        <p:tgtEl>
                                          <p:spTgt spid="3"/>
                                        </p:tgtEl>
                                      </p:cBhvr>
                                    </p:animEffect>
                                    <p:anim calcmode="lin" valueType="num">
                                      <p:cBhvr>
                                        <p:cTn id="2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gtEl>
                                      </p:cBhvr>
                                      <p:to x="100000" y="60000"/>
                                    </p:animScale>
                                    <p:animScale>
                                      <p:cBhvr>
                                        <p:cTn id="30" dur="166" decel="50000">
                                          <p:stCondLst>
                                            <p:cond delay="676"/>
                                          </p:stCondLst>
                                        </p:cTn>
                                        <p:tgtEl>
                                          <p:spTgt spid="3"/>
                                        </p:tgtEl>
                                      </p:cBhvr>
                                      <p:to x="100000" y="100000"/>
                                    </p:animScale>
                                    <p:animScale>
                                      <p:cBhvr>
                                        <p:cTn id="31" dur="26">
                                          <p:stCondLst>
                                            <p:cond delay="1312"/>
                                          </p:stCondLst>
                                        </p:cTn>
                                        <p:tgtEl>
                                          <p:spTgt spid="3"/>
                                        </p:tgtEl>
                                      </p:cBhvr>
                                      <p:to x="100000" y="80000"/>
                                    </p:animScale>
                                    <p:animScale>
                                      <p:cBhvr>
                                        <p:cTn id="32" dur="166" decel="50000">
                                          <p:stCondLst>
                                            <p:cond delay="1338"/>
                                          </p:stCondLst>
                                        </p:cTn>
                                        <p:tgtEl>
                                          <p:spTgt spid="3"/>
                                        </p:tgtEl>
                                      </p:cBhvr>
                                      <p:to x="100000" y="100000"/>
                                    </p:animScale>
                                    <p:animScale>
                                      <p:cBhvr>
                                        <p:cTn id="33" dur="26">
                                          <p:stCondLst>
                                            <p:cond delay="1642"/>
                                          </p:stCondLst>
                                        </p:cTn>
                                        <p:tgtEl>
                                          <p:spTgt spid="3"/>
                                        </p:tgtEl>
                                      </p:cBhvr>
                                      <p:to x="100000" y="90000"/>
                                    </p:animScale>
                                    <p:animScale>
                                      <p:cBhvr>
                                        <p:cTn id="34" dur="166" decel="50000">
                                          <p:stCondLst>
                                            <p:cond delay="1668"/>
                                          </p:stCondLst>
                                        </p:cTn>
                                        <p:tgtEl>
                                          <p:spTgt spid="3"/>
                                        </p:tgtEl>
                                      </p:cBhvr>
                                      <p:to x="100000" y="100000"/>
                                    </p:animScale>
                                    <p:animScale>
                                      <p:cBhvr>
                                        <p:cTn id="35" dur="26">
                                          <p:stCondLst>
                                            <p:cond delay="1808"/>
                                          </p:stCondLst>
                                        </p:cTn>
                                        <p:tgtEl>
                                          <p:spTgt spid="3"/>
                                        </p:tgtEl>
                                      </p:cBhvr>
                                      <p:to x="100000" y="95000"/>
                                    </p:animScale>
                                    <p:animScale>
                                      <p:cBhvr>
                                        <p:cTn id="36" dur="166" decel="50000">
                                          <p:stCondLst>
                                            <p:cond delay="1834"/>
                                          </p:stCondLst>
                                        </p:cTn>
                                        <p:tgtEl>
                                          <p:spTgt spid="3"/>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down)">
                                      <p:cBhvr>
                                        <p:cTn id="39" dur="580">
                                          <p:stCondLst>
                                            <p:cond delay="0"/>
                                          </p:stCondLst>
                                        </p:cTn>
                                        <p:tgtEl>
                                          <p:spTgt spid="4"/>
                                        </p:tgtEl>
                                      </p:cBhvr>
                                    </p:animEffect>
                                    <p:anim calcmode="lin" valueType="num">
                                      <p:cBhvr>
                                        <p:cTn id="40"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45" dur="26">
                                          <p:stCondLst>
                                            <p:cond delay="650"/>
                                          </p:stCondLst>
                                        </p:cTn>
                                        <p:tgtEl>
                                          <p:spTgt spid="4"/>
                                        </p:tgtEl>
                                      </p:cBhvr>
                                      <p:to x="100000" y="60000"/>
                                    </p:animScale>
                                    <p:animScale>
                                      <p:cBhvr>
                                        <p:cTn id="46" dur="166" decel="50000">
                                          <p:stCondLst>
                                            <p:cond delay="676"/>
                                          </p:stCondLst>
                                        </p:cTn>
                                        <p:tgtEl>
                                          <p:spTgt spid="4"/>
                                        </p:tgtEl>
                                      </p:cBhvr>
                                      <p:to x="100000" y="100000"/>
                                    </p:animScale>
                                    <p:animScale>
                                      <p:cBhvr>
                                        <p:cTn id="47" dur="26">
                                          <p:stCondLst>
                                            <p:cond delay="1312"/>
                                          </p:stCondLst>
                                        </p:cTn>
                                        <p:tgtEl>
                                          <p:spTgt spid="4"/>
                                        </p:tgtEl>
                                      </p:cBhvr>
                                      <p:to x="100000" y="80000"/>
                                    </p:animScale>
                                    <p:animScale>
                                      <p:cBhvr>
                                        <p:cTn id="48" dur="166" decel="50000">
                                          <p:stCondLst>
                                            <p:cond delay="1338"/>
                                          </p:stCondLst>
                                        </p:cTn>
                                        <p:tgtEl>
                                          <p:spTgt spid="4"/>
                                        </p:tgtEl>
                                      </p:cBhvr>
                                      <p:to x="100000" y="100000"/>
                                    </p:animScale>
                                    <p:animScale>
                                      <p:cBhvr>
                                        <p:cTn id="49" dur="26">
                                          <p:stCondLst>
                                            <p:cond delay="1642"/>
                                          </p:stCondLst>
                                        </p:cTn>
                                        <p:tgtEl>
                                          <p:spTgt spid="4"/>
                                        </p:tgtEl>
                                      </p:cBhvr>
                                      <p:to x="100000" y="90000"/>
                                    </p:animScale>
                                    <p:animScale>
                                      <p:cBhvr>
                                        <p:cTn id="50" dur="166" decel="50000">
                                          <p:stCondLst>
                                            <p:cond delay="1668"/>
                                          </p:stCondLst>
                                        </p:cTn>
                                        <p:tgtEl>
                                          <p:spTgt spid="4"/>
                                        </p:tgtEl>
                                      </p:cBhvr>
                                      <p:to x="100000" y="100000"/>
                                    </p:animScale>
                                    <p:animScale>
                                      <p:cBhvr>
                                        <p:cTn id="51" dur="26">
                                          <p:stCondLst>
                                            <p:cond delay="1808"/>
                                          </p:stCondLst>
                                        </p:cTn>
                                        <p:tgtEl>
                                          <p:spTgt spid="4"/>
                                        </p:tgtEl>
                                      </p:cBhvr>
                                      <p:to x="100000" y="95000"/>
                                    </p:animScale>
                                    <p:animScale>
                                      <p:cBhvr>
                                        <p:cTn id="52" dur="166" decel="50000">
                                          <p:stCondLst>
                                            <p:cond delay="1834"/>
                                          </p:stCondLst>
                                        </p:cTn>
                                        <p:tgtEl>
                                          <p:spTgt spid="4"/>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down)">
                                      <p:cBhvr>
                                        <p:cTn id="55" dur="580">
                                          <p:stCondLst>
                                            <p:cond delay="0"/>
                                          </p:stCondLst>
                                        </p:cTn>
                                        <p:tgtEl>
                                          <p:spTgt spid="5"/>
                                        </p:tgtEl>
                                      </p:cBhvr>
                                    </p:animEffect>
                                    <p:anim calcmode="lin" valueType="num">
                                      <p:cBhvr>
                                        <p:cTn id="56"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61" dur="26">
                                          <p:stCondLst>
                                            <p:cond delay="650"/>
                                          </p:stCondLst>
                                        </p:cTn>
                                        <p:tgtEl>
                                          <p:spTgt spid="5"/>
                                        </p:tgtEl>
                                      </p:cBhvr>
                                      <p:to x="100000" y="60000"/>
                                    </p:animScale>
                                    <p:animScale>
                                      <p:cBhvr>
                                        <p:cTn id="62" dur="166" decel="50000">
                                          <p:stCondLst>
                                            <p:cond delay="676"/>
                                          </p:stCondLst>
                                        </p:cTn>
                                        <p:tgtEl>
                                          <p:spTgt spid="5"/>
                                        </p:tgtEl>
                                      </p:cBhvr>
                                      <p:to x="100000" y="100000"/>
                                    </p:animScale>
                                    <p:animScale>
                                      <p:cBhvr>
                                        <p:cTn id="63" dur="26">
                                          <p:stCondLst>
                                            <p:cond delay="1312"/>
                                          </p:stCondLst>
                                        </p:cTn>
                                        <p:tgtEl>
                                          <p:spTgt spid="5"/>
                                        </p:tgtEl>
                                      </p:cBhvr>
                                      <p:to x="100000" y="80000"/>
                                    </p:animScale>
                                    <p:animScale>
                                      <p:cBhvr>
                                        <p:cTn id="64" dur="166" decel="50000">
                                          <p:stCondLst>
                                            <p:cond delay="1338"/>
                                          </p:stCondLst>
                                        </p:cTn>
                                        <p:tgtEl>
                                          <p:spTgt spid="5"/>
                                        </p:tgtEl>
                                      </p:cBhvr>
                                      <p:to x="100000" y="100000"/>
                                    </p:animScale>
                                    <p:animScale>
                                      <p:cBhvr>
                                        <p:cTn id="65" dur="26">
                                          <p:stCondLst>
                                            <p:cond delay="1642"/>
                                          </p:stCondLst>
                                        </p:cTn>
                                        <p:tgtEl>
                                          <p:spTgt spid="5"/>
                                        </p:tgtEl>
                                      </p:cBhvr>
                                      <p:to x="100000" y="90000"/>
                                    </p:animScale>
                                    <p:animScale>
                                      <p:cBhvr>
                                        <p:cTn id="66" dur="166" decel="50000">
                                          <p:stCondLst>
                                            <p:cond delay="1668"/>
                                          </p:stCondLst>
                                        </p:cTn>
                                        <p:tgtEl>
                                          <p:spTgt spid="5"/>
                                        </p:tgtEl>
                                      </p:cBhvr>
                                      <p:to x="100000" y="100000"/>
                                    </p:animScale>
                                    <p:animScale>
                                      <p:cBhvr>
                                        <p:cTn id="67" dur="26">
                                          <p:stCondLst>
                                            <p:cond delay="1808"/>
                                          </p:stCondLst>
                                        </p:cTn>
                                        <p:tgtEl>
                                          <p:spTgt spid="5"/>
                                        </p:tgtEl>
                                      </p:cBhvr>
                                      <p:to x="100000" y="95000"/>
                                    </p:animScale>
                                    <p:animScale>
                                      <p:cBhvr>
                                        <p:cTn id="68" dur="166" decel="50000">
                                          <p:stCondLst>
                                            <p:cond delay="1834"/>
                                          </p:stCondLst>
                                        </p:cTn>
                                        <p:tgtEl>
                                          <p:spTgt spid="5"/>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wipe(down)">
                                      <p:cBhvr>
                                        <p:cTn id="71" dur="580">
                                          <p:stCondLst>
                                            <p:cond delay="0"/>
                                          </p:stCondLst>
                                        </p:cTn>
                                        <p:tgtEl>
                                          <p:spTgt spid="6"/>
                                        </p:tgtEl>
                                      </p:cBhvr>
                                    </p:animEffect>
                                    <p:anim calcmode="lin" valueType="num">
                                      <p:cBhvr>
                                        <p:cTn id="7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77" dur="26">
                                          <p:stCondLst>
                                            <p:cond delay="650"/>
                                          </p:stCondLst>
                                        </p:cTn>
                                        <p:tgtEl>
                                          <p:spTgt spid="6"/>
                                        </p:tgtEl>
                                      </p:cBhvr>
                                      <p:to x="100000" y="60000"/>
                                    </p:animScale>
                                    <p:animScale>
                                      <p:cBhvr>
                                        <p:cTn id="78" dur="166" decel="50000">
                                          <p:stCondLst>
                                            <p:cond delay="676"/>
                                          </p:stCondLst>
                                        </p:cTn>
                                        <p:tgtEl>
                                          <p:spTgt spid="6"/>
                                        </p:tgtEl>
                                      </p:cBhvr>
                                      <p:to x="100000" y="100000"/>
                                    </p:animScale>
                                    <p:animScale>
                                      <p:cBhvr>
                                        <p:cTn id="79" dur="26">
                                          <p:stCondLst>
                                            <p:cond delay="1312"/>
                                          </p:stCondLst>
                                        </p:cTn>
                                        <p:tgtEl>
                                          <p:spTgt spid="6"/>
                                        </p:tgtEl>
                                      </p:cBhvr>
                                      <p:to x="100000" y="80000"/>
                                    </p:animScale>
                                    <p:animScale>
                                      <p:cBhvr>
                                        <p:cTn id="80" dur="166" decel="50000">
                                          <p:stCondLst>
                                            <p:cond delay="1338"/>
                                          </p:stCondLst>
                                        </p:cTn>
                                        <p:tgtEl>
                                          <p:spTgt spid="6"/>
                                        </p:tgtEl>
                                      </p:cBhvr>
                                      <p:to x="100000" y="100000"/>
                                    </p:animScale>
                                    <p:animScale>
                                      <p:cBhvr>
                                        <p:cTn id="81" dur="26">
                                          <p:stCondLst>
                                            <p:cond delay="1642"/>
                                          </p:stCondLst>
                                        </p:cTn>
                                        <p:tgtEl>
                                          <p:spTgt spid="6"/>
                                        </p:tgtEl>
                                      </p:cBhvr>
                                      <p:to x="100000" y="90000"/>
                                    </p:animScale>
                                    <p:animScale>
                                      <p:cBhvr>
                                        <p:cTn id="82" dur="166" decel="50000">
                                          <p:stCondLst>
                                            <p:cond delay="1668"/>
                                          </p:stCondLst>
                                        </p:cTn>
                                        <p:tgtEl>
                                          <p:spTgt spid="6"/>
                                        </p:tgtEl>
                                      </p:cBhvr>
                                      <p:to x="100000" y="100000"/>
                                    </p:animScale>
                                    <p:animScale>
                                      <p:cBhvr>
                                        <p:cTn id="83" dur="26">
                                          <p:stCondLst>
                                            <p:cond delay="1808"/>
                                          </p:stCondLst>
                                        </p:cTn>
                                        <p:tgtEl>
                                          <p:spTgt spid="6"/>
                                        </p:tgtEl>
                                      </p:cBhvr>
                                      <p:to x="100000" y="95000"/>
                                    </p:animScale>
                                    <p:animScale>
                                      <p:cBhvr>
                                        <p:cTn id="84" dur="166" decel="50000">
                                          <p:stCondLst>
                                            <p:cond delay="1834"/>
                                          </p:stCondLst>
                                        </p:cTn>
                                        <p:tgtEl>
                                          <p:spTgt spid="6"/>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down)">
                                      <p:cBhvr>
                                        <p:cTn id="87" dur="580">
                                          <p:stCondLst>
                                            <p:cond delay="0"/>
                                          </p:stCondLst>
                                        </p:cTn>
                                        <p:tgtEl>
                                          <p:spTgt spid="7"/>
                                        </p:tgtEl>
                                      </p:cBhvr>
                                    </p:animEffect>
                                    <p:anim calcmode="lin" valueType="num">
                                      <p:cBhvr>
                                        <p:cTn id="8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93" dur="26">
                                          <p:stCondLst>
                                            <p:cond delay="650"/>
                                          </p:stCondLst>
                                        </p:cTn>
                                        <p:tgtEl>
                                          <p:spTgt spid="7"/>
                                        </p:tgtEl>
                                      </p:cBhvr>
                                      <p:to x="100000" y="60000"/>
                                    </p:animScale>
                                    <p:animScale>
                                      <p:cBhvr>
                                        <p:cTn id="94" dur="166" decel="50000">
                                          <p:stCondLst>
                                            <p:cond delay="676"/>
                                          </p:stCondLst>
                                        </p:cTn>
                                        <p:tgtEl>
                                          <p:spTgt spid="7"/>
                                        </p:tgtEl>
                                      </p:cBhvr>
                                      <p:to x="100000" y="100000"/>
                                    </p:animScale>
                                    <p:animScale>
                                      <p:cBhvr>
                                        <p:cTn id="95" dur="26">
                                          <p:stCondLst>
                                            <p:cond delay="1312"/>
                                          </p:stCondLst>
                                        </p:cTn>
                                        <p:tgtEl>
                                          <p:spTgt spid="7"/>
                                        </p:tgtEl>
                                      </p:cBhvr>
                                      <p:to x="100000" y="80000"/>
                                    </p:animScale>
                                    <p:animScale>
                                      <p:cBhvr>
                                        <p:cTn id="96" dur="166" decel="50000">
                                          <p:stCondLst>
                                            <p:cond delay="1338"/>
                                          </p:stCondLst>
                                        </p:cTn>
                                        <p:tgtEl>
                                          <p:spTgt spid="7"/>
                                        </p:tgtEl>
                                      </p:cBhvr>
                                      <p:to x="100000" y="100000"/>
                                    </p:animScale>
                                    <p:animScale>
                                      <p:cBhvr>
                                        <p:cTn id="97" dur="26">
                                          <p:stCondLst>
                                            <p:cond delay="1642"/>
                                          </p:stCondLst>
                                        </p:cTn>
                                        <p:tgtEl>
                                          <p:spTgt spid="7"/>
                                        </p:tgtEl>
                                      </p:cBhvr>
                                      <p:to x="100000" y="90000"/>
                                    </p:animScale>
                                    <p:animScale>
                                      <p:cBhvr>
                                        <p:cTn id="98" dur="166" decel="50000">
                                          <p:stCondLst>
                                            <p:cond delay="1668"/>
                                          </p:stCondLst>
                                        </p:cTn>
                                        <p:tgtEl>
                                          <p:spTgt spid="7"/>
                                        </p:tgtEl>
                                      </p:cBhvr>
                                      <p:to x="100000" y="100000"/>
                                    </p:animScale>
                                    <p:animScale>
                                      <p:cBhvr>
                                        <p:cTn id="99" dur="26">
                                          <p:stCondLst>
                                            <p:cond delay="1808"/>
                                          </p:stCondLst>
                                        </p:cTn>
                                        <p:tgtEl>
                                          <p:spTgt spid="7"/>
                                        </p:tgtEl>
                                      </p:cBhvr>
                                      <p:to x="100000" y="95000"/>
                                    </p:animScale>
                                    <p:animScale>
                                      <p:cBhvr>
                                        <p:cTn id="100" dur="166" decel="50000">
                                          <p:stCondLst>
                                            <p:cond delay="1834"/>
                                          </p:stCondLst>
                                        </p:cTn>
                                        <p:tgtEl>
                                          <p:spTgt spid="7"/>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8"/>
                                        </p:tgtEl>
                                        <p:attrNameLst>
                                          <p:attrName>style.visibility</p:attrName>
                                        </p:attrNameLst>
                                      </p:cBhvr>
                                      <p:to>
                                        <p:strVal val="visible"/>
                                      </p:to>
                                    </p:set>
                                    <p:animEffect transition="in" filter="wipe(down)">
                                      <p:cBhvr>
                                        <p:cTn id="103" dur="580">
                                          <p:stCondLst>
                                            <p:cond delay="0"/>
                                          </p:stCondLst>
                                        </p:cTn>
                                        <p:tgtEl>
                                          <p:spTgt spid="8"/>
                                        </p:tgtEl>
                                      </p:cBhvr>
                                    </p:animEffect>
                                    <p:anim calcmode="lin" valueType="num">
                                      <p:cBhvr>
                                        <p:cTn id="10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09" dur="26">
                                          <p:stCondLst>
                                            <p:cond delay="650"/>
                                          </p:stCondLst>
                                        </p:cTn>
                                        <p:tgtEl>
                                          <p:spTgt spid="8"/>
                                        </p:tgtEl>
                                      </p:cBhvr>
                                      <p:to x="100000" y="60000"/>
                                    </p:animScale>
                                    <p:animScale>
                                      <p:cBhvr>
                                        <p:cTn id="110" dur="166" decel="50000">
                                          <p:stCondLst>
                                            <p:cond delay="676"/>
                                          </p:stCondLst>
                                        </p:cTn>
                                        <p:tgtEl>
                                          <p:spTgt spid="8"/>
                                        </p:tgtEl>
                                      </p:cBhvr>
                                      <p:to x="100000" y="100000"/>
                                    </p:animScale>
                                    <p:animScale>
                                      <p:cBhvr>
                                        <p:cTn id="111" dur="26">
                                          <p:stCondLst>
                                            <p:cond delay="1312"/>
                                          </p:stCondLst>
                                        </p:cTn>
                                        <p:tgtEl>
                                          <p:spTgt spid="8"/>
                                        </p:tgtEl>
                                      </p:cBhvr>
                                      <p:to x="100000" y="80000"/>
                                    </p:animScale>
                                    <p:animScale>
                                      <p:cBhvr>
                                        <p:cTn id="112" dur="166" decel="50000">
                                          <p:stCondLst>
                                            <p:cond delay="1338"/>
                                          </p:stCondLst>
                                        </p:cTn>
                                        <p:tgtEl>
                                          <p:spTgt spid="8"/>
                                        </p:tgtEl>
                                      </p:cBhvr>
                                      <p:to x="100000" y="100000"/>
                                    </p:animScale>
                                    <p:animScale>
                                      <p:cBhvr>
                                        <p:cTn id="113" dur="26">
                                          <p:stCondLst>
                                            <p:cond delay="1642"/>
                                          </p:stCondLst>
                                        </p:cTn>
                                        <p:tgtEl>
                                          <p:spTgt spid="8"/>
                                        </p:tgtEl>
                                      </p:cBhvr>
                                      <p:to x="100000" y="90000"/>
                                    </p:animScale>
                                    <p:animScale>
                                      <p:cBhvr>
                                        <p:cTn id="114" dur="166" decel="50000">
                                          <p:stCondLst>
                                            <p:cond delay="1668"/>
                                          </p:stCondLst>
                                        </p:cTn>
                                        <p:tgtEl>
                                          <p:spTgt spid="8"/>
                                        </p:tgtEl>
                                      </p:cBhvr>
                                      <p:to x="100000" y="100000"/>
                                    </p:animScale>
                                    <p:animScale>
                                      <p:cBhvr>
                                        <p:cTn id="115" dur="26">
                                          <p:stCondLst>
                                            <p:cond delay="1808"/>
                                          </p:stCondLst>
                                        </p:cTn>
                                        <p:tgtEl>
                                          <p:spTgt spid="8"/>
                                        </p:tgtEl>
                                      </p:cBhvr>
                                      <p:to x="100000" y="95000"/>
                                    </p:animScale>
                                    <p:animScale>
                                      <p:cBhvr>
                                        <p:cTn id="116"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232</TotalTime>
  <Words>2154</Words>
  <Application>Microsoft Office PowerPoint</Application>
  <PresentationFormat>Grand écran</PresentationFormat>
  <Paragraphs>293</Paragraphs>
  <Slides>14</Slides>
  <Notes>14</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 - Presentation Projet</dc:title>
  <dc:subject>PptxGenJS Presentation</dc:subject>
  <dc:creator>Etudiant ISI Dakar</dc:creator>
  <cp:lastModifiedBy>Mouhamadou Moustapha Cissokho</cp:lastModifiedBy>
  <cp:revision>4</cp:revision>
  <dcterms:created xsi:type="dcterms:W3CDTF">2026-07-02T08:21:36Z</dcterms:created>
  <dcterms:modified xsi:type="dcterms:W3CDTF">2026-07-02T18:20:55Z</dcterms:modified>
</cp:coreProperties>
</file>